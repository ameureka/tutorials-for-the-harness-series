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5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欢迎与开场:本讲是 Harness 工程系列课第一讲,聚焦训练地基、模型选型与工程化落地三件事。今天覆盖四个部分:大模型发展脉络、智能从何而来、怎么选对模型、Harness 工程架构。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用一张总览图先把今天要讲的技术脉络铺开:AI 先学会分类识别(判别式模型),再学会生成全新内容(生成式模型),接着具备调用工具与记忆的能力成为智能体(Agent),最后靠工程化编排把这些能力规模化落地(Harness)。后面四个部分,分别对应这条脉络上的四段旅程。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今天的目录分四部分:先铺垫大模型的发展脉络,再讲清楚智能从何而来,然后是怎么选对适合自己的模型,最后落到 Harness 工程架构——如何把模型变成能干活的系统。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进入第一部分:用一个贯穿始终的例子——用AI帮你买衣服——串起大模型能力演进的每一步。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从一个引入案例开始:假设希望用AI帮你完成网购衣服这件事,可以设想哪些应用场景。这个例子会一路串起从识别、生成、规模化到主动做事、自我进化的六次跃迁,给出一个全面的技术图景。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90年代到2010年代初,AI的主线是提升感知能力:给AI一张衣服图片,输出T恤、连衣裙、牛仔裤等分类标签。技术支撑是判别式模型(分类器):提取图像特征,经过前向传播和反向传播,算出属于某一类别的概率,概率最高的即为答案。这类模型只能判断"这是什么",本质是计算概率,不能生成全新内容。但需求不止于此——还想要针对性的穿搭建议,这就引出了下一页的生成式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贴标签到给建议,AI需要提供个性化的穿搭对话——这就要求引入生成式模型。生成式模型跟判别式不一样的地方在于:它在海量数据里学到规律,并能生成全新内容,发散能力更强。这是AI近几年非常大的一次跃迁,系统不再局限于分类任务,而是具备了写文案、生成图像、生成代码等一系列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早期生成式模型给出的建议还很笼统。研究角度上,把参数量从几百万扩大到几十亿、几千亿之后,模型能力发生跃迁,不仅懂穿搭,还能结合个人需求生成有针对性的结果。这之后技术分化成两条路线:一条不计算力成本堆参数堆数据,追求能力天花板;另一条追求性价比,做模型压缩与蒸馏,以便更广泛地部署到移动端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更高的要求是:不希望AI只会聊衣服,而是希望它泛化能力更强——又能写代码,又能做PPT,甚至跨领域完成任务。这需要让AI具备更强的跨领域能力。传统AI往往只解决某个细分领域,比如人脸识别或翻译。给模型喂入网页、书籍、代码库、论文等更广泛的数据后,AI慢慢具备了各个领域的能力——这正是通用人工智能的雏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AI时经常会遇到虚构内容、产生幻觉的问题——这从AI的理论底层很难完全规避,但实际使用中要尽可能限制错误输出。基础方法是提示词工程:给模型提供上下文、限定角色和语料库范围、给出示例,或用思维链方法激发模型更强的推理能力。提示词工程本质上是在给AI立规矩——把过度发散的模型往回一收,带上缰绳让输出更可控。但它仍依赖人手工驱动,是工匠式工作;要稳定生产,还需要 Harness。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买衣服的例子:希望AI不只是生成内容,还能主动搜索货源、查价格、实际帮忙下单。这需要给AI提供接口和更高权限,让它从只会聊天转变为能做实际事情。这涉及三项技术:工具调用(如MCP这类接口)、个性化记忆、以及连接业务数据库。AI由此从语言模型慢慢演化成了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研究最热点的方向,是让AI从被动响应转向主动思考、主动迭代自己——自反思:不断评估自己的输出质量并自我纠正;自进化:随着时间推移,在新数据基础上不断迭代,而不必每次都靠人工重新训练。终极目标是成为具备感知、规划、行动的完整智能体。回顾整个例子:从认识衣服到自我进化,六个阶段一以贯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智能从何而来。从三要素到预训练，再到让模型遵循指令的后训练。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训练模型需要三种投入。用做菜作类比，先建立整体图景。模型能力来自训练过程，不能靠手写规则逐条装进去。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数据质量直接影响模型表现。更多数据只有在筛选和组织得当时才有价值。评估数据时同时看质量、覆盖面和重复程度。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数据量级需要放在语境里看。“多少本书”是类比，token 才是常见计量单位。不要把“书本换算量”当作精确训练数据。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 以自注意力代替循环作为主要序列处理机制，并支持更高的并行度。参考：Attention Is All You Need，https://arxiv.org/abs/1706.03762 。注意力权重不是“模型真正理解”的直接证据。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这页是概念示意，不代表真实模型的注意力矩阵。自注意力允许模型在计算一个位置时参考其他位置，不只看相邻词。参考：Attention Is All You Need，https://arxiv.org/abs/1706.03762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列模型的演进。RNN：逐步处理序列，长距离信息较难保留。；LSTM：通过门控改善长距离依赖，仍按时间步递推。；Transformer：用注意力联系不同位置，训练时更易并行。。这是一条技术演进线，不代表后者在所有任务中都绝对更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算力影响训练速度和实验空间。模型训练的工程问题不只有“买多少显卡”。算力和算法、数据一起决定可执行的训练方案。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预训练示意图只展示自回归语言模型的一种训练目标。图中候选词的条形长度为教学示意，不是任何真实模型的概率。不同语言模型还有其他训练目标。参考：OpenAI InstructGPT 研究说明，https://openai.com/index/instruction-following/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基座模型通过预训练学习预测文本；指令微调和人类反馈训练改善遵循指令的表现。参考：Training language models to follow instructions with human feedback，https://arxiv.org/abs/2203.02155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经典 InstructGPT 流程先做监督微调，再基于人类偏好训练奖励模型，并使用强化学习优化。其他方法如 DPO 可直接利用偏好对。参考：https://arxiv.org/abs/2203.02155 和 https://arxiv.org/abs/2305.18290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SFT 可以教会模型哪些行为。每个样本包含任务输入与期望输出。SFT 复制样本中的行为，样本质量决定它学到什么。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论文提出交替生成推理轨迹和任务相关行动。原课件的 1,800 条样本与 GPQA 分数属于课堂案例口述，缺少可独立核验来源，本版不作为量化结论。参考：https://arxiv.org/abs/2210.03629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DPO 在原论文中明确不需要显式奖励模型或强化学习过程。参考：https://arxiv.org/abs/2305.18290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原课件提及 197 对偏好数据、思考 Token 减少 42%，但未提供可独立核验的实验记录。本版保留方法论，去掉未经核实的精确提升数字。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能力形成的三段分工。预训练：从大规模数据中学习语言、知识和模式。；SFT：通过示范学习按任务要求组织回答。；偏好优化：比较候选输出，调整质量和行为取向。。项目里选模型，需要同时看它的能力、行为与运行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怎么选对模型。把指标、成本和部署条件一起放进决策。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模型发布时都会公布GPQA这个指标,它是198道博士级推理题,是所有大模型最基础的一个能力衡量——70分以下的模型基本可以不用考虑。MMLU测通识,有500题的标准版和12,000题的Pro版。LiveCodeBench测代码能力,只有100题但分难中易,并且以模型训练截止日期为界筛选题目,避免数据被提前泄漏污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有实践者在Hugging Face发布过一个千问系列27B模型,下载量一度超过参数更大的198B同类模型。原始版本GPQA为73分;用更强模型的行为做蒸馏后升到80分;经过轻量强化学习对齐偏好后到81.8分,甚至超过了198B的同类竞品;量化压缩后体积变小,能力小幅下降,是否接受取决于具体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型时习惯画一张速度(横轴)和成本(纵轴)的象限图,建议从下往上读:最下面是端侧部署。右下角是又快又便宜的理想区,日常用得最多的模型集中在这里;左上角是天花板区,能力最强但推理慢、成本高的前沿模型;左下角是速度慢、但便宜的过气大尺寸模型;右上角(又快又贵)目前还比较少见成熟代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建议这张图从下往上读:最下方是端侧部署,一次部署到本地设备,不用为云服务商持续付钱。稠密(Dense)模型每个token都要读全部参数,速度较慢;MoE(混合专家)模型每次只激活部分专家,速度更快。同一个模型可能在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度由多个因素共同决定:训练总参数量,越大的基座加载显存越大,天然更慢;是稠密还是MoE架构,决定单次推理实际激活的参数量;量化格式,把BF16逐步压缩到FP8、INT4会显著提速;以及推理栈与硬件带宽,好的推理框架加上高带宽互联能把同样的模型跑得快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16是出厂满血版,每参数2字节,精度最高但体积最大,很少直接用于生产。FP8/INT8每参数1字节,高并发场景常用于云端生产。个人本地部署更推荐GGUF的Q4KM或Q5KM,每参数约0.5字节,单流最快。英伟达设备上原生高并发场景则用NVFP4或MXFP4这类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量化,还有三件事能明显提速:投机解码(MTP等),用一个小模型预测未来几个token,主模型只需确认,接受率越高提速越明显;算子融合,减少计算之间的空转,提升并发能力;高带宽互联,卡间带宽和算力上限决定了推理的天花板,这也是英伟达的核心护城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把云端模型放到推理能力(纵轴GPQA)和速度(横轴)两个维度上看:GPT-5.5、Kimi K3等前沿模型在90分以上,但速度普遍偏慢;DeepSeek-V4-Flash在88分左右,同时速度较快,是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端侧部署要结合自己的显卡显存来选模型规模和量化档位:8G显存适合4B级模型做Q4量化,用于轻量任务和小型多模态;16G显存适合13B级模型,可以支撑本地Agent、代码辅助等场景;24G显存适合20B级模型,做复杂推理甚至长时间后台跑的long loop任务。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选模型时问自己三个问题:推理能力够不够(GPQA低于70分基本可以不看);速度扛不扛得住(高频调用的Agent场景优先看快的模型);成本兜不兜得住(端侧一次部署零调用成本,云端按吞吐量换更强的能力天花板)。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Harness 工程架构。模型之上，任务如何被编排、检验并交付。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从个人提示词到可复用流程。Harness 把临时操作变成有输入、步骤和验收的工作流。先定义验收和责任，再决定需要几个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广告素材平台的业务闭环。情报：收集合法可用的公开素材与用户需求。；生产：按规格生成脚本、图片和视频素材。；投放：由授权人员确认后进入投放流程。；分析：汇总效果，提出下一轮修改建议。。数据回流只提供改进信号，关键投放决定仍需责任人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条素材从需求到交付。拆需求：明确目标受众、规格、数量和禁用内容。；找依据：检索可用资料，记录来源与使用许可。；生成：产出可编辑草稿和必要的素材文件。；复核：查事实、品牌规范、权限和最终格式。。每一步都留下输入、输出和失败后的处理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 Agent 的价值取决于任务结构。能并行、需专长、要独立检查时，分工才有收益。增加 Agent 也会增加协调成本，先从最小可行分工开始。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该图是职责结构示意，不绑定特定模型厂商。项目经理负责拆解，路由和权限层选择执行者，专业 Agent 返回结构化结果，独立质检与人工关口完成交付。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复核是交付前的关口。事实核对：查引用、数字、来源与原始需求。；流程检查：查权限、禁用操作和材料使用许可。；人工确认：高风险决定与最终发布由责任人把关。。使用不同模型可降低部分共同盲点，但不能替代客观测试和人工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模型的边界由 Harness 接住。把不确定性转成可检查的工程约束。Harness 的目标是让结果可追溯、可验证、可控制。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这三层循环是课程对工程实践的归纳：交互方式、业务流程和反馈评测。它们通过代码、配置、文档持续迭代；不是模型训练中的三种优化算法。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原版提及“20 天投入对应 100 天产出”，属于内部口述案例，缺少统一计量口径。本版改用可复用的人机分工框架，不将数字作为普遍效率承诺。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总结全课：训练解释能力来源，选型匹配任务需求，Harness 负责工程交付。让学生选一个课程或工作中的真实任务，写出输入、工具权限、执行步骤、可验证的验收和人工关口。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HARNESS 工程系列 · 第一讲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5029200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4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把模型</a:t>
            </a:r>
          </a:p>
          <a:p>
            <a:r>
              <a:rPr lang="zh-CN" sz="4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用成系统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34640"/>
            <a:ext cx="5029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训练地基、模型选型与工程化兜底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29000"/>
            <a:ext cx="5029200" cy="658368"/>
          </a:xfrm>
          <a:prstGeom prst="roundRect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06640" y="1097280"/>
            <a:ext cx="2971800" cy="96012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35240" y="1389888"/>
            <a:ext cx="2011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9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1755648"/>
            <a:ext cx="2971800" cy="960120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82712" y="2048256"/>
            <a:ext cx="2011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9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414015"/>
            <a:ext cx="2971800" cy="9601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0183" y="2706624"/>
            <a:ext cx="2011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9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HARNESS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9640" y="3749039"/>
            <a:ext cx="0" cy="1005841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4956048"/>
            <a:ext cx="32918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可约束 · 可验证 · 可交付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36792"/>
            <a:ext cx="2011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AI 兴趣小组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AI 的演进：人把越来越多的工作交给系统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从信息获取，到任务执行，再到稳定交付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" y="1920240"/>
            <a:ext cx="914400" cy="91440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03704"/>
            <a:ext cx="9144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6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27248"/>
            <a:ext cx="1554480" cy="137160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1480" y="3072384"/>
            <a:ext cx="1554480" cy="137160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648" y="3310128"/>
            <a:ext cx="109728" cy="109728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" y="3273552"/>
            <a:ext cx="96926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730752"/>
            <a:ext cx="1143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 dirty="0" err="1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信息在哪</a:t>
            </a:r>
            <a:r>
              <a:rPr lang="zh-CN" sz="900" dirty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？</a:t>
            </a:r>
            <a:br>
              <a:rPr lang="zh-CN" dirty="0">
                <a:latin typeface="Hiragino Sans GB"/>
                <a:ea typeface="Hiragino Sans GB"/>
                <a:cs typeface="Hiragino Sans GB"/>
              </a:rPr>
            </a:br>
            <a:r>
              <a:rPr lang="zh-CN" dirty="0" err="1">
                <a:latin typeface="Hiragino Sans GB"/>
                <a:ea typeface="Hiragino Sans GB"/>
                <a:cs typeface="Hiragino Sans GB"/>
              </a:rPr>
              <a:t>人翻页、筛选、判断</a:t>
            </a:r>
            <a:endParaRPr lang="zh-CN" dirty="0"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645920" y="2377440"/>
            <a:ext cx="1828800" cy="0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520440" y="1920240"/>
            <a:ext cx="914400" cy="91440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2203704"/>
            <a:ext cx="9144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6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127248"/>
            <a:ext cx="1554480" cy="137160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0" y="3072384"/>
            <a:ext cx="1554480" cy="137160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01568" y="3310128"/>
            <a:ext cx="109728" cy="109728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02736" y="3273552"/>
            <a:ext cx="96926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3730752"/>
            <a:ext cx="1143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 dirty="0" err="1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答案是什么</a:t>
            </a:r>
            <a:r>
              <a:rPr lang="zh-CN" sz="900" dirty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？</a:t>
            </a:r>
            <a:br>
              <a:rPr lang="zh-CN" dirty="0">
                <a:latin typeface="Hiragino Sans GB"/>
                <a:ea typeface="Hiragino Sans GB"/>
                <a:cs typeface="Hiragino Sans GB"/>
              </a:rPr>
            </a:br>
            <a:r>
              <a:rPr lang="zh-CN" dirty="0" err="1">
                <a:latin typeface="Hiragino Sans GB"/>
                <a:ea typeface="Hiragino Sans GB"/>
                <a:cs typeface="Hiragino Sans GB"/>
              </a:rPr>
              <a:t>模型生成文本</a:t>
            </a:r>
            <a:r>
              <a:rPr lang="zh-CN" dirty="0">
                <a:latin typeface="Hiragino Sans GB"/>
                <a:ea typeface="Hiragino Sans GB"/>
                <a:cs typeface="Hiragino Sans GB"/>
              </a:rPr>
              <a:t>/</a:t>
            </a:r>
            <a:r>
              <a:rPr lang="zh-CN" dirty="0" err="1">
                <a:latin typeface="Hiragino Sans GB"/>
                <a:ea typeface="Hiragino Sans GB"/>
                <a:cs typeface="Hiragino Sans GB"/>
              </a:rPr>
              <a:t>图像</a:t>
            </a:r>
            <a:r>
              <a:rPr lang="zh-CN" dirty="0">
                <a:latin typeface="Hiragino Sans GB"/>
                <a:ea typeface="Hiragino Sans GB"/>
                <a:cs typeface="Hiragino Sans GB"/>
              </a:rPr>
              <a:t>/</a:t>
            </a:r>
            <a:r>
              <a:rPr lang="zh-CN" dirty="0" err="1">
                <a:latin typeface="Hiragino Sans GB"/>
                <a:ea typeface="Hiragino Sans GB"/>
                <a:cs typeface="Hiragino Sans GB"/>
              </a:rPr>
              <a:t>代码</a:t>
            </a:r>
            <a:endParaRPr lang="zh-CN" dirty="0"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434840" y="2377440"/>
            <a:ext cx="1828800" cy="0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309360" y="1920240"/>
            <a:ext cx="914400" cy="914400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60" y="2203704"/>
            <a:ext cx="9144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6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127248"/>
            <a:ext cx="1554480" cy="137160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989320" y="3072384"/>
            <a:ext cx="1554480" cy="137160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90488" y="3310128"/>
            <a:ext cx="109728" cy="109728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91656" y="3273552"/>
            <a:ext cx="96926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730752"/>
            <a:ext cx="1143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 dirty="0" err="1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下一步做什么</a:t>
            </a:r>
            <a:r>
              <a:rPr lang="zh-CN" sz="900" dirty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？</a:t>
            </a:r>
            <a:br>
              <a:rPr lang="zh-CN" dirty="0">
                <a:latin typeface="Hiragino Sans GB"/>
                <a:ea typeface="Hiragino Sans GB"/>
                <a:cs typeface="Hiragino Sans GB"/>
              </a:rPr>
            </a:br>
            <a:r>
              <a:rPr lang="zh-CN" dirty="0" err="1">
                <a:latin typeface="Hiragino Sans GB"/>
                <a:ea typeface="Hiragino Sans GB"/>
                <a:cs typeface="Hiragino Sans GB"/>
              </a:rPr>
              <a:t>模型调用工具与记忆</a:t>
            </a:r>
            <a:endParaRPr lang="zh-CN" dirty="0"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223760" y="2377440"/>
            <a:ext cx="1828799" cy="0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098280" y="1920240"/>
            <a:ext cx="914400" cy="9144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80" y="2203704"/>
            <a:ext cx="9144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6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3127248"/>
            <a:ext cx="1554480" cy="137160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778240" y="3072384"/>
            <a:ext cx="1554480" cy="137160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979408" y="3310128"/>
            <a:ext cx="109728" cy="10972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80576" y="3273552"/>
            <a:ext cx="96926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Harness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7696" y="3730752"/>
            <a:ext cx="1143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怎么稳定交付？</a:t>
            </a:r>
            <a:br/>
            <a:r>
              <a:t>编排、质检、兜底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074920"/>
            <a:ext cx="10607040" cy="694944"/>
          </a:xfrm>
          <a:prstGeom prst="roundRect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51560" y="5285232"/>
            <a:ext cx="10972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0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今天的主线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285232"/>
            <a:ext cx="7498079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不是工具变多，而是系统承担了更多“判断、执行、复核”的工作。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今天只走一条线：模型从哪来，又怎么变成系统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四段内容对应四个学习问题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1645920"/>
            <a:ext cx="10195560" cy="749808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440" y="1810512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810512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脉络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865376"/>
            <a:ext cx="53035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AI 能力怎么一步步升级？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12680" y="2020824"/>
            <a:ext cx="640080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2724912"/>
            <a:ext cx="10195560" cy="749808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2889504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889504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944368"/>
            <a:ext cx="53035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智能是怎么被训练出来的？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12680" y="3099816"/>
            <a:ext cx="640080" cy="0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" y="3803904"/>
            <a:ext cx="10195560" cy="749808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4440" y="3968496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68496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选型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023360"/>
            <a:ext cx="53035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项目里怎么选模型？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12680" y="4178808"/>
            <a:ext cx="640080" cy="0"/>
          </a:xfrm>
          <a:prstGeom prst="line">
            <a:avLst/>
          </a:prstGeom>
          <a:ln w="1905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" y="4882896"/>
            <a:ext cx="10195560" cy="749808"/>
          </a:xfrm>
          <a:prstGeom prst="roundRect">
            <a:avLst/>
          </a:prstGeom>
          <a:solidFill>
            <a:srgbClr val="171D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" y="5047488"/>
            <a:ext cx="5029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8B5CF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047488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Harness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5102352"/>
            <a:ext cx="53035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怎么把模型变成可交付系统？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12680" y="5257800"/>
            <a:ext cx="640080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01 大模型发展脉络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43000"/>
            <a:ext cx="10972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4800" b="1">
                <a:solidFill>
                  <a:srgbClr val="8B5CF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548640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34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大模型发展脉络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6217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6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先用一个买衣服的例子，看 AI 为什么从“识别”一路走到“工程编排”。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160520"/>
            <a:ext cx="658368" cy="65836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97433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识别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4489704"/>
            <a:ext cx="896112" cy="0"/>
          </a:xfrm>
          <a:prstGeom prst="line">
            <a:avLst/>
          </a:prstGeom>
          <a:ln w="1524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715768" y="4160520"/>
            <a:ext cx="658368" cy="658368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4327" y="497433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生成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01568" y="4489704"/>
            <a:ext cx="896111" cy="0"/>
          </a:xfrm>
          <a:prstGeom prst="line">
            <a:avLst/>
          </a:prstGeom>
          <a:ln w="1524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471416" y="4160520"/>
            <a:ext cx="658368" cy="658368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9976" y="497433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规模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57216" y="4489704"/>
            <a:ext cx="896111" cy="0"/>
          </a:xfrm>
          <a:prstGeom prst="line">
            <a:avLst/>
          </a:prstGeom>
          <a:ln w="1524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227064" y="4160520"/>
            <a:ext cx="658368" cy="658368"/>
          </a:xfrm>
          <a:prstGeom prst="ellipse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35624" y="497433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约束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12864" y="4489704"/>
            <a:ext cx="896111" cy="0"/>
          </a:xfrm>
          <a:prstGeom prst="line">
            <a:avLst/>
          </a:prstGeom>
          <a:ln w="1524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82712" y="4160520"/>
            <a:ext cx="658368" cy="658368"/>
          </a:xfrm>
          <a:prstGeom prst="ellipse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91272" y="497433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行动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68512" y="4489704"/>
            <a:ext cx="896112" cy="0"/>
          </a:xfrm>
          <a:prstGeom prst="line">
            <a:avLst/>
          </a:prstGeom>
          <a:ln w="1524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38360" y="4160520"/>
            <a:ext cx="658368" cy="65836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46920" y="497433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01 · 大模型发展脉络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如果让 AI 帮你买衣服，它要经历几次升级？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一个日常需求，串起六次技术跃迁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9933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2743200"/>
            <a:ext cx="1143000" cy="1280160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7784" y="2980944"/>
            <a:ext cx="8229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认出衣服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419856"/>
            <a:ext cx="8686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这是什么？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52728" y="2103120"/>
            <a:ext cx="1005840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60320" y="1828800"/>
            <a:ext cx="548640" cy="54864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0320" y="19933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712" y="2743200"/>
            <a:ext cx="1143000" cy="1280160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32303" y="2980944"/>
            <a:ext cx="8229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给建议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7" y="3419856"/>
            <a:ext cx="8686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怎么搭？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7248" y="2103120"/>
            <a:ext cx="1005839" cy="0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434840" y="1828800"/>
            <a:ext cx="548640" cy="548640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34840" y="19933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2231" y="2743200"/>
            <a:ext cx="1143000" cy="1280160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06824" y="2980944"/>
            <a:ext cx="8229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懂偏好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3419856"/>
            <a:ext cx="8686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适不适合我？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01768" y="2103120"/>
            <a:ext cx="1005839" cy="0"/>
          </a:xfrm>
          <a:prstGeom prst="line">
            <a:avLst/>
          </a:prstGeom>
          <a:ln w="1905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309359" y="1828800"/>
            <a:ext cx="548640" cy="548640"/>
          </a:xfrm>
          <a:prstGeom prst="ellipse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59" y="19933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16751" y="2743200"/>
            <a:ext cx="1143000" cy="1280160"/>
          </a:xfrm>
          <a:prstGeom prst="roundRect">
            <a:avLst/>
          </a:prstGeom>
          <a:solidFill>
            <a:srgbClr val="171D33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81344" y="2980944"/>
            <a:ext cx="8229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守边界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3419856"/>
            <a:ext cx="8686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别瞎编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76288" y="2103120"/>
            <a:ext cx="1005839" cy="0"/>
          </a:xfrm>
          <a:prstGeom prst="line">
            <a:avLst/>
          </a:prstGeom>
          <a:ln w="19050">
            <a:solidFill>
              <a:srgbClr val="FDE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83879" y="1828800"/>
            <a:ext cx="548640" cy="548640"/>
          </a:xfrm>
          <a:prstGeom prst="ellipse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83879" y="19933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91271" y="2743200"/>
            <a:ext cx="1143000" cy="1280160"/>
          </a:xfrm>
          <a:prstGeom prst="roundRect">
            <a:avLst/>
          </a:prstGeom>
          <a:solidFill>
            <a:srgbClr val="171D33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55863" y="2980944"/>
            <a:ext cx="8229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会行动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3419856"/>
            <a:ext cx="8686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查库存/下单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50807" y="2103120"/>
            <a:ext cx="1005841" cy="0"/>
          </a:xfrm>
          <a:prstGeom prst="line">
            <a:avLst/>
          </a:prstGeom>
          <a:ln w="1905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058400" y="1828800"/>
            <a:ext cx="548640" cy="54864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58400" y="19933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65792" y="2743200"/>
            <a:ext cx="1143000" cy="1280160"/>
          </a:xfrm>
          <a:prstGeom prst="roundRect">
            <a:avLst/>
          </a:prstGeom>
          <a:solidFill>
            <a:srgbClr val="171D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30384" y="2980944"/>
            <a:ext cx="8229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会迭代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3808" y="3419856"/>
            <a:ext cx="8686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根据反馈变好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5074920"/>
            <a:ext cx="9966960" cy="566928"/>
          </a:xfrm>
          <a:prstGeom prst="roundRect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17320" y="5285232"/>
            <a:ext cx="932688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4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这一章不是背术语，而是看清一个方向：需求越复杂，模型越需要被系统化约束。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阶段一 · 判别式模型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第一代能力：AI 先学会“认出来”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分类器解决“是什么”，但不解决“怎么办”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1965960"/>
            <a:ext cx="1828800" cy="1234440"/>
          </a:xfrm>
          <a:prstGeom prst="roundRect">
            <a:avLst/>
          </a:prstGeom>
          <a:solidFill>
            <a:srgbClr val="202748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13716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衣服图片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578608"/>
            <a:ext cx="1280160" cy="0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99232" y="2414015"/>
            <a:ext cx="768096" cy="310896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0672" y="2482596"/>
            <a:ext cx="585215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提取特征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828800"/>
            <a:ext cx="1874519" cy="1508760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0560" y="2084831"/>
            <a:ext cx="6400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T 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75688"/>
            <a:ext cx="603504" cy="82296"/>
          </a:xfrm>
          <a:prstGeom prst="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560" y="2432303"/>
            <a:ext cx="6400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连衣裙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423160"/>
            <a:ext cx="246888" cy="82296"/>
          </a:xfrm>
          <a:prstGeom prst="rect">
            <a:avLst/>
          </a:prstGeom>
          <a:solidFill>
            <a:srgbClr val="39415F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0560" y="2779776"/>
            <a:ext cx="6400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牛仔裤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770632"/>
            <a:ext cx="123444" cy="82296"/>
          </a:xfrm>
          <a:prstGeom prst="rect">
            <a:avLst/>
          </a:prstGeom>
          <a:solidFill>
            <a:srgbClr val="39415F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309360" y="2578608"/>
            <a:ext cx="1234440" cy="0"/>
          </a:xfrm>
          <a:prstGeom prst="line">
            <a:avLst/>
          </a:prstGeom>
          <a:ln w="2540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42532" y="2414015"/>
            <a:ext cx="768096" cy="310896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33972" y="2482596"/>
            <a:ext cx="585215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2011680"/>
            <a:ext cx="1645920" cy="1133856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331720"/>
            <a:ext cx="111556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输出标签</a:t>
            </a:r>
          </a:p>
          <a:p>
            <a:pPr algn="ctr"/>
            <a:r>
              <a:rPr lang="zh-CN" sz="18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T 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489703"/>
            <a:ext cx="2468880" cy="12344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43000" y="4434840"/>
            <a:ext cx="2468880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344168" y="4672583"/>
            <a:ext cx="109728" cy="109728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45336" y="4636007"/>
            <a:ext cx="188366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能做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456" y="5093207"/>
            <a:ext cx="2057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判断这是什么，适合做分类、识别、检测。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0" y="4489703"/>
            <a:ext cx="2743200" cy="12344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886200" y="4434840"/>
            <a:ext cx="2743200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087368" y="4672583"/>
            <a:ext cx="109728" cy="109728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88536" y="4636007"/>
            <a:ext cx="215798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不能做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5656" y="5093207"/>
            <a:ext cx="23317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不能自然解释你的偏好，也不能生成一套新方案。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2" y="4489703"/>
            <a:ext cx="2971800" cy="12344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931152" y="4434840"/>
            <a:ext cx="2971800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132320" y="4672583"/>
            <a:ext cx="109728" cy="109728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33488" y="4636007"/>
            <a:ext cx="23865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记住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5093207"/>
            <a:ext cx="25603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判别式模型本质是计算概率，不是创造内容。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阶段二 · 生成式模型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AI 从“贴标签”走向“生成内容”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这是近几年最重要的一次能力跃迁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1874519"/>
            <a:ext cx="3886200" cy="2971800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2148840"/>
            <a:ext cx="1828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9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判别式模型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43200"/>
            <a:ext cx="301752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输入：一张图片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输出：固定类别标签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价值：识别、分类、检测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794760"/>
            <a:ext cx="1554480" cy="438912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74519" y="3913632"/>
            <a:ext cx="15544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T 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74519"/>
            <a:ext cx="3886200" cy="2971800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18120" y="2148840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9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生成式模型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743200"/>
            <a:ext cx="306324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输入：你的场景与要求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输出：文案、图像、代码、建议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价值：发散、创造、组合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794760"/>
            <a:ext cx="749808" cy="438912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09560" y="3922776"/>
            <a:ext cx="74980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文案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3794760"/>
            <a:ext cx="749808" cy="438912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42248" y="3922776"/>
            <a:ext cx="74980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图像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74936" y="3794760"/>
            <a:ext cx="749808" cy="438912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74936" y="3922776"/>
            <a:ext cx="74980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1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代码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83480" y="3246120"/>
            <a:ext cx="219456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96712" y="3081527"/>
            <a:ext cx="768096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88152" y="3150108"/>
            <a:ext cx="585215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从分类到创造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阶段三 · 参数跃迁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模型变大之后，能力出现跃迁，也带来两条路线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规模探索天花板，蒸馏解决部署和性价比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783080"/>
            <a:ext cx="3657600" cy="914400"/>
          </a:xfrm>
          <a:prstGeom prst="roundRect">
            <a:avLst/>
          </a:prstGeom>
          <a:solidFill>
            <a:srgbClr val="202748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301752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参数 + 数据 + 工程迭代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017520" y="2743200"/>
            <a:ext cx="3063240" cy="932687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2743200"/>
            <a:ext cx="3063240" cy="932687"/>
          </a:xfrm>
          <a:prstGeom prst="line">
            <a:avLst/>
          </a:prstGeom>
          <a:ln w="2540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758183"/>
            <a:ext cx="4114800" cy="164592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3703320"/>
            <a:ext cx="4114800" cy="164592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69848" y="3941063"/>
            <a:ext cx="109728" cy="109728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1016" y="3904487"/>
            <a:ext cx="35295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路线 A：大力出奇迹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361688"/>
            <a:ext cx="370332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不先算成本，先把参数和数据堆上去，探索能力天花板。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758183"/>
            <a:ext cx="4114800" cy="164592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223760" y="3703320"/>
            <a:ext cx="4114800" cy="164592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24928" y="3941063"/>
            <a:ext cx="109728" cy="109728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6096" y="3904487"/>
            <a:ext cx="35295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路线 B：压缩与蒸馏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4361688"/>
            <a:ext cx="370332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保留关键能力，把模型做小、做快、做便宜，方便部署。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916168"/>
            <a:ext cx="987552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学生项目更常遇到的问题：不是“最大模型是什么”，而是“够用且跑得起的模型是什么”。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阶段四 · 通用大模型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从单项能力变成跨领域能力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通用性的价值，是把不同任务放进同一套系统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800600" y="2057400"/>
            <a:ext cx="2423160" cy="242316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0368" y="2788920"/>
            <a:ext cx="155448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26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通用</a:t>
            </a:r>
          </a:p>
          <a:p>
            <a:pPr algn="ctr"/>
            <a:r>
              <a:rPr lang="zh-CN" sz="26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1737360"/>
            <a:ext cx="1572768" cy="603504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1920240"/>
            <a:ext cx="157276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写代码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37943" y="2039112"/>
            <a:ext cx="4178809" cy="1234440"/>
          </a:xfrm>
          <a:prstGeom prst="line">
            <a:avLst/>
          </a:prstGeom>
          <a:ln w="152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1143000"/>
            <a:ext cx="1572768" cy="603504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26080" y="1325880"/>
            <a:ext cx="157276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做 PPT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12464" y="1444752"/>
            <a:ext cx="2304288" cy="1828800"/>
          </a:xfrm>
          <a:prstGeom prst="line">
            <a:avLst/>
          </a:prstGeom>
          <a:ln w="1524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60" y="1143000"/>
            <a:ext cx="1572768" cy="603504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0" y="1325880"/>
            <a:ext cx="157276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读论文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16752" y="1444752"/>
            <a:ext cx="2450592" cy="1828800"/>
          </a:xfrm>
          <a:prstGeom prst="line">
            <a:avLst/>
          </a:prstGeom>
          <a:ln w="1524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0" y="1737360"/>
            <a:ext cx="1572768" cy="603504"/>
          </a:xfrm>
          <a:prstGeom prst="roundRect">
            <a:avLst/>
          </a:prstGeom>
          <a:solidFill>
            <a:srgbClr val="171D33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0" y="1920240"/>
            <a:ext cx="157276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写文案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016752" y="2039112"/>
            <a:ext cx="4370832" cy="1234440"/>
          </a:xfrm>
          <a:prstGeom prst="line">
            <a:avLst/>
          </a:prstGeom>
          <a:ln w="15240">
            <a:solidFill>
              <a:srgbClr val="FDE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011680" y="4800600"/>
            <a:ext cx="1572768" cy="603504"/>
          </a:xfrm>
          <a:prstGeom prst="roundRect">
            <a:avLst/>
          </a:prstGeom>
          <a:solidFill>
            <a:srgbClr val="171D33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11680" y="4983480"/>
            <a:ext cx="157276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多模态理解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798064" y="3273552"/>
            <a:ext cx="3218688" cy="1828800"/>
          </a:xfrm>
          <a:prstGeom prst="line">
            <a:avLst/>
          </a:prstGeom>
          <a:ln w="1524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12480" y="4800600"/>
            <a:ext cx="1572768" cy="603504"/>
          </a:xfrm>
          <a:prstGeom prst="roundRect">
            <a:avLst/>
          </a:prstGeom>
          <a:solidFill>
            <a:srgbClr val="171D33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4983480"/>
            <a:ext cx="157276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工具调用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6016752" y="3273552"/>
            <a:ext cx="3182111" cy="1828800"/>
          </a:xfrm>
          <a:prstGeom prst="line">
            <a:avLst/>
          </a:prstGeom>
          <a:ln w="1524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286000" y="5897880"/>
            <a:ext cx="7635240" cy="384048"/>
          </a:xfrm>
          <a:prstGeom prst="roundRect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87168" y="6016752"/>
            <a:ext cx="72237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从专才到通才：同一个模型开始跨任务迁移，系统设计才真正有了空间。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5566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阶段五 · Prompt 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先给过度发散的模型立规矩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Prompt 能约束输出，但仍然依赖人手工驱动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1828800"/>
            <a:ext cx="3474720" cy="2880360"/>
          </a:xfrm>
          <a:prstGeom prst="roundRect">
            <a:avLst/>
          </a:prstGeom>
          <a:solidFill>
            <a:srgbClr val="171D33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568" y="2103120"/>
            <a:ext cx="21031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700" b="1">
                <a:solidFill>
                  <a:srgbClr val="FB7185"/>
                </a:solidFill>
                <a:latin typeface="Hiragino Sans GB"/>
                <a:ea typeface="Hiragino Sans GB"/>
                <a:cs typeface="Hiragino Sans GB"/>
              </a:rPr>
              <a:t>没有规矩的输出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2" y="2743200"/>
            <a:ext cx="1024128" cy="384048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0432" y="2862072"/>
            <a:ext cx="102412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9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幻觉</a:t>
            </a:r>
          </a:p>
        </p:txBody>
      </p:sp>
      <p:sp>
        <p:nvSpPr>
          <p:cNvPr id="16" name="Oval 15"/>
          <p:cNvSpPr/>
          <p:nvPr/>
        </p:nvSpPr>
        <p:spPr>
          <a:xfrm>
            <a:off x="2496312" y="2743200"/>
            <a:ext cx="1024128" cy="384048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96312" y="2862072"/>
            <a:ext cx="102412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9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跑题</a:t>
            </a:r>
          </a:p>
        </p:txBody>
      </p:sp>
      <p:sp>
        <p:nvSpPr>
          <p:cNvPr id="18" name="Oval 17"/>
          <p:cNvSpPr/>
          <p:nvPr/>
        </p:nvSpPr>
        <p:spPr>
          <a:xfrm>
            <a:off x="1170432" y="3337560"/>
            <a:ext cx="1024128" cy="384048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0432" y="3456432"/>
            <a:ext cx="102412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9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格式乱</a:t>
            </a:r>
          </a:p>
        </p:txBody>
      </p:sp>
      <p:sp>
        <p:nvSpPr>
          <p:cNvPr id="20" name="Oval 19"/>
          <p:cNvSpPr/>
          <p:nvPr/>
        </p:nvSpPr>
        <p:spPr>
          <a:xfrm>
            <a:off x="2496312" y="3337560"/>
            <a:ext cx="1024128" cy="384048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96312" y="3456432"/>
            <a:ext cx="102412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9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不稳定</a:t>
            </a:r>
          </a:p>
        </p:txBody>
      </p:sp>
      <p:sp>
        <p:nvSpPr>
          <p:cNvPr id="22" name="Oval 21"/>
          <p:cNvSpPr/>
          <p:nvPr/>
        </p:nvSpPr>
        <p:spPr>
          <a:xfrm>
            <a:off x="1170432" y="3931920"/>
            <a:ext cx="1024128" cy="384048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0432" y="4050791"/>
            <a:ext cx="102412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9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过度发散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20" y="3246120"/>
            <a:ext cx="1737360" cy="0"/>
          </a:xfrm>
          <a:prstGeom prst="line">
            <a:avLst/>
          </a:prstGeom>
          <a:ln w="2540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02352" y="3081527"/>
            <a:ext cx="768096" cy="310896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93792" y="3150108"/>
            <a:ext cx="585215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立规矩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1828800"/>
            <a:ext cx="4343400" cy="2880360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1152" y="2103120"/>
            <a:ext cx="219456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结构化 Prompt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59168" y="2670048"/>
            <a:ext cx="3291840" cy="219456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42048" y="2729484"/>
            <a:ext cx="2880360" cy="548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角色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59168" y="3017520"/>
            <a:ext cx="3291840" cy="219456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42048" y="3076956"/>
            <a:ext cx="2880360" cy="548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上下文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9168" y="3364991"/>
            <a:ext cx="3291840" cy="219456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42048" y="3424428"/>
            <a:ext cx="2880360" cy="548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示例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59168" y="3712464"/>
            <a:ext cx="3291840" cy="219456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242048" y="3771900"/>
            <a:ext cx="2880360" cy="548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边界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9168" y="4059935"/>
            <a:ext cx="3291840" cy="219456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42048" y="4119372"/>
            <a:ext cx="2880360" cy="548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输出格式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650992"/>
            <a:ext cx="941832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关键限制：Prompt 仍然是工匠式工作。要稳定生产，还需要 Harness。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阶段六 ·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当模型接上工具、记忆和数据，它开始做事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Agent = 模型能力 + 外部能力 + 权限边界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983480" y="2331720"/>
            <a:ext cx="2194560" cy="219456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3017520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3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929384"/>
            <a:ext cx="2560320" cy="10058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1874519"/>
            <a:ext cx="2560320" cy="10058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15568" y="2112263"/>
            <a:ext cx="109728" cy="109728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16736" y="2075688"/>
            <a:ext cx="19751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2532887"/>
            <a:ext cx="214883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搜索 / MCP /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2377439"/>
            <a:ext cx="3886200" cy="1051561"/>
          </a:xfrm>
          <a:prstGeom prst="line">
            <a:avLst/>
          </a:prstGeom>
          <a:ln w="1651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1929384"/>
            <a:ext cx="2560320" cy="10058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778240" y="1874519"/>
            <a:ext cx="2560320" cy="10058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79408" y="2112263"/>
            <a:ext cx="109728" cy="109728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80576" y="2075688"/>
            <a:ext cx="19751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532887"/>
            <a:ext cx="214883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偏好 / 历史上下文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080760" y="2377439"/>
            <a:ext cx="3977640" cy="1051561"/>
          </a:xfrm>
          <a:prstGeom prst="line">
            <a:avLst/>
          </a:prstGeom>
          <a:ln w="1651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4672583"/>
            <a:ext cx="2560320" cy="10058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14400" y="4617720"/>
            <a:ext cx="2560320" cy="10058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15568" y="4855464"/>
            <a:ext cx="109728" cy="109728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6736" y="4818888"/>
            <a:ext cx="19751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5276088"/>
            <a:ext cx="214883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业务数据 / 知识库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194560" y="3429000"/>
            <a:ext cx="3886200" cy="1691640"/>
          </a:xfrm>
          <a:prstGeom prst="line">
            <a:avLst/>
          </a:prstGeom>
          <a:ln w="1651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823960" y="4672583"/>
            <a:ext cx="2560320" cy="100584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778240" y="4617720"/>
            <a:ext cx="2560320" cy="100584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979408" y="4855464"/>
            <a:ext cx="109728" cy="109728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80576" y="4818888"/>
            <a:ext cx="19751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Permission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5276088"/>
            <a:ext cx="214883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权限 / 安全边界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6080760" y="3429000"/>
            <a:ext cx="3977640" cy="1691640"/>
          </a:xfrm>
          <a:prstGeom prst="line">
            <a:avLst/>
          </a:prstGeom>
          <a:ln w="1651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0" y="5321808"/>
            <a:ext cx="3017520" cy="530352"/>
          </a:xfrm>
          <a:prstGeom prst="roundRect">
            <a:avLst/>
          </a:prstGeom>
          <a:solidFill>
            <a:srgbClr val="202748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773168" y="5486400"/>
            <a:ext cx="26060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6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输出：可执行任务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80760" y="4572000"/>
            <a:ext cx="0" cy="731520"/>
          </a:xfrm>
          <a:prstGeom prst="line">
            <a:avLst/>
          </a:prstGeom>
          <a:ln w="2032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HARNESS 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下一步 · 自我进化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系统能不能根据反馈自己变好？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从被动回答，走向规划、行动、观察、修正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0" y="1417320"/>
            <a:ext cx="914400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1600200"/>
            <a:ext cx="9144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规划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1700784"/>
            <a:ext cx="2880360" cy="1097280"/>
          </a:xfrm>
          <a:prstGeom prst="line">
            <a:avLst/>
          </a:prstGeom>
          <a:ln w="1778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366760" y="2514600"/>
            <a:ext cx="914400" cy="566928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2697480"/>
            <a:ext cx="9144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行动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936992" y="2798064"/>
            <a:ext cx="886968" cy="2377439"/>
          </a:xfrm>
          <a:prstGeom prst="line">
            <a:avLst/>
          </a:prstGeom>
          <a:ln w="1778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79792" y="4892040"/>
            <a:ext cx="914400" cy="566928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79792" y="5074920"/>
            <a:ext cx="9144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407408" y="5175503"/>
            <a:ext cx="3529584" cy="0"/>
          </a:xfrm>
          <a:prstGeom prst="line">
            <a:avLst/>
          </a:prstGeom>
          <a:ln w="1778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950208" y="4892040"/>
            <a:ext cx="914400" cy="566928"/>
          </a:xfrm>
          <a:prstGeom prst="ellipse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50208" y="5074920"/>
            <a:ext cx="9144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评估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3429000" y="2798064"/>
            <a:ext cx="978408" cy="2377439"/>
          </a:xfrm>
          <a:prstGeom prst="line">
            <a:avLst/>
          </a:prstGeom>
          <a:ln w="17780">
            <a:solidFill>
              <a:srgbClr val="FDE6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71800" y="2514600"/>
            <a:ext cx="914400" cy="56692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71800" y="2697480"/>
            <a:ext cx="9144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修正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429000" y="1700784"/>
            <a:ext cx="2514600" cy="1097280"/>
          </a:xfrm>
          <a:prstGeom prst="line">
            <a:avLst/>
          </a:prstGeom>
          <a:ln w="1778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029200" y="2743200"/>
            <a:ext cx="2011680" cy="1051560"/>
          </a:xfrm>
          <a:prstGeom prst="ellipse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85232" y="3090672"/>
            <a:ext cx="150876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反馈循环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715000"/>
            <a:ext cx="1051560" cy="310896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8720" y="5783580"/>
            <a:ext cx="86868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自反思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3160" y="5715000"/>
            <a:ext cx="1051560" cy="310896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14600" y="5783580"/>
            <a:ext cx="86868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自我纠正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5715000"/>
            <a:ext cx="105156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40479" y="5783580"/>
            <a:ext cx="86868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自进化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550408"/>
            <a:ext cx="4434840" cy="658368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56832" y="5705856"/>
            <a:ext cx="38862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0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桥接下一章：模型为什么能这样做？</a:t>
            </a:r>
          </a:p>
          <a:p>
            <a:r>
              <a:rPr lang="zh-CN" sz="1000" b="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我们先看智能到底是怎么训练出来的。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83A8578-93AB-464C-9744-FE641BC3AC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5A32F5-B017-4357-9F7E-08AC1A9BC558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52F6B-87AA-4F06-97B1-43176F9051BD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智能从何而来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D7C66-4C8D-4804-BD7E-347810FDAE24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从三要素到预训练，再到让模型遵循指令的后训练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D6598C2-376B-4494-B092-1C43E4256944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91FC87-4796-4A56-BB97-3E50D0108C66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BAD89-9326-4AAE-9B1A-FC6EC44B0AE0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13 / 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525776-3A98-4943-8625-154618AECA1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952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C4A3AFD-B9E4-479F-82B1-CC8EEA83AC39}"/>
              </a:ext>
            </a:extLst>
          </p:cNvPr>
          <p:cNvSpPr>
            <a:spLocks noGrp="1"/>
          </p:cNvSpPr>
          <p:nvPr/>
        </p:nvSpPr>
        <p:spPr>
          <a:xfrm>
            <a:off x="3810000" y="2476500"/>
            <a:ext cx="0" cy="1943100"/>
          </a:xfrm>
          <a:prstGeom prst="line">
            <a:avLst/>
          </a:prstGeom>
          <a:noFill/>
          <a:ln w="2857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B45E98-86C1-4791-990F-5979F2410E26}"/>
              </a:ext>
            </a:extLst>
          </p:cNvPr>
          <p:cNvSpPr>
            <a:spLocks noGrp="1"/>
          </p:cNvSpPr>
          <p:nvPr/>
        </p:nvSpPr>
        <p:spPr>
          <a:xfrm>
            <a:off x="4162425" y="2514600"/>
            <a:ext cx="69532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数据  ·  算法  ·  算力</a:t>
            </a:r>
          </a:p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预训练  ·  SFT  ·  偏好优化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A25EC6-7395-4E92-851F-49A5F185BB0A}"/>
              </a:ext>
            </a:extLst>
          </p:cNvPr>
          <p:cNvSpPr>
            <a:spLocks noGrp="1"/>
          </p:cNvSpPr>
          <p:nvPr/>
        </p:nvSpPr>
        <p:spPr>
          <a:xfrm>
            <a:off x="4162425" y="4381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本章的问题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518889-733C-4A6A-ABB0-B7931E4D976C}"/>
              </a:ext>
            </a:extLst>
          </p:cNvPr>
          <p:cNvSpPr>
            <a:spLocks noGrp="1"/>
          </p:cNvSpPr>
          <p:nvPr/>
        </p:nvSpPr>
        <p:spPr>
          <a:xfrm>
            <a:off x="4162425" y="4743450"/>
            <a:ext cx="6667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模型的能力从哪里来，后训练又改变了什么？</a:t>
            </a:r>
          </a:p>
        </p:txBody>
      </p:sp>
    </p:spTree>
    <p:extLst>
      <p:ext uri="{BB962C8B-B14F-4D97-AF65-F5344CB8AC3E}">
        <p14:creationId xmlns:p14="http://schemas.microsoft.com/office/powerpoint/2010/main" val="910774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FA390EB-DF62-4B1B-99CB-7E06604E92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285BE8-2FE9-496F-902F-6C856F52A7B7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29EB43-2B59-4718-AB8A-6E419C50222C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训练模型需要三种投入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9261A-96F9-428E-8613-B038DA5E9132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用做菜作类比，先建立整体图景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F6B95F5-54FD-4689-BA04-05B000066D19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3B6CF-1FCE-4D6E-B43F-DD03828B184E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DB3E5F-5528-4955-B8DB-FAF01B1AB2B5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14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05E5A2-45D7-4600-999D-EC8DCDA2F106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784BA-1F84-48C8-A484-D73838A6717C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食材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BC339A-41DD-4207-950B-B6CD28916701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数据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F6C311-FA1C-4EF9-9817-5E329A5001E9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提供语言、事实和任务样本。质量决定模型能学到什么。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0C90222-A637-4A6D-BE50-016494CC4A9F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0F5094-B5D6-44C2-A4C3-983A127ABD30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菜谱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0EB1B4-A2B8-4DFC-95AC-5ECC76636311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算法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306EF1-302A-4FA8-9E15-5C8A2A8CDF75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决定模型如何表示信息、更新参数，并利用上下文。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C41C830-FB1B-494C-B666-358A8B9369DD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CD0718-3F08-4B9A-B1C2-A96CCF3B6B79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FFD2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FFD27A"/>
                </a:solidFill>
                <a:latin typeface="Hiragino Sans GB"/>
                <a:ea typeface="Hiragino Sans GB"/>
                <a:cs typeface="Hiragino Sans GB"/>
              </a:rPr>
              <a:t>火力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175EEA-B674-47EF-9D44-69D713B37C4D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算力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0A8899-A3DA-4B94-B110-0DA9301F7E54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支撑训练规模、实验速度和推理服务。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BA603FF-DC1B-4939-834C-D622FBB67AEC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18F53CC-25F8-4618-993A-514821841507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A90847-6BB0-427C-A2A5-1CEB283DE9D7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模型能力来自训练过程，不能靠手写规则逐条装进去。</a:t>
            </a:r>
          </a:p>
        </p:txBody>
      </p:sp>
    </p:spTree>
    <p:extLst>
      <p:ext uri="{BB962C8B-B14F-4D97-AF65-F5344CB8AC3E}">
        <p14:creationId xmlns:p14="http://schemas.microsoft.com/office/powerpoint/2010/main" val="1990294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B1DB8C8-BDCE-4ACA-8D09-EE9BBC0248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9C734D-2CDE-494A-907A-571C13FE190F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65E07F-7885-483D-AFD8-65C9A32625C3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数据质量直接影响模型表现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0026A-2C57-417A-8C36-6C407D6270A8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更多数据只有在筛选和组织得当时才有价值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1227181-D0D1-486F-88D4-51E1AADEDC52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1E162-BC8F-4A9F-A730-DE754558DFC0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63CE7-2447-4B3A-87A1-C81BF3BB6586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15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A94638-2F16-4CEC-8996-2EFD36895E48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5630B-DFB9-4207-A879-10F0309BCECB}"/>
              </a:ext>
            </a:extLst>
          </p:cNvPr>
          <p:cNvSpPr>
            <a:spLocks noGrp="1"/>
          </p:cNvSpPr>
          <p:nvPr/>
        </p:nvSpPr>
        <p:spPr>
          <a:xfrm>
            <a:off x="847725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高质量样本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82AA2-816D-4150-BDBE-22762FA452D0}"/>
              </a:ext>
            </a:extLst>
          </p:cNvPr>
          <p:cNvSpPr>
            <a:spLocks noGrp="1"/>
          </p:cNvSpPr>
          <p:nvPr/>
        </p:nvSpPr>
        <p:spPr>
          <a:xfrm>
            <a:off x="847725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信息可靠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A606E8-6002-4199-B94B-CDFAF269D82D}"/>
              </a:ext>
            </a:extLst>
          </p:cNvPr>
          <p:cNvSpPr>
            <a:spLocks noGrp="1"/>
          </p:cNvSpPr>
          <p:nvPr/>
        </p:nvSpPr>
        <p:spPr>
          <a:xfrm>
            <a:off x="847725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来源可追溯、内容准确；覆盖不同任务和表达方式。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0F48D9-94CF-4515-8CF3-84E44ADB58E8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50974D-D123-4796-B64D-3A35B79CD53D}"/>
              </a:ext>
            </a:extLst>
          </p:cNvPr>
          <p:cNvSpPr>
            <a:spLocks noGrp="1"/>
          </p:cNvSpPr>
          <p:nvPr/>
        </p:nvSpPr>
        <p:spPr>
          <a:xfrm>
            <a:off x="6553200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FF88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FF8890"/>
                </a:solidFill>
                <a:latin typeface="Hiragino Sans GB"/>
                <a:ea typeface="Hiragino Sans GB"/>
                <a:cs typeface="Hiragino Sans GB"/>
              </a:rPr>
              <a:t>低质量样本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880B9-FC77-4424-84FD-A5810CBD0CFA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错误会被学进去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30A1D1-C015-4DAF-8BB5-51FFB8DC7BEE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重复、过时、矛盾或错误的内容会增加训练噪声。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1BBCF5F-1BE1-4CA7-B520-DDC5D8423FD8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3C3150-0B56-439B-B874-8CA7C6227142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32343-1432-4550-8D01-123A18871B6D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评估数据时同时看质量、覆盖面和重复程度。</a:t>
            </a:r>
          </a:p>
        </p:txBody>
      </p:sp>
    </p:spTree>
    <p:extLst>
      <p:ext uri="{BB962C8B-B14F-4D97-AF65-F5344CB8AC3E}">
        <p14:creationId xmlns:p14="http://schemas.microsoft.com/office/powerpoint/2010/main" val="2078893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E93B638-9EF8-4E36-9B00-22D59933CA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5D3AA0-1536-4C63-9435-16FB6078947A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62310-057A-4753-B329-6C1C76B943DC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数据量级需要放在语境里看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B12453-9B95-4A56-B43C-FED8119273FC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“多少本书”是类比，token 才是常见计量单位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79D9CA1-FF42-4CDB-8B79-0C0C7571FB02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3D653-767E-4F13-8A86-917B5BE27AB1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C3A2D-1B1A-4FD9-9C30-BE1272B29F07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16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FAEB95-9203-4BE0-A031-D9709698856A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611920-F0CC-4944-8E52-0BB98C71D54F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单位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AFB4D-9A25-4445-949D-4E7877AA511A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Token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77DEF1-D2B7-4EAE-9271-6F7633DC413B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模型读写文本的基本计量单位，不等同于一个汉字或一个词。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7636CB-AB82-462E-9BD4-6A200AEC26C0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989F7-76BB-4FD1-AA36-D8FB05DE55B5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训练集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1CC2CE-7E22-4904-B4E5-51E071E688B7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规模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2BBF44-106C-4754-957C-BBB567ABDE20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不同模型使用不同来源、不同清洗方法，不能只比总量。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6967E36-088F-4A5B-AB86-863D981BCE01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2D43D2-F64D-4037-9988-7076F923B16D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检验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F93A2A-2D34-45FE-952F-06575C8439CC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有效数据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F43831-EC7D-46BB-81B3-2D028BFD4D15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要看去重、质量筛选和任务覆盖，而非单个“大数字”。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F54213-4766-4C11-BA59-5121EC9B81FC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8370CB2-9277-40D6-A691-E3184ACA1A2D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EA6714-8029-4188-8317-A558794E0996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不要把“书本换算量”当作精确训练数据。</a:t>
            </a:r>
          </a:p>
        </p:txBody>
      </p:sp>
    </p:spTree>
    <p:extLst>
      <p:ext uri="{BB962C8B-B14F-4D97-AF65-F5344CB8AC3E}">
        <p14:creationId xmlns:p14="http://schemas.microsoft.com/office/powerpoint/2010/main" val="656012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4F5B17E-7088-454B-A40E-3B13C9C2ED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04BF9F-8559-4A25-99B3-9F35858729C9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E071C-7642-4C61-80B0-8886E9DD6423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Transformer 改变了序列处理方式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B704DC-F622-4A03-83D2-832911AB9071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注意力让每个位置参考上下文中的其他位置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F343B86-2148-407D-838F-16B273CE5FBA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1CD07-AD00-441D-9A9F-98500DE1FFAE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F6A4B-91B0-447C-8758-3B4A269DABDC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17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6480A2-A7EB-4606-903B-BBDD4E158513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AC3141-15E8-464D-9E7D-C3429FF22F50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65B01-9CA4-4F75-A66F-F734ED22D2DB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Token 表示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A82EA4-D7C0-4383-AF79-81A98340C304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先把文本转换为模型可以计算的向量。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2B74242-310C-4A80-8D66-41C6B64A2D70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1A1902-CE74-41B2-8F74-07AF9CD1304D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核心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315B96-7EE8-40DC-9862-38F0C045484E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自注意力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A84FC8-6C94-4B5F-95A3-F1744DF62A15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对不同位置分配权重，聚合当前任务需要的信息。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6E0ACE6-5A99-4AB7-8CC9-A041395C8FFA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26F4-9CCB-46E6-AB1C-5B623DB59672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A79FA2-274B-4C44-9F0F-1BEBD08084D8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下一层表示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280495-CC36-4EF5-B674-6A9C455503EE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多层计算逐步形成更适合预测的内部表示。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ECDD66-5F15-42D1-A473-6BEE5344795C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148839-8249-4844-8DCD-F7A800D0B2B7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814AA6-8B55-4855-926F-DC2B9756BFEC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注意力权重表达相关性，远距离的词也可能非常重要。</a:t>
            </a:r>
          </a:p>
        </p:txBody>
      </p:sp>
    </p:spTree>
    <p:extLst>
      <p:ext uri="{BB962C8B-B14F-4D97-AF65-F5344CB8AC3E}">
        <p14:creationId xmlns:p14="http://schemas.microsoft.com/office/powerpoint/2010/main" val="1482618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1F9B03A-BCFE-441A-8AA4-A03372CCE2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4389CA-8FC8-4718-8C7C-8BA2147922AF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BC152-8541-4B86-856E-2F1E83982CEB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注意力机制：同一句话里的关联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F08DBC-EBC1-45D4-A910-86E62D429147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示意：模型为当前位置挑选有用的上下文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44475ED-55B9-4FD4-9BA0-C8275F9B7FBA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5664B0-C9AF-4086-9A38-4F81ABF07666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90560-0BDA-4494-AE50-C52912A264CE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18 / 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D3556-0EB5-42F3-BE17-767C69E6208E}"/>
              </a:ext>
            </a:extLst>
          </p:cNvPr>
          <p:cNvSpPr>
            <a:spLocks noGrp="1"/>
          </p:cNvSpPr>
          <p:nvPr/>
        </p:nvSpPr>
        <p:spPr>
          <a:xfrm>
            <a:off x="1047750" y="211455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3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3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“这件衣服很合身，但颜色不适合我。”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577AE9-027D-48BD-A45C-7DDEF976C043}"/>
              </a:ext>
            </a:extLst>
          </p:cNvPr>
          <p:cNvSpPr>
            <a:spLocks noGrp="1"/>
          </p:cNvSpPr>
          <p:nvPr/>
        </p:nvSpPr>
        <p:spPr>
          <a:xfrm>
            <a:off x="1362075" y="3429000"/>
            <a:ext cx="1905000" cy="685800"/>
          </a:xfrm>
          <a:prstGeom prst="roundRect">
            <a:avLst>
              <a:gd name="adj" fmla="val 16667"/>
            </a:avLst>
          </a:prstGeom>
          <a:solidFill>
            <a:srgbClr val="202B45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92608F-18E9-4410-854B-78BD6BE60450}"/>
              </a:ext>
            </a:extLst>
          </p:cNvPr>
          <p:cNvSpPr>
            <a:spLocks noGrp="1"/>
          </p:cNvSpPr>
          <p:nvPr/>
        </p:nvSpPr>
        <p:spPr>
          <a:xfrm>
            <a:off x="1457325" y="35718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衣服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D4BFE2-3EF4-4337-AADD-F273D94AE575}"/>
              </a:ext>
            </a:extLst>
          </p:cNvPr>
          <p:cNvSpPr>
            <a:spLocks noGrp="1"/>
          </p:cNvSpPr>
          <p:nvPr/>
        </p:nvSpPr>
        <p:spPr>
          <a:xfrm>
            <a:off x="3790950" y="3429000"/>
            <a:ext cx="1905000" cy="685800"/>
          </a:xfrm>
          <a:prstGeom prst="roundRect">
            <a:avLst>
              <a:gd name="adj" fmla="val 16667"/>
            </a:avLst>
          </a:prstGeom>
          <a:solidFill>
            <a:srgbClr val="202B45"/>
          </a:solidFill>
          <a:ln w="9525">
            <a:solidFill>
              <a:srgbClr val="A5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FB3D97-E96D-43ED-9548-E29BAF95A188}"/>
              </a:ext>
            </a:extLst>
          </p:cNvPr>
          <p:cNvSpPr>
            <a:spLocks noGrp="1"/>
          </p:cNvSpPr>
          <p:nvPr/>
        </p:nvSpPr>
        <p:spPr>
          <a:xfrm>
            <a:off x="3886200" y="35718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合身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AB12F45-1C95-492E-B0DA-706D8F2AF88D}"/>
              </a:ext>
            </a:extLst>
          </p:cNvPr>
          <p:cNvSpPr>
            <a:spLocks noGrp="1"/>
          </p:cNvSpPr>
          <p:nvPr/>
        </p:nvSpPr>
        <p:spPr>
          <a:xfrm>
            <a:off x="6219825" y="3429000"/>
            <a:ext cx="1905000" cy="685800"/>
          </a:xfrm>
          <a:prstGeom prst="roundRect">
            <a:avLst>
              <a:gd name="adj" fmla="val 16667"/>
            </a:avLst>
          </a:prstGeom>
          <a:solidFill>
            <a:srgbClr val="202B45"/>
          </a:solidFill>
          <a:ln w="9525">
            <a:solidFill>
              <a:srgbClr val="FFD2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E59B0-9019-4DC8-8BF5-FA975D24ADA4}"/>
              </a:ext>
            </a:extLst>
          </p:cNvPr>
          <p:cNvSpPr>
            <a:spLocks noGrp="1"/>
          </p:cNvSpPr>
          <p:nvPr/>
        </p:nvSpPr>
        <p:spPr>
          <a:xfrm>
            <a:off x="6315075" y="35718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D2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00" b="1">
                <a:solidFill>
                  <a:srgbClr val="FFD27A"/>
                </a:solidFill>
                <a:latin typeface="Hiragino Sans GB"/>
                <a:ea typeface="Hiragino Sans GB"/>
                <a:cs typeface="Hiragino Sans GB"/>
              </a:rPr>
              <a:t>颜色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6AE6963-C482-4FAE-A84C-46DE3FD8F0C0}"/>
              </a:ext>
            </a:extLst>
          </p:cNvPr>
          <p:cNvSpPr>
            <a:spLocks noGrp="1"/>
          </p:cNvSpPr>
          <p:nvPr/>
        </p:nvSpPr>
        <p:spPr>
          <a:xfrm>
            <a:off x="8648700" y="3429000"/>
            <a:ext cx="1905000" cy="685800"/>
          </a:xfrm>
          <a:prstGeom prst="roundRect">
            <a:avLst>
              <a:gd name="adj" fmla="val 16667"/>
            </a:avLst>
          </a:prstGeom>
          <a:solidFill>
            <a:srgbClr val="202B45"/>
          </a:solidFill>
          <a:ln w="9525">
            <a:solidFill>
              <a:srgbClr val="FF8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D4ED4F-FD3E-47E3-B50D-4E1E46F6CA53}"/>
              </a:ext>
            </a:extLst>
          </p:cNvPr>
          <p:cNvSpPr>
            <a:spLocks noGrp="1"/>
          </p:cNvSpPr>
          <p:nvPr/>
        </p:nvSpPr>
        <p:spPr>
          <a:xfrm>
            <a:off x="8743950" y="35718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889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00" b="1">
                <a:solidFill>
                  <a:srgbClr val="FF8890"/>
                </a:solidFill>
                <a:latin typeface="Hiragino Sans GB"/>
                <a:ea typeface="Hiragino Sans GB"/>
                <a:cs typeface="Hiragino Sans GB"/>
              </a:rPr>
              <a:t>不适合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1CCA07-33A5-443A-A341-6A7D525D4CC1}"/>
              </a:ext>
            </a:extLst>
          </p:cNvPr>
          <p:cNvSpPr>
            <a:spLocks noGrp="1"/>
          </p:cNvSpPr>
          <p:nvPr/>
        </p:nvSpPr>
        <p:spPr>
          <a:xfrm>
            <a:off x="1219200" y="4543425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7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7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判断“哪一点不适合”时，“颜色”和“不适合”的关系更关键。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672D1FB-39DB-4137-8142-FC2316CD2C39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DE4CBCD-C73B-4222-AC23-15CBC2ABB9FC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DD50AC-5CA2-484D-B375-6333DF7749B3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相关性由训练得到，不应简单理解为“离得近，权重就高”。</a:t>
            </a:r>
          </a:p>
        </p:txBody>
      </p:sp>
    </p:spTree>
    <p:extLst>
      <p:ext uri="{BB962C8B-B14F-4D97-AF65-F5344CB8AC3E}">
        <p14:creationId xmlns:p14="http://schemas.microsoft.com/office/powerpoint/2010/main" val="1552309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BA80417-C28A-4B7F-A281-E2D5CB8E43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679BAC-7F63-47B6-9B56-9280F22307AE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927707-0FF2-4F8C-B5BA-13D207FBAE81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序列模型的演进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AC4BB-3505-41C5-B87A-9E4525A70142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对比的是处理长序列与并行计算的方式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2240709-BC9B-4E73-A653-2A9A659E5CEE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19981-20CA-43E2-A9CE-E1D7957D3DDA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682737-C97F-444E-B3E0-CBB5E048279B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19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448A90-8F5D-429F-9E0C-0694200A88FD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86065E-38A9-469D-97CD-12F158EDCE64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7B8E63-FF2A-4ABA-BBA5-3B7196384806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RNN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0886C4-E7B3-410D-8B9F-D09BAF2D2682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逐步处理序列，长距离信息较难保留。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073EA9-6C87-4C76-B17A-55B1C1C9F5DF}"/>
              </a:ext>
            </a:extLst>
          </p:cNvPr>
          <p:cNvSpPr>
            <a:spLocks noGrp="1"/>
          </p:cNvSpPr>
          <p:nvPr/>
        </p:nvSpPr>
        <p:spPr>
          <a:xfrm>
            <a:off x="41179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C65AF4-004F-4616-9AB8-80930D7F9148}"/>
              </a:ext>
            </a:extLst>
          </p:cNvPr>
          <p:cNvSpPr>
            <a:spLocks noGrp="1"/>
          </p:cNvSpPr>
          <p:nvPr/>
        </p:nvSpPr>
        <p:spPr>
          <a:xfrm>
            <a:off x="43370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727E0-48FD-4C95-8612-405F412F1D0E}"/>
              </a:ext>
            </a:extLst>
          </p:cNvPr>
          <p:cNvSpPr>
            <a:spLocks noGrp="1"/>
          </p:cNvSpPr>
          <p:nvPr/>
        </p:nvSpPr>
        <p:spPr>
          <a:xfrm>
            <a:off x="45085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B4A2E-EAEE-4824-914D-9A059E595205}"/>
              </a:ext>
            </a:extLst>
          </p:cNvPr>
          <p:cNvSpPr>
            <a:spLocks noGrp="1"/>
          </p:cNvSpPr>
          <p:nvPr/>
        </p:nvSpPr>
        <p:spPr>
          <a:xfrm>
            <a:off x="45085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LSTM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526655-FFDE-4D7B-A183-251F13D285D3}"/>
              </a:ext>
            </a:extLst>
          </p:cNvPr>
          <p:cNvSpPr>
            <a:spLocks noGrp="1"/>
          </p:cNvSpPr>
          <p:nvPr/>
        </p:nvSpPr>
        <p:spPr>
          <a:xfrm>
            <a:off x="45085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通过门控改善长距离依赖，仍按时间步递推。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FD1791-7C7B-40C1-A54A-C6BFB67BDD76}"/>
              </a:ext>
            </a:extLst>
          </p:cNvPr>
          <p:cNvSpPr>
            <a:spLocks noGrp="1"/>
          </p:cNvSpPr>
          <p:nvPr/>
        </p:nvSpPr>
        <p:spPr>
          <a:xfrm>
            <a:off x="78263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0DB004-9F03-4F43-A180-B232E1AF1A95}"/>
              </a:ext>
            </a:extLst>
          </p:cNvPr>
          <p:cNvSpPr>
            <a:spLocks noGrp="1"/>
          </p:cNvSpPr>
          <p:nvPr/>
        </p:nvSpPr>
        <p:spPr>
          <a:xfrm>
            <a:off x="80454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05EBE4-BB37-44A6-AAF6-C235D29558C3}"/>
              </a:ext>
            </a:extLst>
          </p:cNvPr>
          <p:cNvSpPr>
            <a:spLocks noGrp="1"/>
          </p:cNvSpPr>
          <p:nvPr/>
        </p:nvSpPr>
        <p:spPr>
          <a:xfrm>
            <a:off x="82169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280BE6-2447-4CF8-900C-C5329CD924D4}"/>
              </a:ext>
            </a:extLst>
          </p:cNvPr>
          <p:cNvSpPr>
            <a:spLocks noGrp="1"/>
          </p:cNvSpPr>
          <p:nvPr/>
        </p:nvSpPr>
        <p:spPr>
          <a:xfrm>
            <a:off x="82169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Transformer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8E454F-D8B4-4045-8D9C-6FDA681257A2}"/>
              </a:ext>
            </a:extLst>
          </p:cNvPr>
          <p:cNvSpPr>
            <a:spLocks noGrp="1"/>
          </p:cNvSpPr>
          <p:nvPr/>
        </p:nvSpPr>
        <p:spPr>
          <a:xfrm>
            <a:off x="82169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用注意力联系不同位置，训练时更易并行。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AD9FD2-DCC9-4F97-A8E8-073FE34C6887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39F2223-08F3-4CE7-9C31-8A6558E064FA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3C41B9-D9E7-4057-BBCB-E9C4F4CA19C4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这是一条技术演进线，不代表后者在所有任务中都绝对更优。</a:t>
            </a:r>
          </a:p>
        </p:txBody>
      </p:sp>
    </p:spTree>
    <p:extLst>
      <p:ext uri="{BB962C8B-B14F-4D97-AF65-F5344CB8AC3E}">
        <p14:creationId xmlns:p14="http://schemas.microsoft.com/office/powerpoint/2010/main" val="903259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ECE93D5-5809-481D-A0E7-79D7ECB3BA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8F7BD2-FF52-44DF-8B4B-A93EFD0DB2B6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3D466-B4C4-4849-89A4-35A4CCAB035C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算力影响训练速度和实验空间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A252A-E4A2-4AF6-90ED-08D9F67DFADE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模型训练的工程问题不只有“买多少显卡”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4819B31-CF5D-44AB-B455-D81A19737E19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68741B-B129-4577-A5D8-26EB39880B9C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165D86-FB83-4804-ABDF-B3C0DECC974D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20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17B8E5-EC2A-4F00-85A2-A7CCE651CF55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8601B-A2B0-4474-A624-60D212B9D62F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训练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00F5E0-9109-470E-828D-9A632C8294D2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计算量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5E4AA7-7707-4830-83FA-8532842A45E0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参数、数据量、序列长度都会影响计算需求。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B822D7-015C-4A26-9582-7F2E9FF0E044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CF0D1B-C332-40A8-B627-1AA2300E9EC1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系统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308F0D-6F6D-4128-92C6-8E7602DAC56B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集群稳定性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20351A-638B-4FEB-8F8E-F34CDD546ED4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通信、故障恢复与吞吐量决定训练能否持续进行。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9C9F38-F36D-4C67-8A7C-0E9B3F8FDDBB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DB1942-BC87-4C42-9110-934A90BC5CC9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迭代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976B09-A4E9-4D32-B1D7-F589CB4E8BB3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实验成本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9ACC0B-3F1D-4F2E-8221-FC799AD56EEE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更快完成一次实验，才有机会比较更多方案。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109B44A-E061-44AD-BCF8-AB38B87A196E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825C0A0-3F77-4126-9520-4D0D146EEE0A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09CE80-6AAF-4A30-93F8-ACC12616755E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算力和算法、数据一起决定可执行的训练方案。</a:t>
            </a:r>
          </a:p>
        </p:txBody>
      </p:sp>
    </p:spTree>
    <p:extLst>
      <p:ext uri="{BB962C8B-B14F-4D97-AF65-F5344CB8AC3E}">
        <p14:creationId xmlns:p14="http://schemas.microsoft.com/office/powerpoint/2010/main" val="581981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B975067-821C-4A47-91C3-0E88586B7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9DB778-2C3A-47C1-B4EA-78BE628040C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A813D-7D92-459E-8B6E-259474CF5D21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预训练的核心练习：预测下一个 Token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7D48B-0A28-491F-9638-A8652AD46AAC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以自回归语言模型为例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B25836D-E770-493D-94AE-1076CD405D6D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CDB358-5063-4524-9C42-196FF5D80E99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9B920-EC84-40E2-9894-F267827CB6BB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21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F91EEC-3DBA-4EBD-BA8A-B3BD142DB499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10363200" cy="914400"/>
          </a:xfrm>
          <a:prstGeom prst="roundRect">
            <a:avLst>
              <a:gd name="adj" fmla="val 12500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6E1B6-BB84-4588-9D30-28D493F55062}"/>
              </a:ext>
            </a:extLst>
          </p:cNvPr>
          <p:cNvSpPr>
            <a:spLocks noGrp="1"/>
          </p:cNvSpPr>
          <p:nvPr/>
        </p:nvSpPr>
        <p:spPr>
          <a:xfrm>
            <a:off x="1200150" y="2276475"/>
            <a:ext cx="97917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3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3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“大语言模型正在改变我们的 ____ 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E03E8-69DE-4C10-A17E-3FBD15F632B2}"/>
              </a:ext>
            </a:extLst>
          </p:cNvPr>
          <p:cNvSpPr>
            <a:spLocks noGrp="1"/>
          </p:cNvSpPr>
          <p:nvPr/>
        </p:nvSpPr>
        <p:spPr>
          <a:xfrm>
            <a:off x="1666875" y="338137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生活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857687C-7407-4933-9418-D8E0420A2DF4}"/>
              </a:ext>
            </a:extLst>
          </p:cNvPr>
          <p:cNvSpPr>
            <a:spLocks noGrp="1"/>
          </p:cNvSpPr>
          <p:nvPr/>
        </p:nvSpPr>
        <p:spPr>
          <a:xfrm>
            <a:off x="3381375" y="3409950"/>
            <a:ext cx="7143750" cy="219075"/>
          </a:xfrm>
          <a:prstGeom prst="roundRect">
            <a:avLst>
              <a:gd name="adj" fmla="val 21739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FDD66C-36EC-4FC4-8326-5F5A157EEF26}"/>
              </a:ext>
            </a:extLst>
          </p:cNvPr>
          <p:cNvSpPr>
            <a:spLocks noGrp="1"/>
          </p:cNvSpPr>
          <p:nvPr/>
        </p:nvSpPr>
        <p:spPr>
          <a:xfrm>
            <a:off x="3381375" y="3409950"/>
            <a:ext cx="5429250" cy="219075"/>
          </a:xfrm>
          <a:prstGeom prst="roundRect">
            <a:avLst>
              <a:gd name="adj" fmla="val 21739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D0C04-DAC8-4663-A197-E275CA9EE297}"/>
              </a:ext>
            </a:extLst>
          </p:cNvPr>
          <p:cNvSpPr>
            <a:spLocks noGrp="1"/>
          </p:cNvSpPr>
          <p:nvPr/>
        </p:nvSpPr>
        <p:spPr>
          <a:xfrm>
            <a:off x="1666875" y="3981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生产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4E6876-5317-41C3-BF7D-EAA1209B1FAF}"/>
              </a:ext>
            </a:extLst>
          </p:cNvPr>
          <p:cNvSpPr>
            <a:spLocks noGrp="1"/>
          </p:cNvSpPr>
          <p:nvPr/>
        </p:nvSpPr>
        <p:spPr>
          <a:xfrm>
            <a:off x="3381375" y="4010025"/>
            <a:ext cx="7143750" cy="219075"/>
          </a:xfrm>
          <a:prstGeom prst="roundRect">
            <a:avLst>
              <a:gd name="adj" fmla="val 21739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C0433C-ED03-46DA-8098-17DCA09D677F}"/>
              </a:ext>
            </a:extLst>
          </p:cNvPr>
          <p:cNvSpPr>
            <a:spLocks noGrp="1"/>
          </p:cNvSpPr>
          <p:nvPr/>
        </p:nvSpPr>
        <p:spPr>
          <a:xfrm>
            <a:off x="3381375" y="4010025"/>
            <a:ext cx="3143250" cy="219075"/>
          </a:xfrm>
          <a:prstGeom prst="roundRect">
            <a:avLst>
              <a:gd name="adj" fmla="val 21739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122347-9E77-46E0-BCEE-6454BC856B45}"/>
              </a:ext>
            </a:extLst>
          </p:cNvPr>
          <p:cNvSpPr>
            <a:spLocks noGrp="1"/>
          </p:cNvSpPr>
          <p:nvPr/>
        </p:nvSpPr>
        <p:spPr>
          <a:xfrm>
            <a:off x="1666875" y="458152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世界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8D6D620-9039-4B1E-AAEF-12C83F583F87}"/>
              </a:ext>
            </a:extLst>
          </p:cNvPr>
          <p:cNvSpPr>
            <a:spLocks noGrp="1"/>
          </p:cNvSpPr>
          <p:nvPr/>
        </p:nvSpPr>
        <p:spPr>
          <a:xfrm>
            <a:off x="3381375" y="4610100"/>
            <a:ext cx="7143750" cy="219075"/>
          </a:xfrm>
          <a:prstGeom prst="roundRect">
            <a:avLst>
              <a:gd name="adj" fmla="val 21739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93B34B-96AD-4E8A-B821-42804DEE94C3}"/>
              </a:ext>
            </a:extLst>
          </p:cNvPr>
          <p:cNvSpPr>
            <a:spLocks noGrp="1"/>
          </p:cNvSpPr>
          <p:nvPr/>
        </p:nvSpPr>
        <p:spPr>
          <a:xfrm>
            <a:off x="3381375" y="4610100"/>
            <a:ext cx="1643063" cy="219075"/>
          </a:xfrm>
          <a:prstGeom prst="roundRect">
            <a:avLst>
              <a:gd name="adj" fmla="val 21739"/>
            </a:avLst>
          </a:prstGeom>
          <a:solidFill>
            <a:srgbClr val="FFD27A"/>
          </a:solidFill>
          <a:ln w="9525">
            <a:solidFill>
              <a:srgbClr val="FFD2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11B6CC-C15E-4490-8E21-B4B44053723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7F89BD-069D-4C15-BEB2-49DEE8923A4A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7FB181-7048-4BDC-A789-93A1ED3DCF14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这些条形只是概率示意；训练会反复比较预测与真实下一个 Token。</a:t>
            </a:r>
          </a:p>
        </p:txBody>
      </p:sp>
    </p:spTree>
    <p:extLst>
      <p:ext uri="{BB962C8B-B14F-4D97-AF65-F5344CB8AC3E}">
        <p14:creationId xmlns:p14="http://schemas.microsoft.com/office/powerpoint/2010/main" val="146937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0F58DA-14F2-42A6-AC8C-61BDF7398D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11DB07-5098-4C98-A7DD-00980EFCAA9D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2FC807-E8D8-4655-A571-9CA48AA431E0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预训练给知识，后训练改善交互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74249-1F31-4366-9BA9-ED6D8B1DF70E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同一个基座模型在不同训练阶段表现不同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BB2E5A5-3CC9-4B04-8518-E8968A171BBF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2072D3-4BFC-4A91-B9A9-9035AD4A7CA4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A873FB-1BAB-4427-A431-03B8A0FF9306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22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8778EA-6689-4873-BDE0-B648594E6B79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8D34E0-6EA3-4189-BD47-1591BCE020CF}"/>
              </a:ext>
            </a:extLst>
          </p:cNvPr>
          <p:cNvSpPr>
            <a:spLocks noGrp="1"/>
          </p:cNvSpPr>
          <p:nvPr/>
        </p:nvSpPr>
        <p:spPr>
          <a:xfrm>
            <a:off x="847725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预训练后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A14675-48F7-4971-83BD-6B318B7AF169}"/>
              </a:ext>
            </a:extLst>
          </p:cNvPr>
          <p:cNvSpPr>
            <a:spLocks noGrp="1"/>
          </p:cNvSpPr>
          <p:nvPr/>
        </p:nvSpPr>
        <p:spPr>
          <a:xfrm>
            <a:off x="847725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擅长续写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ECC901-9167-4EED-9F22-9C3375886326}"/>
              </a:ext>
            </a:extLst>
          </p:cNvPr>
          <p:cNvSpPr>
            <a:spLocks noGrp="1"/>
          </p:cNvSpPr>
          <p:nvPr/>
        </p:nvSpPr>
        <p:spPr>
          <a:xfrm>
            <a:off x="847725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学会了语言与知识模式，但未必能稳定遵循用户指令。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EE5046-7FBD-4107-B07E-81ABC6BAFEFF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C4B222-863E-40E9-825E-81132C183E89}"/>
              </a:ext>
            </a:extLst>
          </p:cNvPr>
          <p:cNvSpPr>
            <a:spLocks noGrp="1"/>
          </p:cNvSpPr>
          <p:nvPr/>
        </p:nvSpPr>
        <p:spPr>
          <a:xfrm>
            <a:off x="6553200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后训练后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90CB2-56C4-4D21-9D05-1241675CF7B0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更会回应任务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ADAE3F-EDCD-4874-99D2-78CB301F6735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通过示范和偏好数据，学会回答格式、边界与取舍。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0D94170-8273-4D6F-8496-6B1DD911DAF0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91B8D9-62FF-461D-8146-E2D260044BF3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EA3CB-3DFE-4A0F-9CBB-6C010E0EC2BB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后训练会改善行为，但不能保证每个回答都正确。</a:t>
            </a:r>
          </a:p>
        </p:txBody>
      </p:sp>
    </p:spTree>
    <p:extLst>
      <p:ext uri="{BB962C8B-B14F-4D97-AF65-F5344CB8AC3E}">
        <p14:creationId xmlns:p14="http://schemas.microsoft.com/office/powerpoint/2010/main" val="1363109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2350C2B-950D-4F32-B040-142066DB92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00200-4931-4479-96C9-87B298A1179F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6BA359-14BA-4649-90ED-12EAF113F8E5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后训练中，两类信号承担不同任务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B0898-6DF5-4709-8CE2-7C527179B5E6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示范告诉模型怎么做，偏好比较告诉模型哪个更好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4892CB0-EEAE-4257-A516-4B634D8C2FEC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4EEDF-0513-45CB-BEC4-169AD1ED83A8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6C981-1740-43B1-9A33-C26247029945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23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77FA76-5648-410B-8C91-4419A233CF25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AACCAE-5ED8-4EA5-95E6-C6B3983BF8AD}"/>
              </a:ext>
            </a:extLst>
          </p:cNvPr>
          <p:cNvSpPr>
            <a:spLocks noGrp="1"/>
          </p:cNvSpPr>
          <p:nvPr/>
        </p:nvSpPr>
        <p:spPr>
          <a:xfrm>
            <a:off x="847725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SFT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C2F91-E443-4DBF-ACB1-B0D284540DA2}"/>
              </a:ext>
            </a:extLst>
          </p:cNvPr>
          <p:cNvSpPr>
            <a:spLocks noGrp="1"/>
          </p:cNvSpPr>
          <p:nvPr/>
        </p:nvSpPr>
        <p:spPr>
          <a:xfrm>
            <a:off x="847725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学习示范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FFC354-ACD8-4128-A7DA-C19004A57FA9}"/>
              </a:ext>
            </a:extLst>
          </p:cNvPr>
          <p:cNvSpPr>
            <a:spLocks noGrp="1"/>
          </p:cNvSpPr>
          <p:nvPr/>
        </p:nvSpPr>
        <p:spPr>
          <a:xfrm>
            <a:off x="847725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给定输入和理想回答，让模型模仿任务格式与解题轨迹。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B445C3-375C-4091-A1E1-716C9F659E8F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D0181E-83F5-4062-A3FD-778D0DDB9C66}"/>
              </a:ext>
            </a:extLst>
          </p:cNvPr>
          <p:cNvSpPr>
            <a:spLocks noGrp="1"/>
          </p:cNvSpPr>
          <p:nvPr/>
        </p:nvSpPr>
        <p:spPr>
          <a:xfrm>
            <a:off x="6553200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偏好优化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4E4F7-791C-49BB-B582-BFA558E9780C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比较候选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C5C102-7B48-4498-B570-DBEA5F5C7013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比较多个候选回答，调整模型更偏向高质量输出。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72C0BF6-1030-48E2-A501-96C8EB6D11DF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9AD778B-DD50-4B38-8699-2B4A201F2D35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79B770-9ADA-4AF7-9685-10C7D0CEA467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实际训练流程会因模型、任务和方法而变化。</a:t>
            </a:r>
          </a:p>
        </p:txBody>
      </p:sp>
    </p:spTree>
    <p:extLst>
      <p:ext uri="{BB962C8B-B14F-4D97-AF65-F5344CB8AC3E}">
        <p14:creationId xmlns:p14="http://schemas.microsoft.com/office/powerpoint/2010/main" val="1533380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1A68D07-A47C-48C5-82FB-831604D810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C2BBD-A0A6-4DF4-9FAB-DE5B01DC072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87712-C7E3-4663-A0C4-28AE01890A57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SFT 可以教会模型哪些行为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615527-9B8A-46AB-936E-B012308A1842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每个样本包含任务输入与期望输出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ED64795-AE47-46EF-91DE-31224C83BCFA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007D2-45E8-404B-A944-AFDCC9D951F9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88C0F-6A2F-43D9-BC7E-687BD9306423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24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1DB4A9-9735-45A9-873A-3C3BE4C8433C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856C9D-A5D5-4D23-9AB9-CD5B5A767E69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指令遵循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9DB0C-B9E1-4FB0-88B1-311F400133BC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按要求回答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3067D-09D1-424E-A024-5167EC156DE7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例如按照给定格式写邮件、提取字段或生成代码。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66D446-3E71-4FB7-88AD-9BF29D59738C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4F3C0-C13F-44FF-9E02-DB2BCADBBE41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推理示范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348A8D-5771-4ABE-8223-55363886F76B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展示过程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009730-5BFC-4639-A634-5F00E8ECDFE7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适合需要分步骤求解的任务；示范也要检查正确性。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EB2C6C-D8F6-450B-874C-F98ECF47C58B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066643-19AE-4F2F-B7E2-9EBB51608493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安全边界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4D68A6-29AE-48CF-B7C4-BA2074E29F43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合适地拒答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3EA0D5-A79A-4F1D-91FC-F0084842D5ED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识别不应执行的请求，并给出安全回应。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BCF7F92-F476-45BB-A205-C6C3B20B36EF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79DBDE8-4A7A-48AA-8DF7-6759C31EE692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2DAE3B-83E8-45AB-A01C-2B1D23A3EE45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SFT 复制样本中的行为，样本质量决定它学到什么。</a:t>
            </a:r>
          </a:p>
        </p:txBody>
      </p:sp>
    </p:spTree>
    <p:extLst>
      <p:ext uri="{BB962C8B-B14F-4D97-AF65-F5344CB8AC3E}">
        <p14:creationId xmlns:p14="http://schemas.microsoft.com/office/powerpoint/2010/main" val="1065790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BE7BB8B-F32D-4744-B940-88F79F6E7A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FBA034-0F8B-49D9-B4E4-DF1EFA9FEECB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9EC72-181B-4D47-936E-DE64982698E0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ReAct：让推理与行动交替进行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53B36-453A-4310-8ED8-095C3B5605E9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工具调用任务可以把过程记录成可学习的轨迹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7E26A59-2EDE-497C-871C-D396B1420317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5D39E-B059-4E5C-A07B-8601405B9B59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112FD-2928-454A-B04F-AD92348C2191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25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48151F-3559-436A-8FE9-69C737E12763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A9E677-5633-46DD-9FF6-198600BF42B9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73B67-C11F-41DB-BD6D-99AED42DFD03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思考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1F73E1-4BE2-473C-BC32-7A5B8A206680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明确当前问题与下一步需要的信息。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163A2-5D45-49FC-B4F7-EC872B80BDE1}"/>
              </a:ext>
            </a:extLst>
          </p:cNvPr>
          <p:cNvSpPr>
            <a:spLocks noGrp="1"/>
          </p:cNvSpPr>
          <p:nvPr/>
        </p:nvSpPr>
        <p:spPr>
          <a:xfrm>
            <a:off x="41179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EF3162-1BB9-43F2-B818-CD5601D13A59}"/>
              </a:ext>
            </a:extLst>
          </p:cNvPr>
          <p:cNvSpPr>
            <a:spLocks noGrp="1"/>
          </p:cNvSpPr>
          <p:nvPr/>
        </p:nvSpPr>
        <p:spPr>
          <a:xfrm>
            <a:off x="43370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CA3700-D010-4522-BFF5-7407618464DD}"/>
              </a:ext>
            </a:extLst>
          </p:cNvPr>
          <p:cNvSpPr>
            <a:spLocks noGrp="1"/>
          </p:cNvSpPr>
          <p:nvPr/>
        </p:nvSpPr>
        <p:spPr>
          <a:xfrm>
            <a:off x="45085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5A7EE6-2950-4D2F-8E15-81347A578003}"/>
              </a:ext>
            </a:extLst>
          </p:cNvPr>
          <p:cNvSpPr>
            <a:spLocks noGrp="1"/>
          </p:cNvSpPr>
          <p:nvPr/>
        </p:nvSpPr>
        <p:spPr>
          <a:xfrm>
            <a:off x="45085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行动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32E29B-C577-470A-8269-FAF0DF1A0474}"/>
              </a:ext>
            </a:extLst>
          </p:cNvPr>
          <p:cNvSpPr>
            <a:spLocks noGrp="1"/>
          </p:cNvSpPr>
          <p:nvPr/>
        </p:nvSpPr>
        <p:spPr>
          <a:xfrm>
            <a:off x="45085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调用搜索、数据库或其他授权工具。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09BDAC-C408-460A-918E-1E43342C04F0}"/>
              </a:ext>
            </a:extLst>
          </p:cNvPr>
          <p:cNvSpPr>
            <a:spLocks noGrp="1"/>
          </p:cNvSpPr>
          <p:nvPr/>
        </p:nvSpPr>
        <p:spPr>
          <a:xfrm>
            <a:off x="78263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782B1EC-7D05-4F2A-806F-10BBF2A13954}"/>
              </a:ext>
            </a:extLst>
          </p:cNvPr>
          <p:cNvSpPr>
            <a:spLocks noGrp="1"/>
          </p:cNvSpPr>
          <p:nvPr/>
        </p:nvSpPr>
        <p:spPr>
          <a:xfrm>
            <a:off x="80454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4C97D4-BEE4-49E6-B682-F23B1793E5AA}"/>
              </a:ext>
            </a:extLst>
          </p:cNvPr>
          <p:cNvSpPr>
            <a:spLocks noGrp="1"/>
          </p:cNvSpPr>
          <p:nvPr/>
        </p:nvSpPr>
        <p:spPr>
          <a:xfrm>
            <a:off x="82169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7003A-1CA4-4639-9B3B-D89C16D1BBE0}"/>
              </a:ext>
            </a:extLst>
          </p:cNvPr>
          <p:cNvSpPr>
            <a:spLocks noGrp="1"/>
          </p:cNvSpPr>
          <p:nvPr/>
        </p:nvSpPr>
        <p:spPr>
          <a:xfrm>
            <a:off x="82169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观察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BB9EC6-E041-4F70-9D3D-926E643EB321}"/>
              </a:ext>
            </a:extLst>
          </p:cNvPr>
          <p:cNvSpPr>
            <a:spLocks noGrp="1"/>
          </p:cNvSpPr>
          <p:nvPr/>
        </p:nvSpPr>
        <p:spPr>
          <a:xfrm>
            <a:off x="82169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读取工具结果，更新判断并决定是否继续。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9690909-0571-4C4E-BE15-FF033214675B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01F4655-F451-4C6E-95B2-A58D77AD503D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BA5451-8B52-4C1E-83C2-6DB59D940E2F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轨迹质量要靠任务结果和工具证据检验。</a:t>
            </a:r>
          </a:p>
        </p:txBody>
      </p:sp>
    </p:spTree>
    <p:extLst>
      <p:ext uri="{BB962C8B-B14F-4D97-AF65-F5344CB8AC3E}">
        <p14:creationId xmlns:p14="http://schemas.microsoft.com/office/powerpoint/2010/main" val="1954011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53A79B3-61F8-4BC4-AEA3-D087779895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F47E8-42BD-47D7-A554-D497BFB8E518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3FE11-8DD0-4D66-B8BD-968EC1410220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偏好信号可以来自不同渠道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795DC-F1C7-4189-B98E-1CECCA256376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先区分“反馈从哪来”和“用什么算法优化”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D1C1050-41CB-4E56-88F8-D187995F2EF6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127ED-483B-4D95-A498-D071544E3D38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43614-806B-456E-B5EF-DA0780A2D089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26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9D6285-4BA5-4242-9504-1DA5FEE9F4B0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CE92A3-589F-4FBA-961A-1E92B7CCE1DC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人类比较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C0C8E-79F4-4D65-B212-5473ABC33019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RLHF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427A8D-2767-47BA-B145-3BE0C61F506D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人对候选答案排序；可用于训练奖励模型。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C0D5B95-2610-4285-B895-18EE9F1B7CE1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DDF454-0159-4AD3-90E2-8B83BE217D09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模型反馈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577ABE-8FBF-43C1-80F3-807950A50E5F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RLAIF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4DE469-1211-454B-BDD2-57B27B815089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让模型依据准则评价候选，但要检查准则与偏差。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E09881-168D-4DFF-83EA-C668F6BBB160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9CD9D7-7172-4FFF-865E-FB46007C81E0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可验证任务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066AC6-087E-4580-A830-74C897329678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规则奖励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2AB39A-9CB2-4E6D-876A-9A4E1148D6E1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代码测试和数学答案可提供自动判定信号。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F230163-714F-49BD-A91B-8ABD4876952B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8119759-5EF9-427C-85B6-0E15BE8D202A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7EACE3-3F9D-489C-8126-DECA82F35607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DPO 是直接利用偏好对的优化方法，不应归类为强化学习。</a:t>
            </a:r>
          </a:p>
        </p:txBody>
      </p:sp>
    </p:spTree>
    <p:extLst>
      <p:ext uri="{BB962C8B-B14F-4D97-AF65-F5344CB8AC3E}">
        <p14:creationId xmlns:p14="http://schemas.microsoft.com/office/powerpoint/2010/main" val="334326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C52E6BB-E71C-4202-95F9-5B4D3D7B20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5CE52-A8D4-413B-B4E6-2F47741B46C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6816AD-0CAD-4BDA-9837-E07E1755F4CE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偏好训练要看效果，也要看副作用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17347-F701-46BA-AAF4-41A2A1BD6028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减少冗余思考只有在任务表现保持稳定时才有意义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549D9F0-39D2-4C31-A04C-6C6A1DB34FFD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F28A5-6B17-48A5-87B6-4AA28311F541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B324A9-FA72-48A5-BB70-344A3EB32E04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27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784171-8E30-4E8D-9F1F-17F1824B4F36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CE0BE-FBCF-42C2-9BB6-D716E6077D4B}"/>
              </a:ext>
            </a:extLst>
          </p:cNvPr>
          <p:cNvSpPr>
            <a:spLocks noGrp="1"/>
          </p:cNvSpPr>
          <p:nvPr/>
        </p:nvSpPr>
        <p:spPr>
          <a:xfrm>
            <a:off x="847725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要测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A34F9-E4EA-435F-94C9-619D8379BF1F}"/>
              </a:ext>
            </a:extLst>
          </p:cNvPr>
          <p:cNvSpPr>
            <a:spLocks noGrp="1"/>
          </p:cNvSpPr>
          <p:nvPr/>
        </p:nvSpPr>
        <p:spPr>
          <a:xfrm>
            <a:off x="847725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任务质量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30670-46BB-4E3E-A663-0FAADB15F814}"/>
              </a:ext>
            </a:extLst>
          </p:cNvPr>
          <p:cNvSpPr>
            <a:spLocks noGrp="1"/>
          </p:cNvSpPr>
          <p:nvPr/>
        </p:nvSpPr>
        <p:spPr>
          <a:xfrm>
            <a:off x="847725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正确率、工具调用成功率与边界任务表现。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EE8114C-CB8B-42D7-B917-F16E642BE9B6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675F5C-7F2F-4A75-8F6C-E42235DCB2C2}"/>
              </a:ext>
            </a:extLst>
          </p:cNvPr>
          <p:cNvSpPr>
            <a:spLocks noGrp="1"/>
          </p:cNvSpPr>
          <p:nvPr/>
        </p:nvSpPr>
        <p:spPr>
          <a:xfrm>
            <a:off x="6553200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FFD2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FFD27A"/>
                </a:solidFill>
                <a:latin typeface="Hiragino Sans GB"/>
                <a:ea typeface="Hiragino Sans GB"/>
                <a:cs typeface="Hiragino Sans GB"/>
              </a:rPr>
              <a:t>也要测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05182B-265A-4604-9382-5618CE0337D0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成本与稳定性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F5F0E-D96F-43CA-B337-A838691EF956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输出 Token、时延、拒答率与回归问题。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6A1BA3-8F11-4779-AF52-D57508B9CCE2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9C8D893-BA48-4639-98D6-2E81CA8E4042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7BDB12-55F7-41D3-9B5F-FA73B2508FEB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小样本案例可以启发方法，不能代替自己任务上的评测。</a:t>
            </a:r>
          </a:p>
        </p:txBody>
      </p:sp>
    </p:spTree>
    <p:extLst>
      <p:ext uri="{BB962C8B-B14F-4D97-AF65-F5344CB8AC3E}">
        <p14:creationId xmlns:p14="http://schemas.microsoft.com/office/powerpoint/2010/main" val="1391764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F06006C-9A01-4120-8627-5415ADDE43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63F01A-C725-4D6D-B495-86640B9DBB8C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  /  智能从何而来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D298C-E8C8-44B5-B59E-76359B8754B9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模型能力形成的三段分工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C501ED-9ECE-4B4D-8500-D19C27F6B357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训练阶段分别解决不同问题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B298F15-45DB-4CBD-AB3A-94188E8BD895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9A376-D347-4A0C-B943-8AD65D9F6F6E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6CBC5-D5A7-4CFE-ACE3-D827A219E445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28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A071535-A9FE-4F7B-B532-8BED11D92EFD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B05BF1-5736-4A88-BAAC-A69BCB680757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CD3FA-5D85-4387-B895-9EAC9136D4C0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预训练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EA7C6-E49D-4170-AB5E-68AE35CF06E9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从大规模数据中学习语言、知识和模式。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C776EE-FE25-410B-BB98-D3BD4BEA3542}"/>
              </a:ext>
            </a:extLst>
          </p:cNvPr>
          <p:cNvSpPr>
            <a:spLocks noGrp="1"/>
          </p:cNvSpPr>
          <p:nvPr/>
        </p:nvSpPr>
        <p:spPr>
          <a:xfrm>
            <a:off x="41179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CBB499-42EF-44DF-A0F9-0693FE545A83}"/>
              </a:ext>
            </a:extLst>
          </p:cNvPr>
          <p:cNvSpPr>
            <a:spLocks noGrp="1"/>
          </p:cNvSpPr>
          <p:nvPr/>
        </p:nvSpPr>
        <p:spPr>
          <a:xfrm>
            <a:off x="43370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1949B-859D-4DFC-91A1-245667E12B9B}"/>
              </a:ext>
            </a:extLst>
          </p:cNvPr>
          <p:cNvSpPr>
            <a:spLocks noGrp="1"/>
          </p:cNvSpPr>
          <p:nvPr/>
        </p:nvSpPr>
        <p:spPr>
          <a:xfrm>
            <a:off x="45085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82E46F-9D17-406D-A301-D68B490855E7}"/>
              </a:ext>
            </a:extLst>
          </p:cNvPr>
          <p:cNvSpPr>
            <a:spLocks noGrp="1"/>
          </p:cNvSpPr>
          <p:nvPr/>
        </p:nvSpPr>
        <p:spPr>
          <a:xfrm>
            <a:off x="45085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SFT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96FEDD-753A-43C0-B4C2-BB73BE4C6808}"/>
              </a:ext>
            </a:extLst>
          </p:cNvPr>
          <p:cNvSpPr>
            <a:spLocks noGrp="1"/>
          </p:cNvSpPr>
          <p:nvPr/>
        </p:nvSpPr>
        <p:spPr>
          <a:xfrm>
            <a:off x="45085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通过示范学习按任务要求组织回答。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D3550F-9C36-4454-99CD-7C1761C24153}"/>
              </a:ext>
            </a:extLst>
          </p:cNvPr>
          <p:cNvSpPr>
            <a:spLocks noGrp="1"/>
          </p:cNvSpPr>
          <p:nvPr/>
        </p:nvSpPr>
        <p:spPr>
          <a:xfrm>
            <a:off x="78263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B5657A-C068-433B-8D7B-2359E5081BC3}"/>
              </a:ext>
            </a:extLst>
          </p:cNvPr>
          <p:cNvSpPr>
            <a:spLocks noGrp="1"/>
          </p:cNvSpPr>
          <p:nvPr/>
        </p:nvSpPr>
        <p:spPr>
          <a:xfrm>
            <a:off x="80454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A567A3-70EE-443A-A9B8-AC166579ED6C}"/>
              </a:ext>
            </a:extLst>
          </p:cNvPr>
          <p:cNvSpPr>
            <a:spLocks noGrp="1"/>
          </p:cNvSpPr>
          <p:nvPr/>
        </p:nvSpPr>
        <p:spPr>
          <a:xfrm>
            <a:off x="82169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13F95-5F02-4795-8948-74E5252295FB}"/>
              </a:ext>
            </a:extLst>
          </p:cNvPr>
          <p:cNvSpPr>
            <a:spLocks noGrp="1"/>
          </p:cNvSpPr>
          <p:nvPr/>
        </p:nvSpPr>
        <p:spPr>
          <a:xfrm>
            <a:off x="82169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偏好优化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053DF9-D048-4F20-BBF8-D075F3EB8264}"/>
              </a:ext>
            </a:extLst>
          </p:cNvPr>
          <p:cNvSpPr>
            <a:spLocks noGrp="1"/>
          </p:cNvSpPr>
          <p:nvPr/>
        </p:nvSpPr>
        <p:spPr>
          <a:xfrm>
            <a:off x="82169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比较候选输出，调整质量和行为取向。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1759B88-E95D-4E20-A01A-12B1731BB5D5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2EAF980-19CD-4886-9448-BF39594CC41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567DC9-A916-4133-A6BF-BF4AD78D7442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项目里选模型，需要同时看它的能力、行为与运行成本。</a:t>
            </a:r>
          </a:p>
        </p:txBody>
      </p:sp>
    </p:spTree>
    <p:extLst>
      <p:ext uri="{BB962C8B-B14F-4D97-AF65-F5344CB8AC3E}">
        <p14:creationId xmlns:p14="http://schemas.microsoft.com/office/powerpoint/2010/main" val="1316748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C332305-FB25-450E-89DE-F6C77D07C1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63128F-C57A-4BEA-9AFE-20E65E2238B1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  /  怎么选对模型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D1080-7F09-4EE0-9E49-C28B9BD09B37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怎么选对模型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A5D32B-F6CE-43DE-8E38-BE4C90E885F0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把指标、成本和部署条件一起放进决策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148A867-ABF6-4FAC-95D7-0BCD633B656D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9B4D63-7F69-40CD-BE9A-45943639DDC7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D15A6E-A23B-464C-BD6D-56177CFE4959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29 / 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555E2-74F6-4F72-954F-B818D49A1A20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952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8FA3A4B-BD2D-486E-9CCF-5735CD0F2200}"/>
              </a:ext>
            </a:extLst>
          </p:cNvPr>
          <p:cNvSpPr>
            <a:spLocks noGrp="1"/>
          </p:cNvSpPr>
          <p:nvPr/>
        </p:nvSpPr>
        <p:spPr>
          <a:xfrm>
            <a:off x="3810000" y="2476500"/>
            <a:ext cx="0" cy="1943100"/>
          </a:xfrm>
          <a:prstGeom prst="line">
            <a:avLst/>
          </a:prstGeom>
          <a:noFill/>
          <a:ln w="2857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4B374-8C84-4B4C-8E20-5446CD001CD6}"/>
              </a:ext>
            </a:extLst>
          </p:cNvPr>
          <p:cNvSpPr>
            <a:spLocks noGrp="1"/>
          </p:cNvSpPr>
          <p:nvPr/>
        </p:nvSpPr>
        <p:spPr>
          <a:xfrm>
            <a:off x="4162425" y="2514600"/>
            <a:ext cx="69532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任务指标  ·  性能体检  ·  部署约束</a:t>
            </a:r>
          </a:p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成本  ·  速度  ·  质量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3436D-D62C-41D7-8A10-352EC506C191}"/>
              </a:ext>
            </a:extLst>
          </p:cNvPr>
          <p:cNvSpPr>
            <a:spLocks noGrp="1"/>
          </p:cNvSpPr>
          <p:nvPr/>
        </p:nvSpPr>
        <p:spPr>
          <a:xfrm>
            <a:off x="4162425" y="4381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本章的问题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253E47-E058-4D78-B752-37135FD7E970}"/>
              </a:ext>
            </a:extLst>
          </p:cNvPr>
          <p:cNvSpPr>
            <a:spLocks noGrp="1"/>
          </p:cNvSpPr>
          <p:nvPr/>
        </p:nvSpPr>
        <p:spPr>
          <a:xfrm>
            <a:off x="4162425" y="4743450"/>
            <a:ext cx="6667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指标、成本、部署如何一起决定选型？</a:t>
            </a:r>
          </a:p>
        </p:txBody>
      </p:sp>
    </p:spTree>
    <p:extLst>
      <p:ext uri="{BB962C8B-B14F-4D97-AF65-F5344CB8AC3E}">
        <p14:creationId xmlns:p14="http://schemas.microsoft.com/office/powerpoint/2010/main" val="1753392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模型体检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先看三个指标：它会推理、懂常识、会写代码吗？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指标不是炫技，是判断模型能不能干活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1828800"/>
            <a:ext cx="3337560" cy="1170432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2066543"/>
            <a:ext cx="1188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2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GPQA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487168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看复杂推理和专业知识。适合判断：难题能不能想明白。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828800"/>
            <a:ext cx="3337560" cy="1170432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66543"/>
            <a:ext cx="1188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2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MMLU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487168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看通识覆盖和知识广度。适合判断：基础面够不够宽。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337560" cy="1170432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94192" y="2066543"/>
            <a:ext cx="1188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2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LCB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487168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看实时编程与代码能力。适合判断：能不能真的写项目。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160520"/>
            <a:ext cx="10149840" cy="1115568"/>
          </a:xfrm>
          <a:prstGeom prst="roundRect">
            <a:avLst/>
          </a:prstGeom>
          <a:solidFill>
            <a:srgbClr val="202748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61872" y="4443984"/>
            <a:ext cx="91440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怎么用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37083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00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先匹配任务类型，再看对应指标；不要只看一个总分。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00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做学生项目时，代码类优先看 LCB；复杂推理再看 GPQA；通识问答再看 MMLU。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640080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注：具体榜单与分数会变化，正式发布版需要联网核实来源。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模型体检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一次蒸馏前后，要看能力、大小和损失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模型迭代不是讲故事，而是拿体检单说话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1920240"/>
            <a:ext cx="2084831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2212848"/>
            <a:ext cx="137160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原版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651760"/>
            <a:ext cx="16002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基线能力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44368" y="2532888"/>
            <a:ext cx="557784" cy="0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11880" y="1920240"/>
            <a:ext cx="2084831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76472" y="2212848"/>
            <a:ext cx="137160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SFT 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651760"/>
            <a:ext cx="16002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行为轨迹更顺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33288" y="2532888"/>
            <a:ext cx="557784" cy="0"/>
          </a:xfrm>
          <a:prstGeom prst="line">
            <a:avLst/>
          </a:prstGeom>
          <a:ln w="1905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1920240"/>
            <a:ext cx="2084831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5392" y="2212848"/>
            <a:ext cx="137160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RL 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651760"/>
            <a:ext cx="16002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偏好选择更稳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22208" y="2532888"/>
            <a:ext cx="557784" cy="0"/>
          </a:xfrm>
          <a:prstGeom prst="line">
            <a:avLst/>
          </a:prstGeom>
          <a:ln w="19050">
            <a:solidFill>
              <a:srgbClr val="FDBA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1920240"/>
            <a:ext cx="2084831" cy="1234440"/>
          </a:xfrm>
          <a:prstGeom prst="roundRect">
            <a:avLst/>
          </a:prstGeom>
          <a:solidFill>
            <a:srgbClr val="171D33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54312" y="2212848"/>
            <a:ext cx="137160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FDBA74"/>
                </a:solidFill>
                <a:latin typeface="Hiragino Sans GB"/>
                <a:ea typeface="Hiragino Sans GB"/>
                <a:cs typeface="Hiragino Sans GB"/>
              </a:rPr>
              <a:t>量化后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651760"/>
            <a:ext cx="160020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体积更小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977639"/>
            <a:ext cx="10149840" cy="1280160"/>
          </a:xfrm>
          <a:prstGeom prst="roundRect">
            <a:avLst/>
          </a:prstGeom>
          <a:solidFill>
            <a:srgbClr val="202748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" y="4251960"/>
            <a:ext cx="2194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体检单要同时看三列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24528"/>
            <a:ext cx="6675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2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能力：分数有没有提升；大小：能不能跑在你的机器上；损失：量化后跌多少，能不能接受。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70448"/>
            <a:ext cx="58521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这一页保留为案例框架；具体 Hugging Face 数据后续补来源。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速度 x 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选模型，本质是在能力、速度、成本之间取舍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先找甜点区，不要一上来就追最大模型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5166360"/>
            <a:ext cx="7223760" cy="0"/>
          </a:xfrm>
          <a:prstGeom prst="line">
            <a:avLst/>
          </a:prstGeom>
          <a:ln w="1778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28800" y="1828800"/>
            <a:ext cx="0" cy="3337560"/>
          </a:xfrm>
          <a:prstGeom prst="line">
            <a:avLst/>
          </a:prstGeom>
          <a:ln w="1778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80" y="5330952"/>
            <a:ext cx="11887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速度更快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1737360"/>
            <a:ext cx="109728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成本/能力更高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2011680"/>
            <a:ext cx="3063240" cy="1298448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532120" y="2011680"/>
            <a:ext cx="3063240" cy="1298448"/>
          </a:xfrm>
          <a:prstGeom prst="roundRect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57400" y="3566160"/>
            <a:ext cx="3063240" cy="1298448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32120" y="3566160"/>
            <a:ext cx="3063240" cy="1298448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77440" y="2432304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500" b="1">
                <a:solidFill>
                  <a:srgbClr val="FB7185"/>
                </a:solidFill>
                <a:latin typeface="Hiragino Sans GB"/>
                <a:ea typeface="Hiragino Sans GB"/>
                <a:cs typeface="Hiragino Sans GB"/>
              </a:rPr>
              <a:t>慢 · 贵</a:t>
            </a:r>
          </a:p>
          <a:p>
            <a:pPr algn="ctr"/>
            <a:r>
              <a:rPr lang="zh-CN" sz="1500" b="1">
                <a:solidFill>
                  <a:srgbClr val="FB7185"/>
                </a:solidFill>
                <a:latin typeface="Hiragino Sans GB"/>
                <a:ea typeface="Hiragino Sans GB"/>
                <a:cs typeface="Hiragino Sans GB"/>
              </a:rPr>
              <a:t>天花板模型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432304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5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快 · 贵</a:t>
            </a:r>
          </a:p>
          <a:p>
            <a:pPr algn="ctr"/>
            <a:r>
              <a:rPr lang="zh-CN" sz="15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高并发/高优化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977639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5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慢 · 便宜</a:t>
            </a:r>
          </a:p>
          <a:p>
            <a:pPr algn="ctr"/>
            <a:r>
              <a:rPr lang="zh-CN" sz="15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可用但不主流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977639"/>
            <a:ext cx="23317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5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快 · 便宜</a:t>
            </a:r>
          </a:p>
          <a:p>
            <a:pPr algn="ctr"/>
            <a:r>
              <a:rPr lang="zh-CN" sz="15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日常 Agent 甜点区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267712"/>
            <a:ext cx="2103120" cy="224028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26880" y="2212848"/>
            <a:ext cx="2103120" cy="224028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528048" y="2450591"/>
            <a:ext cx="109728" cy="10972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29215" y="2414016"/>
            <a:ext cx="15179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讲给学生的一句话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871215"/>
            <a:ext cx="1691639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能完成任务、速度够用、成本扛得住，这三个条件同时成立，才是好选择。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端侧 vs 云端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从部署位置看：本地、省钱、隐私，云端、强力、弹性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现场反馈重点：token 紧张、long loop、本地命令执行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4297680"/>
            <a:ext cx="6675120" cy="786384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462272"/>
            <a:ext cx="14630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3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端侧 / 本地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425696"/>
            <a:ext cx="42519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低成本、隐私更好、适合长循环</a:t>
            </a:r>
          </a:p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限制：能力上限和显存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246120"/>
            <a:ext cx="6675120" cy="786384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5960" y="3410712"/>
            <a:ext cx="14630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3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个人云机器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3374136"/>
            <a:ext cx="42519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比本地更稳，适合挂机任务</a:t>
            </a:r>
          </a:p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限制：需要维护环境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194560"/>
            <a:ext cx="6675120" cy="786384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88920" y="2359152"/>
            <a:ext cx="14630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3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云端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22576"/>
            <a:ext cx="42519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强模型、免部署、弹性高</a:t>
            </a:r>
          </a:p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限制：成本、速率、合规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143000"/>
            <a:ext cx="6675120" cy="786384"/>
          </a:xfrm>
          <a:prstGeom prst="roundRect">
            <a:avLst/>
          </a:prstGeom>
          <a:solidFill>
            <a:srgbClr val="171D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1880" y="1307592"/>
            <a:ext cx="14630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300" b="1">
                <a:solidFill>
                  <a:srgbClr val="8B5CF6"/>
                </a:solidFill>
                <a:latin typeface="Hiragino Sans GB"/>
                <a:ea typeface="Hiragino Sans GB"/>
                <a:cs typeface="Hiragino Sans GB"/>
              </a:rPr>
              <a:t>SOTA 前沿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271016"/>
            <a:ext cx="425196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复杂推理和关键节点兜底</a:t>
            </a:r>
          </a:p>
          <a:p>
            <a:r>
              <a:rPr lang="zh-CN" sz="85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限制：慢、贵、不可控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828800"/>
            <a:ext cx="2011680" cy="2971800"/>
          </a:xfrm>
          <a:prstGeom prst="roundRect">
            <a:avLst/>
          </a:prstGeom>
          <a:solidFill>
            <a:srgbClr val="202748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0" y="2121408"/>
            <a:ext cx="128016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典型场景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2651760"/>
            <a:ext cx="1417320" cy="1188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19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本地模型：网页访问、文件整理、本地命令。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19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云端模型：复杂推理、关键判断、最终审稿。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19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混合使用：低成本跑 long loop，高能力做关口。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速度由什么决定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同一个任务跑得快不快，取决于四层因素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把不可变和可优化分开看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1719072"/>
            <a:ext cx="24688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600" b="1">
                <a:solidFill>
                  <a:srgbClr val="FB7185"/>
                </a:solidFill>
                <a:latin typeface="Hiragino Sans GB"/>
                <a:ea typeface="Hiragino Sans GB"/>
                <a:cs typeface="Hiragino Sans GB"/>
              </a:rPr>
              <a:t>出厂后基本不可变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24688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6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部署时还能优化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295144"/>
            <a:ext cx="3840480" cy="105156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0120" y="2240280"/>
            <a:ext cx="3840480" cy="105156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61288" y="2441448"/>
            <a:ext cx="310896" cy="310896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61288" y="251002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2441448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训练总参数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2898648"/>
            <a:ext cx="3429000" cy="274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基座越大，加载越重。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712463"/>
            <a:ext cx="3840480" cy="105156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120" y="3657600"/>
            <a:ext cx="3840480" cy="105156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61288" y="3858768"/>
            <a:ext cx="310896" cy="310896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61288" y="392734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3858768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Dense / MoE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4315968"/>
            <a:ext cx="3429000" cy="274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Dense 全读；MoE 只激活部分专家。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2295144"/>
            <a:ext cx="3840480" cy="105156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29400" y="2240280"/>
            <a:ext cx="3840480" cy="105156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830568" y="2441448"/>
            <a:ext cx="310896" cy="310896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30568" y="251002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441448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量化格式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6" y="2898648"/>
            <a:ext cx="3429000" cy="274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BF16 -&gt; INT8/Q4，体积和显存下降。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712463"/>
            <a:ext cx="3840480" cy="105156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29400" y="3657600"/>
            <a:ext cx="3840480" cy="105156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830568" y="3858768"/>
            <a:ext cx="310896" cy="310896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30568" y="392734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3858768"/>
            <a:ext cx="30358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推理栈/硬件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4315968"/>
            <a:ext cx="3429000" cy="274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框架、算子融合、显卡带宽决定最终速度。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85232" y="2011680"/>
            <a:ext cx="0" cy="3337560"/>
          </a:xfrm>
          <a:prstGeom prst="line">
            <a:avLst/>
          </a:prstGeom>
          <a:ln w="1270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063240" y="5806440"/>
            <a:ext cx="612648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体感速度 = 首字速度 TTFT + 持续输出 TPS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量化格式怎么选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量化是在能力损失和部署成本之间折中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学生版先记住：个人单机优先看 Q4/Q5 一类量化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2960" y="1828800"/>
            <a:ext cx="6629400" cy="502920"/>
          </a:xfrm>
          <a:prstGeom prst="rect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1947672"/>
            <a:ext cx="10881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格式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1947672"/>
            <a:ext cx="12252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每参数约占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947672"/>
            <a:ext cx="172821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优点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1947672"/>
            <a:ext cx="20025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适合场景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331720"/>
            <a:ext cx="6629400" cy="502920"/>
          </a:xfrm>
          <a:prstGeom prst="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2450591"/>
            <a:ext cx="10881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BF16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450591"/>
            <a:ext cx="12252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2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450591"/>
            <a:ext cx="172821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满血基线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450591"/>
            <a:ext cx="20025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训练/评测基准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834640"/>
            <a:ext cx="6629400" cy="502920"/>
          </a:xfrm>
          <a:prstGeom prst="rect">
            <a:avLst/>
          </a:prstGeom>
          <a:solidFill>
            <a:srgbClr val="12182C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2953512"/>
            <a:ext cx="10881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INT8 / Q8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2953512"/>
            <a:ext cx="12252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1 byte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2953512"/>
            <a:ext cx="172821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能力损失较小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2953512"/>
            <a:ext cx="20025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服务端推理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337560"/>
            <a:ext cx="6629400" cy="502920"/>
          </a:xfrm>
          <a:prstGeom prst="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3456432"/>
            <a:ext cx="10881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Q5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3456432"/>
            <a:ext cx="12252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~0.6 byte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456432"/>
            <a:ext cx="172821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质量与速度平衡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6672" y="3456432"/>
            <a:ext cx="20025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个人常用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840480"/>
            <a:ext cx="6629400" cy="502920"/>
          </a:xfrm>
          <a:prstGeom prst="rect">
            <a:avLst/>
          </a:prstGeom>
          <a:solidFill>
            <a:srgbClr val="12182C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6112" y="3959352"/>
            <a:ext cx="10881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3959352"/>
            <a:ext cx="12252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~0.5 byte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152" y="3959352"/>
            <a:ext cx="172821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显存压力低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3959352"/>
            <a:ext cx="200253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本地长循环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874519"/>
            <a:ext cx="2926080" cy="2697480"/>
          </a:xfrm>
          <a:prstGeom prst="roundRect">
            <a:avLst/>
          </a:prstGeom>
          <a:solidFill>
            <a:srgbClr val="202748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66760" y="2176272"/>
            <a:ext cx="12801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4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记忆公式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651760"/>
            <a:ext cx="214884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显存压力 ≈</a:t>
            </a:r>
          </a:p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模型参数 × 每参数字节</a:t>
            </a:r>
          </a:p>
          <a:p>
            <a:r>
              <a:rPr lang="zh-CN" sz="1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+ 上下文缓存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6675120" cy="1005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这里是经验化教学页；正式数据建议补 GGUF / 推理框架来源。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提速三件套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模型快起来，通常靠预测、融合和更宽的路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不用会写 CUDA，也要知道速度从哪来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1901952"/>
            <a:ext cx="2971800" cy="2816352"/>
          </a:xfrm>
          <a:prstGeom prst="roundRect">
            <a:avLst/>
          </a:prstGeom>
          <a:solidFill>
            <a:srgbClr val="171D33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15568" y="2212848"/>
            <a:ext cx="502920" cy="50292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5568" y="2377440"/>
            <a:ext cx="502920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331720"/>
            <a:ext cx="146304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600" b="1">
                <a:solidFill>
                  <a:srgbClr val="60A5FA"/>
                </a:solidFill>
                <a:latin typeface="Hiragino Sans GB"/>
                <a:ea typeface="Hiragino Sans GB"/>
                <a:cs typeface="Hiragino Sans GB"/>
              </a:rPr>
              <a:t>投机解码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63240"/>
            <a:ext cx="22860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0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小模型先猜后续 token，主模型负责验收；接受率越高越快。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1901952"/>
            <a:ext cx="2971800" cy="2816352"/>
          </a:xfrm>
          <a:prstGeom prst="roundRect">
            <a:avLst/>
          </a:prstGeom>
          <a:solidFill>
            <a:srgbClr val="171D33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818888" y="2212848"/>
            <a:ext cx="502920" cy="5029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18888" y="2377440"/>
            <a:ext cx="502920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31720"/>
            <a:ext cx="146304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6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算子融合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063240"/>
            <a:ext cx="22860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0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减少中间等待，把多步计算更紧地合在一起执行。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901952"/>
            <a:ext cx="2971800" cy="2816352"/>
          </a:xfrm>
          <a:prstGeom prst="roundRect">
            <a:avLst/>
          </a:prstGeom>
          <a:solidFill>
            <a:srgbClr val="171D33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522208" y="2212848"/>
            <a:ext cx="502920" cy="502920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2208" y="2377440"/>
            <a:ext cx="502920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331720"/>
            <a:ext cx="146304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6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硬件带宽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063240"/>
            <a:ext cx="22860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10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更强显卡、更大显存和更高带宽，让数据搬运更快。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5532120"/>
            <a:ext cx="8138160" cy="502920"/>
          </a:xfrm>
          <a:prstGeom prst="roundRect">
            <a:avLst/>
          </a:prstGeom>
          <a:solidFill>
            <a:srgbClr val="202748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31720" y="5696712"/>
            <a:ext cx="7498079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学生项目的建议：先选合适量化和推理工具，再考虑是不是需要更大的模型。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云端模型全景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高能力不一定高速度，日常要找甜点区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示意图：正式版本若写具体模型分数，必须联网核实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4440" y="5577840"/>
            <a:ext cx="8001000" cy="0"/>
          </a:xfrm>
          <a:prstGeom prst="line">
            <a:avLst/>
          </a:prstGeom>
          <a:ln w="1778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34440" y="1783080"/>
            <a:ext cx="0" cy="3794760"/>
          </a:xfrm>
          <a:prstGeom prst="line">
            <a:avLst/>
          </a:prstGeom>
          <a:ln w="1778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5742432"/>
            <a:ext cx="118872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Decode / TPS 更快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1691639"/>
            <a:ext cx="109728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推理能力更强</a:t>
            </a:r>
          </a:p>
        </p:txBody>
      </p:sp>
      <p:sp>
        <p:nvSpPr>
          <p:cNvPr id="16" name="Oval 15"/>
          <p:cNvSpPr/>
          <p:nvPr/>
        </p:nvSpPr>
        <p:spPr>
          <a:xfrm>
            <a:off x="1965960" y="2029968"/>
            <a:ext cx="201168" cy="201168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21991" y="2011680"/>
            <a:ext cx="15087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5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天花板模型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1" y="2194560"/>
            <a:ext cx="15544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6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强但慢贵</a:t>
            </a:r>
          </a:p>
        </p:txBody>
      </p:sp>
      <p:sp>
        <p:nvSpPr>
          <p:cNvPr id="19" name="Oval 18"/>
          <p:cNvSpPr/>
          <p:nvPr/>
        </p:nvSpPr>
        <p:spPr>
          <a:xfrm>
            <a:off x="3749039" y="2331720"/>
            <a:ext cx="201168" cy="20116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5072" y="2313432"/>
            <a:ext cx="15087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5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高推理通用模型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496312"/>
            <a:ext cx="15544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6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关键节点</a:t>
            </a:r>
          </a:p>
        </p:txBody>
      </p:sp>
      <p:sp>
        <p:nvSpPr>
          <p:cNvPr id="22" name="Oval 21"/>
          <p:cNvSpPr/>
          <p:nvPr/>
        </p:nvSpPr>
        <p:spPr>
          <a:xfrm>
            <a:off x="6903720" y="2971800"/>
            <a:ext cx="201168" cy="201168"/>
          </a:xfrm>
          <a:prstGeom prst="ellipse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59752" y="2953512"/>
            <a:ext cx="15087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5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高速 Flash 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3136392"/>
            <a:ext cx="15544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6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甜点区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840480"/>
            <a:ext cx="201168" cy="201168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48272" y="3822192"/>
            <a:ext cx="15087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5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日常 Agent 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4005072"/>
            <a:ext cx="15544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6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便宜快</a:t>
            </a:r>
          </a:p>
        </p:txBody>
      </p:sp>
      <p:sp>
        <p:nvSpPr>
          <p:cNvPr id="28" name="Oval 27"/>
          <p:cNvSpPr/>
          <p:nvPr/>
        </p:nvSpPr>
        <p:spPr>
          <a:xfrm>
            <a:off x="4069080" y="4754880"/>
            <a:ext cx="201168" cy="201168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25112" y="4736592"/>
            <a:ext cx="15087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5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端侧/小模型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4919472"/>
            <a:ext cx="15544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6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本地任务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1965960"/>
            <a:ext cx="1828800" cy="2880360"/>
          </a:xfrm>
          <a:prstGeom prst="roundRect">
            <a:avLst/>
          </a:prstGeom>
          <a:solidFill>
            <a:srgbClr val="202748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38360" y="2240280"/>
            <a:ext cx="12344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DE68A"/>
                </a:solidFill>
                <a:latin typeface="Hiragino Sans GB"/>
                <a:ea typeface="Hiragino Sans GB"/>
                <a:cs typeface="Hiragino Sans GB"/>
              </a:rPr>
              <a:t>读图方式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743200"/>
            <a:ext cx="100584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5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上：推理强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5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右：输出快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5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右上：稀缺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5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右中下：日常甜点区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961888"/>
            <a:ext cx="576072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不要把示意图当实时榜单。真正上课前再补来源截图。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端侧模型怎么选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本地小模型适合低成本、长循环、隐私敏感任务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把显卡、模型大小和任务类型连起来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1828800"/>
            <a:ext cx="7086600" cy="502920"/>
          </a:xfrm>
          <a:prstGeom prst="rect">
            <a:avLst/>
          </a:prstGeom>
          <a:solidFill>
            <a:srgbClr val="202748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1947672"/>
            <a:ext cx="996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资源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1947672"/>
            <a:ext cx="1453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建议模型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947672"/>
            <a:ext cx="2139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适合任务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1947672"/>
            <a:ext cx="1911095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8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不适合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331720"/>
            <a:ext cx="7086600" cy="502920"/>
          </a:xfrm>
          <a:prstGeom prst="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" y="2450591"/>
            <a:ext cx="996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8G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450591"/>
            <a:ext cx="1453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3B-4B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450591"/>
            <a:ext cx="2139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摘要、分类、轻量整理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2450591"/>
            <a:ext cx="1911095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复杂推理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834640"/>
            <a:ext cx="7086600" cy="502920"/>
          </a:xfrm>
          <a:prstGeom prst="rect">
            <a:avLst/>
          </a:prstGeom>
          <a:solidFill>
            <a:srgbClr val="12182C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8952" y="2953512"/>
            <a:ext cx="996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16G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2953512"/>
            <a:ext cx="1453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7B-9B Q4/Q5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2953512"/>
            <a:ext cx="2139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本地命令、网页访问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2953512"/>
            <a:ext cx="1911095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长篇高难代码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337560"/>
            <a:ext cx="7086600" cy="502920"/>
          </a:xfrm>
          <a:prstGeom prst="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" y="3456432"/>
            <a:ext cx="996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24G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3456432"/>
            <a:ext cx="1453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14B-27B 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456432"/>
            <a:ext cx="2139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长循环 Agent、批处理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456432"/>
            <a:ext cx="1911095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极限推理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40480"/>
            <a:ext cx="7086600" cy="502920"/>
          </a:xfrm>
          <a:prstGeom prst="rect">
            <a:avLst/>
          </a:prstGeom>
          <a:solidFill>
            <a:srgbClr val="12182C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8952" y="3959352"/>
            <a:ext cx="996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云端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3959352"/>
            <a:ext cx="1453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SOTA/API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152" y="3959352"/>
            <a:ext cx="21396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关键判断、最终审稿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88152" y="3959352"/>
            <a:ext cx="1911095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2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大量低价值循环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1920240"/>
            <a:ext cx="2788920" cy="2971800"/>
          </a:xfrm>
          <a:prstGeom prst="roundRect">
            <a:avLst/>
          </a:prstGeom>
          <a:solidFill>
            <a:srgbClr val="202748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58200" y="2212848"/>
            <a:ext cx="173736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400" b="1">
                <a:solidFill>
                  <a:srgbClr val="A7F3D0"/>
                </a:solidFill>
                <a:latin typeface="Hiragino Sans GB"/>
                <a:ea typeface="Hiragino Sans GB"/>
                <a:cs typeface="Hiragino Sans GB"/>
              </a:rPr>
              <a:t>适合本地跑的事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670048"/>
            <a:ext cx="2029968" cy="1371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8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重复、低风险、可批量：文件整理、网页读取、格式转换。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8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长时间、token 多：夜间 long loop、批量草稿。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880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隐私敏感：本地数据、本地命令、本地记忆。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25312"/>
            <a:ext cx="67665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8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注：显存建议为教学估算，具体模型要按上下文长度和推理框架复核。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20"/>
          </a:solidFill>
          <a:ln>
            <a:solidFill>
              <a:srgbClr val="0E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0" y="-320040"/>
            <a:ext cx="5669280" cy="7498079"/>
          </a:xfrm>
          <a:prstGeom prst="rect">
            <a:avLst/>
          </a:prstGeom>
          <a:solidFill>
            <a:srgbClr val="10162A"/>
          </a:solidFill>
          <a:ln>
            <a:solidFill>
              <a:srgbClr val="10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Oval 3"/>
          <p:cNvSpPr/>
          <p:nvPr/>
        </p:nvSpPr>
        <p:spPr>
          <a:xfrm>
            <a:off x="9326880" y="228600"/>
            <a:ext cx="2468880" cy="24688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Oval 4"/>
          <p:cNvSpPr/>
          <p:nvPr/>
        </p:nvSpPr>
        <p:spPr>
          <a:xfrm>
            <a:off x="-822960" y="5212080"/>
            <a:ext cx="2560320" cy="2560320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1554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03 怎么选对模型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200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zh-CN" sz="600" b="0">
                <a:solidFill>
                  <a:srgbClr val="697089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700" b="1">
                <a:solidFill>
                  <a:srgbClr val="67E8F9"/>
                </a:solidFill>
                <a:latin typeface="Hiragino Sans GB"/>
                <a:ea typeface="Hiragino Sans GB"/>
                <a:cs typeface="Hiragino Sans GB"/>
              </a:rPr>
              <a:t>03 · 选型三问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20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先问能力够不够，再问成本扛不扛，最后问部署在哪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87552"/>
            <a:ext cx="7498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把模型选择变成可复用的决策树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1225296"/>
            <a:ext cx="11155680" cy="0"/>
          </a:xfrm>
          <a:prstGeom prst="line">
            <a:avLst/>
          </a:prstGeom>
          <a:ln w="10160">
            <a:solidFill>
              <a:srgbClr val="39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1837943"/>
            <a:ext cx="2834640" cy="141732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2834640" cy="141732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15568" y="1984248"/>
            <a:ext cx="310896" cy="310896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" y="205282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1984248"/>
            <a:ext cx="202996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任务需要强推理/强代码吗？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2441448"/>
            <a:ext cx="2423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是：先看 GPQA / LCB</a:t>
            </a:r>
            <a:br/>
            <a:r>
              <a:t>否：可从轻量模型开始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94760" y="2496312"/>
            <a:ext cx="502920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1837943"/>
            <a:ext cx="2834640" cy="141732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3400" y="1783080"/>
            <a:ext cx="2834640" cy="141732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544568" y="1984248"/>
            <a:ext cx="310896" cy="310896"/>
          </a:xfrm>
          <a:prstGeom prst="ellipse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4568" y="205282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1984248"/>
            <a:ext cx="2029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会不会跑很多轮？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441448"/>
            <a:ext cx="2423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是：优先便宜/本地/批处理</a:t>
            </a:r>
            <a:br/>
            <a:r>
              <a:t>否：可用更强模型兜底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2496312"/>
            <a:ext cx="502919" cy="0"/>
          </a:xfrm>
          <a:prstGeom prst="line">
            <a:avLst/>
          </a:prstGeom>
          <a:ln w="19050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18120" y="1837943"/>
            <a:ext cx="2834640" cy="1417320"/>
          </a:xfrm>
          <a:prstGeom prst="roundRect">
            <a:avLst/>
          </a:prstGeom>
          <a:solidFill>
            <a:srgbClr val="080B14"/>
          </a:solidFill>
          <a:ln>
            <a:solidFill>
              <a:srgbClr val="080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400" y="1783080"/>
            <a:ext cx="2834640" cy="1417320"/>
          </a:xfrm>
          <a:prstGeom prst="roundRect">
            <a:avLst/>
          </a:prstGeom>
          <a:solidFill>
            <a:srgbClr val="171D33"/>
          </a:solidFill>
          <a:ln>
            <a:solidFill>
              <a:srgbClr val="39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973568" y="1984248"/>
            <a:ext cx="310896" cy="310896"/>
          </a:xfrm>
          <a:prstGeom prst="ellipse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73568" y="2052828"/>
            <a:ext cx="310896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700" b="1">
                <a:solidFill>
                  <a:srgbClr val="0E122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1984248"/>
            <a:ext cx="2029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2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数据能不能出外部？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2441448"/>
            <a:ext cx="24231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zh-CN" sz="90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不能：端侧或私有化</a:t>
            </a:r>
            <a:br/>
            <a:r>
              <a:t>可以：云端 API 更省心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160520"/>
            <a:ext cx="10012680" cy="1078992"/>
          </a:xfrm>
          <a:prstGeom prst="roundRect">
            <a:avLst/>
          </a:prstGeom>
          <a:solidFill>
            <a:srgbClr val="202748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4443984"/>
            <a:ext cx="128016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400" b="1">
                <a:solidFill>
                  <a:srgbClr val="8B5CF6"/>
                </a:solidFill>
                <a:latin typeface="Hiragino Sans GB"/>
                <a:ea typeface="Hiragino Sans GB"/>
                <a:cs typeface="Hiragino Sans GB"/>
              </a:rPr>
              <a:t>最后落地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425696"/>
            <a:ext cx="7818120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15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低成本模型跑大部分循环，强模型只放在关键判断、最终审稿和失败兜底。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57400" y="5742432"/>
            <a:ext cx="960120" cy="310896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48840" y="5811012"/>
            <a:ext cx="7772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能力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742432"/>
            <a:ext cx="960120" cy="310896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74720" y="5811012"/>
            <a:ext cx="7772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成本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5742432"/>
            <a:ext cx="960120" cy="310896"/>
          </a:xfrm>
          <a:prstGeom prst="round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00600" y="5811012"/>
            <a:ext cx="7772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部署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5742432"/>
            <a:ext cx="960120" cy="310896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79" y="5811012"/>
            <a:ext cx="77724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800" b="1">
                <a:solidFill>
                  <a:srgbClr val="F8FAFC"/>
                </a:solidFill>
                <a:latin typeface="Hiragino Sans GB"/>
                <a:ea typeface="Hiragino Sans GB"/>
                <a:cs typeface="Hiragino Sans GB"/>
              </a:rPr>
              <a:t>合规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5815584"/>
            <a:ext cx="324612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CN" sz="900" b="0">
                <a:solidFill>
                  <a:srgbClr val="A8B0C7"/>
                </a:solidFill>
                <a:latin typeface="Hiragino Sans GB"/>
                <a:ea typeface="Hiragino Sans GB"/>
                <a:cs typeface="Hiragino Sans GB"/>
              </a:rPr>
              <a:t>下一章：选好模型之后，怎么用 Harness 把它变成稳定系统。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E5FDA2-6E84-47C9-B0D2-6D7924E3F5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0C818F-5374-4C0F-B5BA-0D32C57AB66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F497A-A0FC-4B80-93DB-6D7A7F1AD4D8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Harness 工程架构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2517D1-3006-45EC-BBE7-C43877C4FCF6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模型之上，任务如何被编排、检验并交付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E73F75C-D306-45F0-BBE2-7D3946D6B364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92205B-FD85-4429-9917-A97ED2F5CF61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803AA5-9EEB-45C5-8BD7-EFE9236569D6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40 / 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206632-CE7A-4D37-B52F-D5BC96DE53B6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952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1E88359-F5C6-46BC-9CB6-EC1EFD220B73}"/>
              </a:ext>
            </a:extLst>
          </p:cNvPr>
          <p:cNvSpPr>
            <a:spLocks noGrp="1"/>
          </p:cNvSpPr>
          <p:nvPr/>
        </p:nvSpPr>
        <p:spPr>
          <a:xfrm>
            <a:off x="3810000" y="2476500"/>
            <a:ext cx="0" cy="1943100"/>
          </a:xfrm>
          <a:prstGeom prst="line">
            <a:avLst/>
          </a:prstGeom>
          <a:noFill/>
          <a:ln w="2857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02ECD-6B8D-4A90-908D-DBE541A5F1BA}"/>
              </a:ext>
            </a:extLst>
          </p:cNvPr>
          <p:cNvSpPr>
            <a:spLocks noGrp="1"/>
          </p:cNvSpPr>
          <p:nvPr/>
        </p:nvSpPr>
        <p:spPr>
          <a:xfrm>
            <a:off x="4162425" y="2514600"/>
            <a:ext cx="69532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需求  ·  分工  ·  工具  ·  复核</a:t>
            </a:r>
          </a:p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权限  ·  反馈  ·  迭代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3617DD-5A17-45AE-BCAD-A7D9CD11F18A}"/>
              </a:ext>
            </a:extLst>
          </p:cNvPr>
          <p:cNvSpPr>
            <a:spLocks noGrp="1"/>
          </p:cNvSpPr>
          <p:nvPr/>
        </p:nvSpPr>
        <p:spPr>
          <a:xfrm>
            <a:off x="4162425" y="4381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本章的问题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A33C6-892F-4B3B-BF8D-735E7C8A4336}"/>
              </a:ext>
            </a:extLst>
          </p:cNvPr>
          <p:cNvSpPr>
            <a:spLocks noGrp="1"/>
          </p:cNvSpPr>
          <p:nvPr/>
        </p:nvSpPr>
        <p:spPr>
          <a:xfrm>
            <a:off x="4162425" y="4743450"/>
            <a:ext cx="66675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8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选好模型后，怎样让结果稳定交付？</a:t>
            </a:r>
          </a:p>
        </p:txBody>
      </p:sp>
    </p:spTree>
    <p:extLst>
      <p:ext uri="{BB962C8B-B14F-4D97-AF65-F5344CB8AC3E}">
        <p14:creationId xmlns:p14="http://schemas.microsoft.com/office/powerpoint/2010/main" val="1535656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6D7479B-6FC7-4F08-89A9-C1CE416922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61668-D777-4E4F-8F36-2934CBF7881E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D908A-484D-4EEB-9313-EF9917F651B8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从个人提示词到可复用流程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AB4B4-DB93-474A-A05C-84927E774F20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Harness 把临时操作变成有输入、步骤和验收的工作流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ECCE7A9-5048-432A-944F-3A93259A746D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6CEE2-2A06-46C5-9F94-9E489D094F59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4728DF-6EAE-4018-AD0D-5AE47BEDE46E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41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92EC17-BD77-4764-BC43-F3F9BED5005B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43B708-F1AB-4A5B-A4AC-DBEA67CABF44}"/>
              </a:ext>
            </a:extLst>
          </p:cNvPr>
          <p:cNvSpPr>
            <a:spLocks noGrp="1"/>
          </p:cNvSpPr>
          <p:nvPr/>
        </p:nvSpPr>
        <p:spPr>
          <a:xfrm>
            <a:off x="847725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手工完成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827C4A-4610-4DB8-990A-54AC728435BC}"/>
              </a:ext>
            </a:extLst>
          </p:cNvPr>
          <p:cNvSpPr>
            <a:spLocks noGrp="1"/>
          </p:cNvSpPr>
          <p:nvPr/>
        </p:nvSpPr>
        <p:spPr>
          <a:xfrm>
            <a:off x="847725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依赖个人经验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2C1BEC-204E-4F6B-9C2C-D79E28578AE1}"/>
              </a:ext>
            </a:extLst>
          </p:cNvPr>
          <p:cNvSpPr>
            <a:spLocks noGrp="1"/>
          </p:cNvSpPr>
          <p:nvPr/>
        </p:nvSpPr>
        <p:spPr>
          <a:xfrm>
            <a:off x="847725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同一个人写提示词、检查输出、补救错误；过程难复用。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A4CA9FC-0FA8-4B2C-8C6D-2912EEFC583D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CF96E5-AAC7-4DB8-AF49-BF6D59D8D139}"/>
              </a:ext>
            </a:extLst>
          </p:cNvPr>
          <p:cNvSpPr>
            <a:spLocks noGrp="1"/>
          </p:cNvSpPr>
          <p:nvPr/>
        </p:nvSpPr>
        <p:spPr>
          <a:xfrm>
            <a:off x="6553200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流程化完成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75DDBD-8035-4F77-83B2-59490C19CF97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明确任务边界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60A380-403C-4160-81D4-ED40591C7D05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把数据、工具、分工、验证和人工审批写进流程。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9EEF4E-9451-406F-95B8-431E0D858994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00C711-6E60-4E30-96A5-8A753C3F1C77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629727-6BA2-4B18-809D-80035A1158F1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先定义验收和责任，再决定需要几个 Agent。</a:t>
            </a:r>
          </a:p>
        </p:txBody>
      </p:sp>
    </p:spTree>
    <p:extLst>
      <p:ext uri="{BB962C8B-B14F-4D97-AF65-F5344CB8AC3E}">
        <p14:creationId xmlns:p14="http://schemas.microsoft.com/office/powerpoint/2010/main" val="888577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8A1D87D-9014-459D-9FC8-A221A24804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3B89C-6910-40A4-AE30-55E5DF624ED2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E6DCE-E3FE-4C9F-9B21-F9B9E1B92307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广告素材平台的业务闭环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8F8800-5320-4893-A107-FF729B5CBF54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以课程中的多 Agent 案例为例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2D2B4B1-D058-461A-A6FA-64B02236AE05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C4A33-00A6-43DC-B548-5FD286842C3C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F1EAE-CA48-4AE3-A33F-EAFA8913DDF5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42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E5B6B9-1070-4B89-AEFB-B7EE78272971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EE6C34-9EFE-489F-A27E-35DEA88342AC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F489CD-656A-4D6F-B607-15BCF892C79D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情报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8CBEC0-2819-425B-8F84-F26F71F1F519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收集合法可用的公开素材与用户需求。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469053-29F9-4E1E-AA41-17CBF408BA7A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C96C32-0815-43C6-B578-0C8C85B4A95F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3051A7-8595-4163-91EB-25C7BE1F72B6}"/>
              </a:ext>
            </a:extLst>
          </p:cNvPr>
          <p:cNvSpPr>
            <a:spLocks noGrp="1"/>
          </p:cNvSpPr>
          <p:nvPr/>
        </p:nvSpPr>
        <p:spPr>
          <a:xfrm>
            <a:off x="35814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FDACE-E59D-4159-8DED-BD12AE9C52D2}"/>
              </a:ext>
            </a:extLst>
          </p:cNvPr>
          <p:cNvSpPr>
            <a:spLocks noGrp="1"/>
          </p:cNvSpPr>
          <p:nvPr/>
        </p:nvSpPr>
        <p:spPr>
          <a:xfrm>
            <a:off x="35814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生产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7E835E-7C62-4F02-8044-45CC696903E6}"/>
              </a:ext>
            </a:extLst>
          </p:cNvPr>
          <p:cNvSpPr>
            <a:spLocks noGrp="1"/>
          </p:cNvSpPr>
          <p:nvPr/>
        </p:nvSpPr>
        <p:spPr>
          <a:xfrm>
            <a:off x="35814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按规格生成脚本、图片和视频素材。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2A30E0-3FA4-454D-BFEE-D2EFCE3A962E}"/>
              </a:ext>
            </a:extLst>
          </p:cNvPr>
          <p:cNvSpPr>
            <a:spLocks noGrp="1"/>
          </p:cNvSpPr>
          <p:nvPr/>
        </p:nvSpPr>
        <p:spPr>
          <a:xfrm>
            <a:off x="59721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2F1145-A436-4146-8191-55E93F1A6946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3899A5-AB9D-4657-B66A-80127999DF33}"/>
              </a:ext>
            </a:extLst>
          </p:cNvPr>
          <p:cNvSpPr>
            <a:spLocks noGrp="1"/>
          </p:cNvSpPr>
          <p:nvPr/>
        </p:nvSpPr>
        <p:spPr>
          <a:xfrm>
            <a:off x="63627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0650B-3DAC-4C3B-92F5-62EB7E4166AE}"/>
              </a:ext>
            </a:extLst>
          </p:cNvPr>
          <p:cNvSpPr>
            <a:spLocks noGrp="1"/>
          </p:cNvSpPr>
          <p:nvPr/>
        </p:nvSpPr>
        <p:spPr>
          <a:xfrm>
            <a:off x="63627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投放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2F6319-77E3-4A3B-9A51-8D980EEC40F1}"/>
              </a:ext>
            </a:extLst>
          </p:cNvPr>
          <p:cNvSpPr>
            <a:spLocks noGrp="1"/>
          </p:cNvSpPr>
          <p:nvPr/>
        </p:nvSpPr>
        <p:spPr>
          <a:xfrm>
            <a:off x="63627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由授权人员确认后进入投放流程。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6AD901-8A9B-4D90-A040-B0736A099D3E}"/>
              </a:ext>
            </a:extLst>
          </p:cNvPr>
          <p:cNvSpPr>
            <a:spLocks noGrp="1"/>
          </p:cNvSpPr>
          <p:nvPr/>
        </p:nvSpPr>
        <p:spPr>
          <a:xfrm>
            <a:off x="87534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C1FCD2-DECC-4831-A4BA-81A5FD1F1F7E}"/>
              </a:ext>
            </a:extLst>
          </p:cNvPr>
          <p:cNvSpPr>
            <a:spLocks noGrp="1"/>
          </p:cNvSpPr>
          <p:nvPr/>
        </p:nvSpPr>
        <p:spPr>
          <a:xfrm>
            <a:off x="89725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9A473F-943A-44B4-A3C8-A6AA7F25933A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6DB2C-B7ED-4687-84EA-0E85E4365FB2}"/>
              </a:ext>
            </a:extLst>
          </p:cNvPr>
          <p:cNvSpPr>
            <a:spLocks noGrp="1"/>
          </p:cNvSpPr>
          <p:nvPr/>
        </p:nvSpPr>
        <p:spPr>
          <a:xfrm>
            <a:off x="91440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分析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62B0AE-02BE-4090-93A5-E56A9EF2D13E}"/>
              </a:ext>
            </a:extLst>
          </p:cNvPr>
          <p:cNvSpPr>
            <a:spLocks noGrp="1"/>
          </p:cNvSpPr>
          <p:nvPr/>
        </p:nvSpPr>
        <p:spPr>
          <a:xfrm>
            <a:off x="91440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汇总效果，提出下一轮修改建议。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C088A99-F0B4-4CDD-B3A1-A90A9A62F98A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9E36760-5F13-4E0C-A71A-523230E4CE37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664B98-AAA7-4064-A796-054F6FDB8142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数据回流只提供改进信号，关键投放决定仍需责任人审核。</a:t>
            </a:r>
          </a:p>
        </p:txBody>
      </p:sp>
    </p:spTree>
    <p:extLst>
      <p:ext uri="{BB962C8B-B14F-4D97-AF65-F5344CB8AC3E}">
        <p14:creationId xmlns:p14="http://schemas.microsoft.com/office/powerpoint/2010/main" val="2801518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919F518-9AEA-4E86-A0DA-B7953D9232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7F8D0-8DC4-42FC-8E03-042A4F505F9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94B52-3E7C-48C6-B72C-BF76591F197D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单条素材从需求到交付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3E698-AD1B-424E-8392-C5C999DAB165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业务闭环中的一次具体执行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EF9C782-0E80-4175-8EE8-061B3B285B7E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4E5665-93BC-44F5-B5A6-C11AB4E9354F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E8502-5843-403D-A2B6-5312875E01B5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43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FA9518-66BB-44A9-AC96-90E640D25143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E9306-3EFD-4A1D-B536-40835D38B3AB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ACA11D-489E-4E2C-AD03-62A08A3BCA51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拆需求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243F7D-4C30-4144-B996-F71E7DA9928B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明确目标受众、规格、数量和禁用内容。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7E97D-1F19-44DF-A1CD-F9E8560BF1C9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BF039B-68A3-4C73-9086-37F96108C6AF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FD5148-86E2-493A-8E88-40ABC6BB8E18}"/>
              </a:ext>
            </a:extLst>
          </p:cNvPr>
          <p:cNvSpPr>
            <a:spLocks noGrp="1"/>
          </p:cNvSpPr>
          <p:nvPr/>
        </p:nvSpPr>
        <p:spPr>
          <a:xfrm>
            <a:off x="35814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E52364-AE30-41BE-96AA-F675C176BF87}"/>
              </a:ext>
            </a:extLst>
          </p:cNvPr>
          <p:cNvSpPr>
            <a:spLocks noGrp="1"/>
          </p:cNvSpPr>
          <p:nvPr/>
        </p:nvSpPr>
        <p:spPr>
          <a:xfrm>
            <a:off x="35814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找依据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716907-90CE-496B-A98F-6D814A32D8BA}"/>
              </a:ext>
            </a:extLst>
          </p:cNvPr>
          <p:cNvSpPr>
            <a:spLocks noGrp="1"/>
          </p:cNvSpPr>
          <p:nvPr/>
        </p:nvSpPr>
        <p:spPr>
          <a:xfrm>
            <a:off x="35814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检索可用资料，记录来源与使用许可。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DE37E9-1636-439F-A1FF-14C6A662CB56}"/>
              </a:ext>
            </a:extLst>
          </p:cNvPr>
          <p:cNvSpPr>
            <a:spLocks noGrp="1"/>
          </p:cNvSpPr>
          <p:nvPr/>
        </p:nvSpPr>
        <p:spPr>
          <a:xfrm>
            <a:off x="59721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795E4F2-2643-490F-97F4-4A75BBE58F92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CE2BC2-0CF9-4B39-A73E-FEB7530B38DB}"/>
              </a:ext>
            </a:extLst>
          </p:cNvPr>
          <p:cNvSpPr>
            <a:spLocks noGrp="1"/>
          </p:cNvSpPr>
          <p:nvPr/>
        </p:nvSpPr>
        <p:spPr>
          <a:xfrm>
            <a:off x="63627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799F4C-417C-4C69-820D-E7D96C45E4F1}"/>
              </a:ext>
            </a:extLst>
          </p:cNvPr>
          <p:cNvSpPr>
            <a:spLocks noGrp="1"/>
          </p:cNvSpPr>
          <p:nvPr/>
        </p:nvSpPr>
        <p:spPr>
          <a:xfrm>
            <a:off x="63627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生成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DF354-DC85-46D1-979A-E99FC98AE3D0}"/>
              </a:ext>
            </a:extLst>
          </p:cNvPr>
          <p:cNvSpPr>
            <a:spLocks noGrp="1"/>
          </p:cNvSpPr>
          <p:nvPr/>
        </p:nvSpPr>
        <p:spPr>
          <a:xfrm>
            <a:off x="63627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产出可编辑草稿和必要的素材文件。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0F04EF-505F-4A75-813A-FCA8E4562C72}"/>
              </a:ext>
            </a:extLst>
          </p:cNvPr>
          <p:cNvSpPr>
            <a:spLocks noGrp="1"/>
          </p:cNvSpPr>
          <p:nvPr/>
        </p:nvSpPr>
        <p:spPr>
          <a:xfrm>
            <a:off x="87534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E7665B-0A4F-4802-B0D8-286CFB639757}"/>
              </a:ext>
            </a:extLst>
          </p:cNvPr>
          <p:cNvSpPr>
            <a:spLocks noGrp="1"/>
          </p:cNvSpPr>
          <p:nvPr/>
        </p:nvSpPr>
        <p:spPr>
          <a:xfrm>
            <a:off x="8972550" y="2266950"/>
            <a:ext cx="2552700" cy="2571750"/>
          </a:xfrm>
          <a:prstGeom prst="roundRect">
            <a:avLst>
              <a:gd name="adj" fmla="val 522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B318FD-23F6-41CB-9E05-AEA42BEBE440}"/>
              </a:ext>
            </a:extLst>
          </p:cNvPr>
          <p:cNvSpPr>
            <a:spLocks noGrp="1"/>
          </p:cNvSpPr>
          <p:nvPr/>
        </p:nvSpPr>
        <p:spPr>
          <a:xfrm>
            <a:off x="91440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8F1077-5888-4448-8AB0-81E279B66036}"/>
              </a:ext>
            </a:extLst>
          </p:cNvPr>
          <p:cNvSpPr>
            <a:spLocks noGrp="1"/>
          </p:cNvSpPr>
          <p:nvPr/>
        </p:nvSpPr>
        <p:spPr>
          <a:xfrm>
            <a:off x="9144000" y="2943225"/>
            <a:ext cx="2209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复核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BD5667-4951-4604-BAC4-18B7564C2C8B}"/>
              </a:ext>
            </a:extLst>
          </p:cNvPr>
          <p:cNvSpPr>
            <a:spLocks noGrp="1"/>
          </p:cNvSpPr>
          <p:nvPr/>
        </p:nvSpPr>
        <p:spPr>
          <a:xfrm>
            <a:off x="9144000" y="36766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查事实、品牌规范、权限和最终格式。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320695A-A670-481F-ADF2-033778E05FBF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BAC91D6-2FC3-40DB-8526-2506498EA68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FD0063-12A8-44F7-9D92-4334A17834C4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每一步都留下输入、输出和失败后的处理方式。</a:t>
            </a:r>
          </a:p>
        </p:txBody>
      </p:sp>
    </p:spTree>
    <p:extLst>
      <p:ext uri="{BB962C8B-B14F-4D97-AF65-F5344CB8AC3E}">
        <p14:creationId xmlns:p14="http://schemas.microsoft.com/office/powerpoint/2010/main" val="1099976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93E113D-F371-465B-8F1C-2027188972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6087F7-5930-4E42-85D3-3E64FEF435C7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45A850-C8D5-45F7-AEFF-DD0BE6899981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多 Agent 的价值取决于任务结构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E01E4-0046-4B9B-9906-BB06E9A4B6A1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能并行、需专长、要独立检查时，分工才有收益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134D754-0660-412B-9070-D255626E5BE9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9A541-27AF-4602-A9D1-459C5521C2AD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68C3BC-71AE-4D6F-A0EB-BA6FB802B797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44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A78C11-CCDD-4F8D-B727-F831BA297342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61F87-6570-4FA4-8AB7-8EF015F4D2E9}"/>
              </a:ext>
            </a:extLst>
          </p:cNvPr>
          <p:cNvSpPr>
            <a:spLocks noGrp="1"/>
          </p:cNvSpPr>
          <p:nvPr/>
        </p:nvSpPr>
        <p:spPr>
          <a:xfrm>
            <a:off x="847725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单 Agent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41D98F-A9C4-430F-8BCC-EC088B886E0B}"/>
              </a:ext>
            </a:extLst>
          </p:cNvPr>
          <p:cNvSpPr>
            <a:spLocks noGrp="1"/>
          </p:cNvSpPr>
          <p:nvPr/>
        </p:nvSpPr>
        <p:spPr>
          <a:xfrm>
            <a:off x="847725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链路简单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4A5A2D-81A1-4CBA-A8A0-08B68ADE87CB}"/>
              </a:ext>
            </a:extLst>
          </p:cNvPr>
          <p:cNvSpPr>
            <a:spLocks noGrp="1"/>
          </p:cNvSpPr>
          <p:nvPr/>
        </p:nvSpPr>
        <p:spPr>
          <a:xfrm>
            <a:off x="847725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任务短、工具少、上下文可控时，更容易维护。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E8123AA-55CF-4468-BAB4-2C66A02136DC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191125" cy="3105150"/>
          </a:xfrm>
          <a:prstGeom prst="roundRect">
            <a:avLst>
              <a:gd name="adj" fmla="val 4294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E78DD8-967F-42D7-874C-7FC93D6AA0DC}"/>
              </a:ext>
            </a:extLst>
          </p:cNvPr>
          <p:cNvSpPr>
            <a:spLocks noGrp="1"/>
          </p:cNvSpPr>
          <p:nvPr/>
        </p:nvSpPr>
        <p:spPr>
          <a:xfrm>
            <a:off x="6553200" y="2314575"/>
            <a:ext cx="4752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多 Agent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13A90E-D403-430C-9DE3-567642C46F17}"/>
              </a:ext>
            </a:extLst>
          </p:cNvPr>
          <p:cNvSpPr>
            <a:spLocks noGrp="1"/>
          </p:cNvSpPr>
          <p:nvPr/>
        </p:nvSpPr>
        <p:spPr>
          <a:xfrm>
            <a:off x="6553200" y="2733675"/>
            <a:ext cx="47529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职责清晰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092DB5-5833-46C1-AAE2-AB542BE897B4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52975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拆给专业角色，并规定交接格式、超时处理与复核。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0450793-EBB3-4825-9FEB-4A541DCB8F50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39E866-78FA-484E-B45C-65D21DF712E4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D518BF-5AF1-40AA-B8AF-A9243BC6A742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增加 Agent 也会增加协调成本，先从最小可行分工开始。</a:t>
            </a:r>
          </a:p>
        </p:txBody>
      </p:sp>
    </p:spTree>
    <p:extLst>
      <p:ext uri="{BB962C8B-B14F-4D97-AF65-F5344CB8AC3E}">
        <p14:creationId xmlns:p14="http://schemas.microsoft.com/office/powerpoint/2010/main" val="354192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E238FD1-CDC7-4FE8-9512-33496D4574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03150D-9F32-4317-91D5-389C0D8ECD8D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88716E-EE95-4704-853B-1F8AC37BA89B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项目经理、路由与专业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B91D2-9050-4C35-B8BC-F0B52FEB63A0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用一个清晰的网络承担任务分派和交付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EEA988B-1D9D-4F4F-90F9-71210D6F185C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9CF30-5D64-4CA1-B013-BC735A785194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9F0A2A-7322-4ADB-8636-292D45A73FF0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45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2C09CD-E765-4956-9755-559C76B9324E}"/>
              </a:ext>
            </a:extLst>
          </p:cNvPr>
          <p:cNvSpPr>
            <a:spLocks noGrp="1"/>
          </p:cNvSpPr>
          <p:nvPr/>
        </p:nvSpPr>
        <p:spPr>
          <a:xfrm>
            <a:off x="3962400" y="2114550"/>
            <a:ext cx="4267200" cy="771525"/>
          </a:xfrm>
          <a:prstGeom prst="roundRect">
            <a:avLst>
              <a:gd name="adj" fmla="val 14815"/>
            </a:avLst>
          </a:prstGeom>
          <a:solidFill>
            <a:srgbClr val="202B45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7C4DC-BAAB-4561-8897-004860AD9E12}"/>
              </a:ext>
            </a:extLst>
          </p:cNvPr>
          <p:cNvSpPr>
            <a:spLocks noGrp="1"/>
          </p:cNvSpPr>
          <p:nvPr/>
        </p:nvSpPr>
        <p:spPr>
          <a:xfrm>
            <a:off x="4152900" y="226695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项目经理 Agent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6DADFBA-0A50-4202-9138-7490E7EE1F5F}"/>
              </a:ext>
            </a:extLst>
          </p:cNvPr>
          <p:cNvSpPr>
            <a:spLocks noGrp="1"/>
          </p:cNvSpPr>
          <p:nvPr/>
        </p:nvSpPr>
        <p:spPr>
          <a:xfrm>
            <a:off x="6096000" y="2886075"/>
            <a:ext cx="0" cy="419100"/>
          </a:xfrm>
          <a:prstGeom prst="line">
            <a:avLst/>
          </a:prstGeom>
          <a:noFill/>
          <a:ln w="19050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C9CFB75-5889-449C-9F70-6156C8955F4A}"/>
              </a:ext>
            </a:extLst>
          </p:cNvPr>
          <p:cNvSpPr>
            <a:spLocks noGrp="1"/>
          </p:cNvSpPr>
          <p:nvPr/>
        </p:nvSpPr>
        <p:spPr>
          <a:xfrm>
            <a:off x="4772025" y="3314700"/>
            <a:ext cx="2647950" cy="552450"/>
          </a:xfrm>
          <a:prstGeom prst="roundRect">
            <a:avLst>
              <a:gd name="adj" fmla="val 20690"/>
            </a:avLst>
          </a:prstGeom>
          <a:solidFill>
            <a:srgbClr val="1A2338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72C5D9-2316-48E4-9EE4-775440DE5CEF}"/>
              </a:ext>
            </a:extLst>
          </p:cNvPr>
          <p:cNvSpPr>
            <a:spLocks noGrp="1"/>
          </p:cNvSpPr>
          <p:nvPr/>
        </p:nvSpPr>
        <p:spPr>
          <a:xfrm>
            <a:off x="4962525" y="34099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路由与权限检查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6E14C6-F285-465F-B8B9-02246CD2C7F2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2495550" cy="885825"/>
          </a:xfrm>
          <a:prstGeom prst="roundRect">
            <a:avLst>
              <a:gd name="adj" fmla="val 12903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C6C7ED-77F8-42A7-9D25-C8CF81338747}"/>
              </a:ext>
            </a:extLst>
          </p:cNvPr>
          <p:cNvSpPr>
            <a:spLocks noGrp="1"/>
          </p:cNvSpPr>
          <p:nvPr/>
        </p:nvSpPr>
        <p:spPr>
          <a:xfrm>
            <a:off x="790575" y="435292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研究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55DE7-F51A-4F42-AE25-3C74955C41FF}"/>
              </a:ext>
            </a:extLst>
          </p:cNvPr>
          <p:cNvSpPr>
            <a:spLocks noGrp="1"/>
          </p:cNvSpPr>
          <p:nvPr/>
        </p:nvSpPr>
        <p:spPr>
          <a:xfrm>
            <a:off x="790575" y="47053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证据与来源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4E8449-A668-4772-AA87-BDBC2A566B5D}"/>
              </a:ext>
            </a:extLst>
          </p:cNvPr>
          <p:cNvSpPr>
            <a:spLocks noGrp="1"/>
          </p:cNvSpPr>
          <p:nvPr/>
        </p:nvSpPr>
        <p:spPr>
          <a:xfrm>
            <a:off x="3467100" y="4248150"/>
            <a:ext cx="2495550" cy="885825"/>
          </a:xfrm>
          <a:prstGeom prst="roundRect">
            <a:avLst>
              <a:gd name="adj" fmla="val 12903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83FEE0-F7B1-455F-8C3D-82E844D1C823}"/>
              </a:ext>
            </a:extLst>
          </p:cNvPr>
          <p:cNvSpPr>
            <a:spLocks noGrp="1"/>
          </p:cNvSpPr>
          <p:nvPr/>
        </p:nvSpPr>
        <p:spPr>
          <a:xfrm>
            <a:off x="3609975" y="435292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文案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19AE5E-D82A-4379-8EBA-A95DBEEC95C3}"/>
              </a:ext>
            </a:extLst>
          </p:cNvPr>
          <p:cNvSpPr>
            <a:spLocks noGrp="1"/>
          </p:cNvSpPr>
          <p:nvPr/>
        </p:nvSpPr>
        <p:spPr>
          <a:xfrm>
            <a:off x="3609975" y="47053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脚本与话术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1158098-A77D-4948-A868-C000384E068C}"/>
              </a:ext>
            </a:extLst>
          </p:cNvPr>
          <p:cNvSpPr>
            <a:spLocks noGrp="1"/>
          </p:cNvSpPr>
          <p:nvPr/>
        </p:nvSpPr>
        <p:spPr>
          <a:xfrm>
            <a:off x="6286500" y="4248150"/>
            <a:ext cx="2495550" cy="885825"/>
          </a:xfrm>
          <a:prstGeom prst="roundRect">
            <a:avLst>
              <a:gd name="adj" fmla="val 12903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29705C-A9B1-4A95-806D-D18136D4D6B1}"/>
              </a:ext>
            </a:extLst>
          </p:cNvPr>
          <p:cNvSpPr>
            <a:spLocks noGrp="1"/>
          </p:cNvSpPr>
          <p:nvPr/>
        </p:nvSpPr>
        <p:spPr>
          <a:xfrm>
            <a:off x="6429375" y="435292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图像视频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043B86-CF59-4011-AF86-E21DDC33DAC5}"/>
              </a:ext>
            </a:extLst>
          </p:cNvPr>
          <p:cNvSpPr>
            <a:spLocks noGrp="1"/>
          </p:cNvSpPr>
          <p:nvPr/>
        </p:nvSpPr>
        <p:spPr>
          <a:xfrm>
            <a:off x="6429375" y="47053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素材生成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D788403-5029-461A-85F0-0A5A51E4D561}"/>
              </a:ext>
            </a:extLst>
          </p:cNvPr>
          <p:cNvSpPr>
            <a:spLocks noGrp="1"/>
          </p:cNvSpPr>
          <p:nvPr/>
        </p:nvSpPr>
        <p:spPr>
          <a:xfrm>
            <a:off x="9105900" y="4248150"/>
            <a:ext cx="2495550" cy="885825"/>
          </a:xfrm>
          <a:prstGeom prst="roundRect">
            <a:avLst>
              <a:gd name="adj" fmla="val 12903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971307-6D7B-469A-B807-01019D800CAD}"/>
              </a:ext>
            </a:extLst>
          </p:cNvPr>
          <p:cNvSpPr>
            <a:spLocks noGrp="1"/>
          </p:cNvSpPr>
          <p:nvPr/>
        </p:nvSpPr>
        <p:spPr>
          <a:xfrm>
            <a:off x="9248775" y="435292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6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质检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9AF0D4-D66E-481D-9B7D-F3527D52A154}"/>
              </a:ext>
            </a:extLst>
          </p:cNvPr>
          <p:cNvSpPr>
            <a:spLocks noGrp="1"/>
          </p:cNvSpPr>
          <p:nvPr/>
        </p:nvSpPr>
        <p:spPr>
          <a:xfrm>
            <a:off x="9248775" y="47053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独立复核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E6BB342-3912-41AF-8C19-D351B2859151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4EB47FB-F1A8-4E3B-8E3F-3022C1E6B7E9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0CF8D3-4A95-4774-B851-88C938FC181C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模型品牌可替换，任务协议、权限和验收标准应保持稳定。</a:t>
            </a:r>
          </a:p>
        </p:txBody>
      </p:sp>
    </p:spTree>
    <p:extLst>
      <p:ext uri="{BB962C8B-B14F-4D97-AF65-F5344CB8AC3E}">
        <p14:creationId xmlns:p14="http://schemas.microsoft.com/office/powerpoint/2010/main" val="143164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269D37B-20E7-49BC-B06D-81B5193B1A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349CAC-44F4-4AC1-9AB8-5C3121583A6F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EAEC7-1503-4ED2-8AE1-89C237388C80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独立复核是交付前的关口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14204-09A6-4120-A42E-A71FBB0CC0B6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不同检查方法对应不同错误类型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4C65DAB-5BFB-4DDA-8620-8D8B724F2FDF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5245DD-B6D8-4624-A1A9-5722CDF12170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A9CDF-EF0B-4C4B-86C4-2F734BD31F5F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46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442BA6-D2AC-4C2A-90E1-78108189E2AD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9DD9F-DB57-45E6-B2BE-59F303B1AD96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A4BFB0-2592-42D6-BD42-47BB0DD4D447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事实核对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CD694-8B89-42A3-865A-0D0F1F5765CC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查引用、数字、来源与原始需求。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1AF87-AC7D-47F8-947B-3D083577A61B}"/>
              </a:ext>
            </a:extLst>
          </p:cNvPr>
          <p:cNvSpPr>
            <a:spLocks noGrp="1"/>
          </p:cNvSpPr>
          <p:nvPr/>
        </p:nvSpPr>
        <p:spPr>
          <a:xfrm>
            <a:off x="41179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137D027-C5F3-4043-9E74-644C83D76F66}"/>
              </a:ext>
            </a:extLst>
          </p:cNvPr>
          <p:cNvSpPr>
            <a:spLocks noGrp="1"/>
          </p:cNvSpPr>
          <p:nvPr/>
        </p:nvSpPr>
        <p:spPr>
          <a:xfrm>
            <a:off x="43370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0A6502-9206-41C5-8B6A-9699D43DF8D9}"/>
              </a:ext>
            </a:extLst>
          </p:cNvPr>
          <p:cNvSpPr>
            <a:spLocks noGrp="1"/>
          </p:cNvSpPr>
          <p:nvPr/>
        </p:nvSpPr>
        <p:spPr>
          <a:xfrm>
            <a:off x="45085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29464-AD71-4DCF-A362-90E83F73C81B}"/>
              </a:ext>
            </a:extLst>
          </p:cNvPr>
          <p:cNvSpPr>
            <a:spLocks noGrp="1"/>
          </p:cNvSpPr>
          <p:nvPr/>
        </p:nvSpPr>
        <p:spPr>
          <a:xfrm>
            <a:off x="45085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流程检查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C447F7-6050-4A5E-8BB9-442DDED781AF}"/>
              </a:ext>
            </a:extLst>
          </p:cNvPr>
          <p:cNvSpPr>
            <a:spLocks noGrp="1"/>
          </p:cNvSpPr>
          <p:nvPr/>
        </p:nvSpPr>
        <p:spPr>
          <a:xfrm>
            <a:off x="45085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查权限、禁用操作和材料使用许可。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9481DA-5D1D-4780-BB6B-5D602116A199}"/>
              </a:ext>
            </a:extLst>
          </p:cNvPr>
          <p:cNvSpPr>
            <a:spLocks noGrp="1"/>
          </p:cNvSpPr>
          <p:nvPr/>
        </p:nvSpPr>
        <p:spPr>
          <a:xfrm>
            <a:off x="78263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6322776-0888-4D47-A299-6BBD502BF376}"/>
              </a:ext>
            </a:extLst>
          </p:cNvPr>
          <p:cNvSpPr>
            <a:spLocks noGrp="1"/>
          </p:cNvSpPr>
          <p:nvPr/>
        </p:nvSpPr>
        <p:spPr>
          <a:xfrm>
            <a:off x="80454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6851D-AECE-4900-9776-DB3D11749DB0}"/>
              </a:ext>
            </a:extLst>
          </p:cNvPr>
          <p:cNvSpPr>
            <a:spLocks noGrp="1"/>
          </p:cNvSpPr>
          <p:nvPr/>
        </p:nvSpPr>
        <p:spPr>
          <a:xfrm>
            <a:off x="82169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B1B4F4-19C7-40F7-892A-6278807D8AC2}"/>
              </a:ext>
            </a:extLst>
          </p:cNvPr>
          <p:cNvSpPr>
            <a:spLocks noGrp="1"/>
          </p:cNvSpPr>
          <p:nvPr/>
        </p:nvSpPr>
        <p:spPr>
          <a:xfrm>
            <a:off x="82169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人工确认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7563A-79C6-439F-AC37-B1B81B5279EB}"/>
              </a:ext>
            </a:extLst>
          </p:cNvPr>
          <p:cNvSpPr>
            <a:spLocks noGrp="1"/>
          </p:cNvSpPr>
          <p:nvPr/>
        </p:nvSpPr>
        <p:spPr>
          <a:xfrm>
            <a:off x="82169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高风险决定与最终发布由责任人把关。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968154D-DAD7-48BD-ADEC-2012E787D1C4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446BEDF-E6BB-4744-86A8-0B03294F5E7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F64A78-DC68-4093-89E7-2DE62584A1CD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使用不同模型可降低部分共同盲点，但不能替代客观测试和人工责任。</a:t>
            </a:r>
          </a:p>
        </p:txBody>
      </p:sp>
    </p:spTree>
    <p:extLst>
      <p:ext uri="{BB962C8B-B14F-4D97-AF65-F5344CB8AC3E}">
        <p14:creationId xmlns:p14="http://schemas.microsoft.com/office/powerpoint/2010/main" val="20076292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8250818-DE67-40F0-A571-0F98EDE510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BAC08F-C240-4AB0-AA84-37873198C676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16E2C9-0A1A-4B90-B579-80B48B90B649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模型的边界由 Harness 接住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E662F-2D7A-4010-BB0A-406EE945DCAE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把不确定性转成可检查的工程约束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411C3D1-9961-4522-95CD-A098029C1407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180CF-C145-4E7A-9A8E-4C920401386E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1B32B2-3953-4212-83E8-326B4758417D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47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2D2-6B5E-48A4-A307-F84A2C8052A0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215D6-8221-4171-A3FF-AF021C02B18F}"/>
              </a:ext>
            </a:extLst>
          </p:cNvPr>
          <p:cNvSpPr>
            <a:spLocks noGrp="1"/>
          </p:cNvSpPr>
          <p:nvPr/>
        </p:nvSpPr>
        <p:spPr>
          <a:xfrm>
            <a:off x="84772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知识边界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8A3D6A-065D-419F-99EF-0820943971EF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检索与引用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4DB65-BF07-4230-8D00-83E1E91C34D1}"/>
              </a:ext>
            </a:extLst>
          </p:cNvPr>
          <p:cNvSpPr>
            <a:spLocks noGrp="1"/>
          </p:cNvSpPr>
          <p:nvPr/>
        </p:nvSpPr>
        <p:spPr>
          <a:xfrm>
            <a:off x="84772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私域或最新知识放在外部来源，回答附可查证据。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A3BAAB8-56AE-4B0F-80FA-D3F71424C097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DEE5CE-990E-4AB6-98A5-1766C10D627D}"/>
              </a:ext>
            </a:extLst>
          </p:cNvPr>
          <p:cNvSpPr>
            <a:spLocks noGrp="1"/>
          </p:cNvSpPr>
          <p:nvPr/>
        </p:nvSpPr>
        <p:spPr>
          <a:xfrm>
            <a:off x="4610100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能力边界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7FFBE-605D-4869-81A6-E13FA3AF8060}"/>
              </a:ext>
            </a:extLst>
          </p:cNvPr>
          <p:cNvSpPr>
            <a:spLocks noGrp="1"/>
          </p:cNvSpPr>
          <p:nvPr/>
        </p:nvSpPr>
        <p:spPr>
          <a:xfrm>
            <a:off x="4610100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路由与评测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5EE40A-629A-4B25-A9D5-F0BC67CE8382}"/>
              </a:ext>
            </a:extLst>
          </p:cNvPr>
          <p:cNvSpPr>
            <a:spLocks noGrp="1"/>
          </p:cNvSpPr>
          <p:nvPr/>
        </p:nvSpPr>
        <p:spPr>
          <a:xfrm>
            <a:off x="4610100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按任务选模型；失败时重试、升级或交给人。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D3BF0F2-E78C-4061-B4B6-3E0AB81916BC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3086100"/>
          </a:xfrm>
          <a:prstGeom prst="roundRect">
            <a:avLst>
              <a:gd name="adj" fmla="val 4321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9A8B0-AB21-4670-85C2-EBE21B779F7C}"/>
              </a:ext>
            </a:extLst>
          </p:cNvPr>
          <p:cNvSpPr>
            <a:spLocks noGrp="1"/>
          </p:cNvSpPr>
          <p:nvPr/>
        </p:nvSpPr>
        <p:spPr>
          <a:xfrm>
            <a:off x="8372475" y="2295525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执行边界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14C505-FA69-4BD3-986D-4574E685B63D}"/>
              </a:ext>
            </a:extLst>
          </p:cNvPr>
          <p:cNvSpPr>
            <a:spLocks noGrp="1"/>
          </p:cNvSpPr>
          <p:nvPr/>
        </p:nvSpPr>
        <p:spPr>
          <a:xfrm>
            <a:off x="8372475" y="2714625"/>
            <a:ext cx="293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0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权限与审批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BA2335-A576-49A7-9363-F42DB84F9674}"/>
              </a:ext>
            </a:extLst>
          </p:cNvPr>
          <p:cNvSpPr>
            <a:spLocks noGrp="1"/>
          </p:cNvSpPr>
          <p:nvPr/>
        </p:nvSpPr>
        <p:spPr>
          <a:xfrm>
            <a:off x="8372475" y="3409950"/>
            <a:ext cx="293370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工具调用按最小权限运行，关键动作需要确认。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0309FCB-A421-43FE-83BC-2A5C6C4DCAF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B9BFBDF-F496-4348-BC40-2CF44CA048F2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2B34CC-31CD-4E62-9B3C-7E2724F1C22B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Harness 的目标是让结果可追溯、可验证、可控制。</a:t>
            </a:r>
          </a:p>
        </p:txBody>
      </p:sp>
    </p:spTree>
    <p:extLst>
      <p:ext uri="{BB962C8B-B14F-4D97-AF65-F5344CB8AC3E}">
        <p14:creationId xmlns:p14="http://schemas.microsoft.com/office/powerpoint/2010/main" val="283945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56090D0-BF12-4014-9C4B-1B23D67159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D0DA4C-2B00-48BE-A0A5-994185C43D6C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7D32BF-AD94-4B62-BBE2-7A97899DF7D5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三个循环让系统持续改进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E503B-49A8-4CE9-B14A-A91C78FDAF82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每一层都要把经验沉淀为可复用的代码或规则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B9EE2B2-4CE2-4835-BA32-29773BD9099E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43FEDF-E720-498E-AA5F-75E0EEF35046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99A5FE-357D-4CA5-9656-3D5B17D0B999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48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C7B621-01E6-4FCC-A44E-D63E9E15DAD9}"/>
              </a:ext>
            </a:extLst>
          </p:cNvPr>
          <p:cNvSpPr>
            <a:spLocks noGrp="1"/>
          </p:cNvSpPr>
          <p:nvPr/>
        </p:nvSpPr>
        <p:spPr>
          <a:xfrm>
            <a:off x="628650" y="2047875"/>
            <a:ext cx="10896600" cy="866775"/>
          </a:xfrm>
          <a:prstGeom prst="roundRect">
            <a:avLst>
              <a:gd name="adj" fmla="val 13187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6A2BF-4722-45A8-BDF1-28514773DFE5}"/>
              </a:ext>
            </a:extLst>
          </p:cNvPr>
          <p:cNvSpPr>
            <a:spLocks noGrp="1"/>
          </p:cNvSpPr>
          <p:nvPr/>
        </p:nvSpPr>
        <p:spPr>
          <a:xfrm>
            <a:off x="828675" y="21812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99FF6-820C-4650-862F-CEF1087428D5}"/>
              </a:ext>
            </a:extLst>
          </p:cNvPr>
          <p:cNvSpPr>
            <a:spLocks noGrp="1"/>
          </p:cNvSpPr>
          <p:nvPr/>
        </p:nvSpPr>
        <p:spPr>
          <a:xfrm>
            <a:off x="1819275" y="2200275"/>
            <a:ext cx="1771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交互层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0ABAB8-CD9F-4141-8D6E-68C8BB7AC475}"/>
              </a:ext>
            </a:extLst>
          </p:cNvPr>
          <p:cNvSpPr>
            <a:spLocks noGrp="1"/>
          </p:cNvSpPr>
          <p:nvPr/>
        </p:nvSpPr>
        <p:spPr>
          <a:xfrm>
            <a:off x="3686175" y="2209800"/>
            <a:ext cx="7429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把反复追问整理成清晰的任务说明和 Skill。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8BED922-4270-474C-9CBA-80B8578ECB1E}"/>
              </a:ext>
            </a:extLst>
          </p:cNvPr>
          <p:cNvSpPr>
            <a:spLocks noGrp="1"/>
          </p:cNvSpPr>
          <p:nvPr/>
        </p:nvSpPr>
        <p:spPr>
          <a:xfrm>
            <a:off x="628650" y="3124200"/>
            <a:ext cx="10896600" cy="866775"/>
          </a:xfrm>
          <a:prstGeom prst="roundRect">
            <a:avLst>
              <a:gd name="adj" fmla="val 13187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C45AAF-A7F7-4FCE-93D9-9E2A87A5A27B}"/>
              </a:ext>
            </a:extLst>
          </p:cNvPr>
          <p:cNvSpPr>
            <a:spLocks noGrp="1"/>
          </p:cNvSpPr>
          <p:nvPr/>
        </p:nvSpPr>
        <p:spPr>
          <a:xfrm>
            <a:off x="828675" y="3257550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075FA-ADEB-402C-A2C6-700883BBD153}"/>
              </a:ext>
            </a:extLst>
          </p:cNvPr>
          <p:cNvSpPr>
            <a:spLocks noGrp="1"/>
          </p:cNvSpPr>
          <p:nvPr/>
        </p:nvSpPr>
        <p:spPr>
          <a:xfrm>
            <a:off x="1819275" y="3276600"/>
            <a:ext cx="1771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流程层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26BD11-786F-4E4F-B520-525EDF9E1BE9}"/>
              </a:ext>
            </a:extLst>
          </p:cNvPr>
          <p:cNvSpPr>
            <a:spLocks noGrp="1"/>
          </p:cNvSpPr>
          <p:nvPr/>
        </p:nvSpPr>
        <p:spPr>
          <a:xfrm>
            <a:off x="3686175" y="3286125"/>
            <a:ext cx="7429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把稳定步骤编排为 Agent、工具和质量检查。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A7473D6-E498-406E-898E-04BB821D3370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0896600" cy="866775"/>
          </a:xfrm>
          <a:prstGeom prst="roundRect">
            <a:avLst>
              <a:gd name="adj" fmla="val 13187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B16599-365F-4CF9-8E36-460C78F1FC76}"/>
              </a:ext>
            </a:extLst>
          </p:cNvPr>
          <p:cNvSpPr>
            <a:spLocks noGrp="1"/>
          </p:cNvSpPr>
          <p:nvPr/>
        </p:nvSpPr>
        <p:spPr>
          <a:xfrm>
            <a:off x="828675" y="433387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C2E732-7420-4B65-A865-0B3456FFE577}"/>
              </a:ext>
            </a:extLst>
          </p:cNvPr>
          <p:cNvSpPr>
            <a:spLocks noGrp="1"/>
          </p:cNvSpPr>
          <p:nvPr/>
        </p:nvSpPr>
        <p:spPr>
          <a:xfrm>
            <a:off x="1819275" y="4352925"/>
            <a:ext cx="1771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反馈层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67DB83-95A2-49FB-85F1-9AD3CE5E9294}"/>
              </a:ext>
            </a:extLst>
          </p:cNvPr>
          <p:cNvSpPr>
            <a:spLocks noGrp="1"/>
          </p:cNvSpPr>
          <p:nvPr/>
        </p:nvSpPr>
        <p:spPr>
          <a:xfrm>
            <a:off x="3686175" y="4362450"/>
            <a:ext cx="7429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7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用评测结果修改提示、流程或模型选型。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A0FD42F-77EC-4433-B12C-829D4BFFE837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D6F7E0A-3D0A-427F-AA6D-862A0F77AE70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A4C28D-C794-4B6C-81D9-3C5447513D30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先记录失败，再决定应该改交互、流程还是模型。</a:t>
            </a:r>
          </a:p>
        </p:txBody>
      </p:sp>
    </p:spTree>
    <p:extLst>
      <p:ext uri="{BB962C8B-B14F-4D97-AF65-F5344CB8AC3E}">
        <p14:creationId xmlns:p14="http://schemas.microsoft.com/office/powerpoint/2010/main" val="539438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F45E7A-1084-4360-86E7-4AAD28FDC3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C19211-F957-40EC-B6D5-E9A79F89C7F3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AE6A52-EDA9-4317-9666-10226AFDD112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人和系统在三个时点分工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0665F-E84F-417F-A224-621FF111FEA5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目标是减少重复劳动，同时保留关键责任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1836BBE-A3EE-414B-941C-6389D59706F0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1C50A1-3502-4837-B44A-E6DAA6A738AD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1142DC-34EC-45ED-88BD-822D0B1D55AB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49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2D9286-FB00-482C-A1F4-B5681F1110FA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489349-8967-408C-9B9E-03592E3E721E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47E129-8BEF-4F04-98AC-53025EC1BEE3}"/>
              </a:ext>
            </a:extLst>
          </p:cNvPr>
          <p:cNvSpPr>
            <a:spLocks noGrp="1"/>
          </p:cNvSpPr>
          <p:nvPr/>
        </p:nvSpPr>
        <p:spPr>
          <a:xfrm>
            <a:off x="8001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事前：人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BC710D-23F6-4F86-962B-8F7294BCAC5C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确认目标、约束、数据权限和验收标准。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A8A5E8-E31C-413D-9D92-78F3EC029A72}"/>
              </a:ext>
            </a:extLst>
          </p:cNvPr>
          <p:cNvSpPr>
            <a:spLocks noGrp="1"/>
          </p:cNvSpPr>
          <p:nvPr/>
        </p:nvSpPr>
        <p:spPr>
          <a:xfrm>
            <a:off x="41179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EDAF08-0C15-440D-AA63-0D79E8F51EAD}"/>
              </a:ext>
            </a:extLst>
          </p:cNvPr>
          <p:cNvSpPr>
            <a:spLocks noGrp="1"/>
          </p:cNvSpPr>
          <p:nvPr/>
        </p:nvSpPr>
        <p:spPr>
          <a:xfrm>
            <a:off x="43370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4C4A31-D88F-4352-840C-4479851D03E9}"/>
              </a:ext>
            </a:extLst>
          </p:cNvPr>
          <p:cNvSpPr>
            <a:spLocks noGrp="1"/>
          </p:cNvSpPr>
          <p:nvPr/>
        </p:nvSpPr>
        <p:spPr>
          <a:xfrm>
            <a:off x="45085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58765B-2AFE-46C3-B0EE-72359CEC1351}"/>
              </a:ext>
            </a:extLst>
          </p:cNvPr>
          <p:cNvSpPr>
            <a:spLocks noGrp="1"/>
          </p:cNvSpPr>
          <p:nvPr/>
        </p:nvSpPr>
        <p:spPr>
          <a:xfrm>
            <a:off x="45085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事中：系统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BACDB2-35A3-4E2B-8798-7401B21FB879}"/>
              </a:ext>
            </a:extLst>
          </p:cNvPr>
          <p:cNvSpPr>
            <a:spLocks noGrp="1"/>
          </p:cNvSpPr>
          <p:nvPr/>
        </p:nvSpPr>
        <p:spPr>
          <a:xfrm>
            <a:off x="45085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执行可授权步骤，记录日志和失败状态。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45328C-7468-4A41-9BF3-A1CB8D783815}"/>
              </a:ext>
            </a:extLst>
          </p:cNvPr>
          <p:cNvSpPr>
            <a:spLocks noGrp="1"/>
          </p:cNvSpPr>
          <p:nvPr/>
        </p:nvSpPr>
        <p:spPr>
          <a:xfrm>
            <a:off x="7826375" y="3171825"/>
            <a:ext cx="2000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ctr">
              <a:defRPr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7B9CFFD-F9B7-4D24-9900-15BF5AFA8644}"/>
              </a:ext>
            </a:extLst>
          </p:cNvPr>
          <p:cNvSpPr>
            <a:spLocks noGrp="1"/>
          </p:cNvSpPr>
          <p:nvPr/>
        </p:nvSpPr>
        <p:spPr>
          <a:xfrm>
            <a:off x="8045450" y="2266950"/>
            <a:ext cx="3479800" cy="2571750"/>
          </a:xfrm>
          <a:prstGeom prst="roundRect">
            <a:avLst>
              <a:gd name="adj" fmla="val 5185"/>
            </a:avLst>
          </a:prstGeom>
          <a:solidFill>
            <a:srgbClr val="1A2338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44FA5C-4748-4350-8A3D-9D51B90776D3}"/>
              </a:ext>
            </a:extLst>
          </p:cNvPr>
          <p:cNvSpPr>
            <a:spLocks noGrp="1"/>
          </p:cNvSpPr>
          <p:nvPr/>
        </p:nvSpPr>
        <p:spPr>
          <a:xfrm>
            <a:off x="8216900" y="2428875"/>
            <a:ext cx="714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19E48A-32AA-4CE8-944D-B849D33D1475}"/>
              </a:ext>
            </a:extLst>
          </p:cNvPr>
          <p:cNvSpPr>
            <a:spLocks noGrp="1"/>
          </p:cNvSpPr>
          <p:nvPr/>
        </p:nvSpPr>
        <p:spPr>
          <a:xfrm>
            <a:off x="8216900" y="2943225"/>
            <a:ext cx="3136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950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事后：人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546A4E-1990-46BB-AB90-29A16B2EC9AC}"/>
              </a:ext>
            </a:extLst>
          </p:cNvPr>
          <p:cNvSpPr>
            <a:spLocks noGrp="1"/>
          </p:cNvSpPr>
          <p:nvPr/>
        </p:nvSpPr>
        <p:spPr>
          <a:xfrm>
            <a:off x="8216900" y="3676650"/>
            <a:ext cx="31369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35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复核关键结果，决定交付或继续修改。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C2762ED-6901-4BA9-92BD-FE7A92061DC8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4E8E377-BB05-4C95-AEE2-17F702FE004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FEC665-A779-42F7-BEE2-4351493F273B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自动化程度由风险和可验证性决定。</a:t>
            </a:r>
          </a:p>
        </p:txBody>
      </p:sp>
    </p:spTree>
    <p:extLst>
      <p:ext uri="{BB962C8B-B14F-4D97-AF65-F5344CB8AC3E}">
        <p14:creationId xmlns:p14="http://schemas.microsoft.com/office/powerpoint/2010/main" val="20772061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8DDAB21-2919-4788-9C2B-804D12E378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oundRect">
            <a:avLst>
              <a:gd name="adj" fmla="val 0"/>
            </a:avLst>
          </a:prstGeom>
          <a:solidFill>
            <a:srgbClr val="A577FA"/>
          </a:solidFill>
          <a:ln w="9525">
            <a:solidFill>
              <a:srgbClr val="A57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7E3C5-F477-4FBA-85DD-B21B0441B5C5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125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04  /  Harness 工程架构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7704A-2D9F-4683-B93A-36F97727FB99}"/>
              </a:ext>
            </a:extLst>
          </p:cNvPr>
          <p:cNvSpPr>
            <a:spLocks noGrp="1"/>
          </p:cNvSpPr>
          <p:nvPr/>
        </p:nvSpPr>
        <p:spPr>
          <a:xfrm>
            <a:off x="628650" y="723900"/>
            <a:ext cx="109061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7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把模型用成可交付的系统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02A6EB-AC10-4396-B419-3B0D2186913D}"/>
              </a:ext>
            </a:extLst>
          </p:cNvPr>
          <p:cNvSpPr>
            <a:spLocks noGrp="1"/>
          </p:cNvSpPr>
          <p:nvPr/>
        </p:nvSpPr>
        <p:spPr>
          <a:xfrm>
            <a:off x="638175" y="1362075"/>
            <a:ext cx="1076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三件事连在一起，才形成完整工程实践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6151B81-EA57-432F-A50A-C8D8D08DB403}"/>
              </a:ext>
            </a:extLst>
          </p:cNvPr>
          <p:cNvSpPr>
            <a:spLocks noGrp="1"/>
          </p:cNvSpPr>
          <p:nvPr/>
        </p:nvSpPr>
        <p:spPr>
          <a:xfrm>
            <a:off x="628650" y="6210300"/>
            <a:ext cx="10906125" cy="0"/>
          </a:xfrm>
          <a:prstGeom prst="line">
            <a:avLst/>
          </a:prstGeom>
          <a:noFill/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EE64B-AB97-46B9-90ED-5728F65824A1}"/>
              </a:ext>
            </a:extLst>
          </p:cNvPr>
          <p:cNvSpPr>
            <a:spLocks noGrp="1"/>
          </p:cNvSpPr>
          <p:nvPr/>
        </p:nvSpPr>
        <p:spPr>
          <a:xfrm>
            <a:off x="638175" y="635317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人工智能兴趣小组 · 三期 · 工程素养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67FB73-FB54-447B-8BF5-8A611D5BB1E6}"/>
              </a:ext>
            </a:extLst>
          </p:cNvPr>
          <p:cNvSpPr>
            <a:spLocks noGrp="1"/>
          </p:cNvSpPr>
          <p:nvPr/>
        </p:nvSpPr>
        <p:spPr>
          <a:xfrm>
            <a:off x="10210800" y="635317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050" b="0">
                <a:solidFill>
                  <a:srgbClr val="6F809B"/>
                </a:solidFill>
                <a:latin typeface="Hiragino Sans GB"/>
                <a:ea typeface="Hiragino Sans GB"/>
                <a:cs typeface="Hiragino Sans GB"/>
              </a:rPr>
              <a:t>50 / 50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FD093A-0CF8-4898-A456-B99692EABC74}"/>
              </a:ext>
            </a:extLst>
          </p:cNvPr>
          <p:cNvSpPr>
            <a:spLocks noGrp="1"/>
          </p:cNvSpPr>
          <p:nvPr/>
        </p:nvSpPr>
        <p:spPr>
          <a:xfrm>
            <a:off x="628650" y="2124075"/>
            <a:ext cx="3371850" cy="2857500"/>
          </a:xfrm>
          <a:prstGeom prst="roundRect">
            <a:avLst>
              <a:gd name="adj" fmla="val 4667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937F5-654B-48B2-BB5B-8D0261F2164C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62DCE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79A747-C73B-4E59-8288-4CE772883271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2914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理解训练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CB474-26C0-44BE-8F18-2DD89543167B}"/>
              </a:ext>
            </a:extLst>
          </p:cNvPr>
          <p:cNvSpPr>
            <a:spLocks noGrp="1"/>
          </p:cNvSpPr>
          <p:nvPr/>
        </p:nvSpPr>
        <p:spPr>
          <a:xfrm>
            <a:off x="857250" y="3724275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0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知道模型能力与行为从何而来。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9619D4-8622-465C-BC0D-77E84EC26B46}"/>
              </a:ext>
            </a:extLst>
          </p:cNvPr>
          <p:cNvSpPr>
            <a:spLocks noGrp="1"/>
          </p:cNvSpPr>
          <p:nvPr/>
        </p:nvSpPr>
        <p:spPr>
          <a:xfrm>
            <a:off x="4391025" y="2124075"/>
            <a:ext cx="3371850" cy="2857500"/>
          </a:xfrm>
          <a:prstGeom prst="roundRect">
            <a:avLst>
              <a:gd name="adj" fmla="val 4667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25A6F7-AD07-4306-8C9A-6D9AB04E0921}"/>
              </a:ext>
            </a:extLst>
          </p:cNvPr>
          <p:cNvSpPr>
            <a:spLocks noGrp="1"/>
          </p:cNvSpPr>
          <p:nvPr/>
        </p:nvSpPr>
        <p:spPr>
          <a:xfrm>
            <a:off x="4619625" y="233362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77F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037B1-479F-4C5E-888E-675D87D9AFB2}"/>
              </a:ext>
            </a:extLst>
          </p:cNvPr>
          <p:cNvSpPr>
            <a:spLocks noGrp="1"/>
          </p:cNvSpPr>
          <p:nvPr/>
        </p:nvSpPr>
        <p:spPr>
          <a:xfrm>
            <a:off x="4619625" y="2895600"/>
            <a:ext cx="2914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选对模型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B48146-FE39-4196-B1F1-057BEB475CB6}"/>
              </a:ext>
            </a:extLst>
          </p:cNvPr>
          <p:cNvSpPr>
            <a:spLocks noGrp="1"/>
          </p:cNvSpPr>
          <p:nvPr/>
        </p:nvSpPr>
        <p:spPr>
          <a:xfrm>
            <a:off x="4619625" y="3724275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0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按任务、成本和部署条件做取舍。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2617B43-5CAB-47EE-BBF5-18A86FA53DCA}"/>
              </a:ext>
            </a:extLst>
          </p:cNvPr>
          <p:cNvSpPr>
            <a:spLocks noGrp="1"/>
          </p:cNvSpPr>
          <p:nvPr/>
        </p:nvSpPr>
        <p:spPr>
          <a:xfrm>
            <a:off x="8153400" y="2124075"/>
            <a:ext cx="3371850" cy="2857500"/>
          </a:xfrm>
          <a:prstGeom prst="roundRect">
            <a:avLst>
              <a:gd name="adj" fmla="val 4667"/>
            </a:avLst>
          </a:prstGeom>
          <a:solidFill>
            <a:srgbClr val="202B45"/>
          </a:solidFill>
          <a:ln w="9525">
            <a:solidFill>
              <a:srgbClr val="34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8068E8-B20A-4541-9CB9-CD0A4A653FE3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200" b="1">
                <a:solidFill>
                  <a:srgbClr val="A5F0C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5E1F3F-E4F1-49CE-A533-0D8BCB100C3F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2914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217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设计 Harness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C131D8-9D50-4052-BE85-3B396663A11A}"/>
              </a:ext>
            </a:extLst>
          </p:cNvPr>
          <p:cNvSpPr>
            <a:spLocks noGrp="1"/>
          </p:cNvSpPr>
          <p:nvPr/>
        </p:nvSpPr>
        <p:spPr>
          <a:xfrm>
            <a:off x="8382000" y="3724275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500" b="0">
                <a:solidFill>
                  <a:srgbClr val="AAB8D0"/>
                </a:solidFill>
                <a:latin typeface="Hiragino Sans GB"/>
                <a:ea typeface="Hiragino Sans GB"/>
                <a:cs typeface="Hiragino Sans GB"/>
              </a:rPr>
              <a:t>定义工具、权限、复核和失败处理。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9FFD9CC-114C-438A-B761-513576340602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0896600" cy="533400"/>
          </a:xfrm>
          <a:prstGeom prst="roundRect">
            <a:avLst>
              <a:gd name="adj" fmla="val 17857"/>
            </a:avLst>
          </a:prstGeom>
          <a:solidFill>
            <a:srgbClr val="202B45"/>
          </a:solidFill>
          <a:ln w="9525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A2F553B-A0B5-446B-BCBD-73F0B13E7546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57150" cy="533400"/>
          </a:xfrm>
          <a:prstGeom prst="roundRect">
            <a:avLst>
              <a:gd name="adj" fmla="val 0"/>
            </a:avLst>
          </a:prstGeom>
          <a:solidFill>
            <a:srgbClr val="62DCE9"/>
          </a:solidFill>
          <a:ln w="9525">
            <a:solidFill>
              <a:srgbClr val="62DC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0A9D0A-A4FD-40FE-9322-1AB78BF6C462}"/>
              </a:ext>
            </a:extLst>
          </p:cNvPr>
          <p:cNvSpPr>
            <a:spLocks noGrp="1"/>
          </p:cNvSpPr>
          <p:nvPr/>
        </p:nvSpPr>
        <p:spPr>
          <a:xfrm>
            <a:off x="847725" y="558165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sz="1425" b="1">
                <a:solidFill>
                  <a:srgbClr val="F3F6FC"/>
                </a:solidFill>
                <a:latin typeface="Hiragino Sans GB"/>
                <a:ea typeface="Hiragino Sans GB"/>
                <a:cs typeface="Hiragino Sans GB"/>
              </a:rPr>
              <a:t>课后练习：选一个真实任务，画出输入、执行、复核与交付路径。</a:t>
            </a:r>
          </a:p>
        </p:txBody>
      </p:sp>
    </p:spTree>
    <p:extLst>
      <p:ext uri="{BB962C8B-B14F-4D97-AF65-F5344CB8AC3E}">
        <p14:creationId xmlns:p14="http://schemas.microsoft.com/office/powerpoint/2010/main" val="1257021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Hiragino Sans GB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Hiragino Sans GB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Hiragino Sans GB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Hiragino Sans GB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5945</Words>
  <Application>Microsoft Macintosh PowerPoint</Application>
  <PresentationFormat>Widescreen</PresentationFormat>
  <Paragraphs>911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Hiragino Sans GB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T176619</cp:lastModifiedBy>
  <cp:revision>2</cp:revision>
  <dcterms:created xsi:type="dcterms:W3CDTF">2026-08-08T08:11:16Z</dcterms:created>
  <dcterms:modified xsi:type="dcterms:W3CDTF">2026-09-30T23:59:47Z</dcterms:modified>
</cp:coreProperties>
</file>