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86" r:id="rId8"/>
    <p:sldId id="287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88" r:id="rId23"/>
    <p:sldId id="275" r:id="rId24"/>
    <p:sldId id="289" r:id="rId25"/>
    <p:sldId id="276" r:id="rId26"/>
    <p:sldId id="290" r:id="rId27"/>
    <p:sldId id="277" r:id="rId28"/>
    <p:sldId id="278" r:id="rId29"/>
    <p:sldId id="279" r:id="rId30"/>
    <p:sldId id="28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281" r:id="rId43"/>
    <p:sldId id="282" r:id="rId44"/>
    <p:sldId id="283" r:id="rId45"/>
    <p:sldId id="284" r:id="rId46"/>
    <p:sldId id="285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627"/>
    <a:srgbClr val="8E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51"/>
    <p:restoredTop sz="94610"/>
  </p:normalViewPr>
  <p:slideViewPr>
    <p:cSldViewPr snapToGrid="0" snapToObjects="1">
      <p:cViewPr>
        <p:scale>
          <a:sx n="139" d="100"/>
          <a:sy n="139" d="100"/>
        </p:scale>
        <p:origin x="44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30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86EF6-C7CA-7E77-CEF1-31146F04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EC4F4-1FA4-C7EA-8818-B36B45C74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E8A42-58B5-DEBB-F26D-033CA04F1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E0BA9-3B6A-7D70-7EEB-1322F6F8B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43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1042-90DE-77E4-4613-F28B9837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65EB4-8E8E-48B7-6DE2-B48186403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BE7F0-0517-AA0D-D744-754421C01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8BFBF-FE74-FF19-A4D1-C1810F1D5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28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4C006-4449-B2B8-A8E1-0AF06CCC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CDD70-8BB6-DABE-FF7B-1C707AC7C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3CE10-AB2F-CC88-E6A7-FB3530DDA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39D76-3C70-874E-5160-D9ACBE20B7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11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BD25-3A7D-D5BF-7E37-214CDCA7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34182-2861-BB79-3551-185C33201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8CAD4-1BA5-6736-74BF-9263ECDD6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820E-1865-C275-E33B-77DD2AAFD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13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33595-2342-0976-FEB3-CDE752EBA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7F748-CEB9-618E-5F8D-957C9A18C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25653-46D2-06AE-ED50-975B5C398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1EAB4-5890-4D94-7CCB-25A4134CF0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772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altLang="zh-CN" sz="30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Harness</a:t>
            </a:r>
            <a:r>
              <a:rPr lang="zh-CN" altLang="en-US" sz="30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 素养</a:t>
            </a:r>
            <a:r>
              <a:rPr lang="en-US" altLang="zh-CN" sz="30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5</a:t>
            </a:r>
            <a:r>
              <a:rPr lang="zh-CN" altLang="en-US" sz="30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期</a:t>
            </a:r>
            <a:r>
              <a:rPr lang="en-US" altLang="zh-CN" sz="30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zh-CN" altLang="en-US" sz="30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工具调用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Tool 到 Skill 到 MCP，把 Agent 的手脚接起来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930301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930301"/>
            <a:ext cx="0" cy="761851"/>
          </a:xfrm>
          <a:prstGeom prst="line">
            <a:avLst/>
          </a:prstGeom>
          <a:noFill/>
          <a:ln w="571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4451" y="2158901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让模型不只会回答，还能可靠地做事。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3073152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3092202"/>
            <a:ext cx="2607766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110954" y="307315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7950" y="4223296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12713" y="307315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95176" y="3288953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5176" y="3523655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5176" y="3847505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调用一个本地能力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68117" y="3073152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68117" y="3092202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871121" y="307315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268117" y="4223296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272879" y="307315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455343" y="3288953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55343" y="3523655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55343" y="3847505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按一套可复用 SOP 做事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28283" y="3073152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28283" y="3092202"/>
            <a:ext cx="2607766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631287" y="307315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028283" y="4223296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033046" y="307315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215509" y="3288953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5509" y="3523655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远端桥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5509" y="3847505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连接外部服务与上下文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本期主线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一条能力延伸线，不是三个孤立专题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→ 方法论 → 远端，逐层把 Agent 的能力接出去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03202"/>
            <a:ext cx="1917650" cy="1151632"/>
          </a:xfrm>
          <a:prstGeom prst="roundRect">
            <a:avLst>
              <a:gd name="adj" fmla="val 8822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22252"/>
            <a:ext cx="191765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803202"/>
            <a:ext cx="0" cy="11516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950071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03202"/>
            <a:ext cx="0" cy="11516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1775" y="1942802"/>
            <a:ext cx="170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1775" y="2171402"/>
            <a:ext cx="1703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775" y="2457152"/>
            <a:ext cx="170340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本地原子能力：我能调用一个函数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78001" y="1803202"/>
            <a:ext cx="1917799" cy="1151632"/>
          </a:xfrm>
          <a:prstGeom prst="roundRect">
            <a:avLst>
              <a:gd name="adj" fmla="val 8822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78001" y="1822252"/>
            <a:ext cx="1917799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91038" y="1803202"/>
            <a:ext cx="0" cy="11516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78001" y="2950071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82763" y="1803202"/>
            <a:ext cx="0" cy="11516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01826" y="1942802"/>
            <a:ext cx="170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01826" y="2171402"/>
            <a:ext cx="17035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01826" y="2457152"/>
            <a:ext cx="170355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经验封装：我知道按什么方法做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1803202"/>
            <a:ext cx="1917650" cy="1151632"/>
          </a:xfrm>
          <a:prstGeom prst="roundRect">
            <a:avLst>
              <a:gd name="adj" fmla="val 8822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1822252"/>
            <a:ext cx="191765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61088" y="1803202"/>
            <a:ext cx="0" cy="11516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48200" y="2950071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652962" y="1803202"/>
            <a:ext cx="0" cy="11516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772025" y="1942802"/>
            <a:ext cx="170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72025" y="2171402"/>
            <a:ext cx="1703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2025" y="2457152"/>
            <a:ext cx="170340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远端桥接：我能连接外部服务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18250" y="1803202"/>
            <a:ext cx="1917799" cy="1151632"/>
          </a:xfrm>
          <a:prstGeom prst="roundRect">
            <a:avLst>
              <a:gd name="adj" fmla="val 8822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8250" y="1822252"/>
            <a:ext cx="1917799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1287" y="1803202"/>
            <a:ext cx="0" cy="11516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718250" y="2950071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723013" y="1803202"/>
            <a:ext cx="0" cy="11516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842075" y="1942802"/>
            <a:ext cx="170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42075" y="2171402"/>
            <a:ext cx="17035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42075" y="2495252"/>
            <a:ext cx="170355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研发生产：我能交付并沉淀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950" y="3132534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36525" y="3132534"/>
            <a:ext cx="0" cy="761851"/>
          </a:xfrm>
          <a:prstGeom prst="line">
            <a:avLst/>
          </a:prstGeom>
          <a:noFill/>
          <a:ln w="5715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4451" y="3361134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能力越往右，边界越远；工程约束也必须一起变强。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先分清楚四个词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四个词，最后都变成了上下文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原子能力 / 知识库 / 方法论 / 指导方向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54101"/>
            <a:ext cx="1917650" cy="1595884"/>
          </a:xfrm>
          <a:prstGeom prst="roundRect">
            <a:avLst>
              <a:gd name="adj" fmla="val 636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73151"/>
            <a:ext cx="191765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854101"/>
            <a:ext cx="0" cy="159588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445222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54101"/>
            <a:ext cx="0" cy="159588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6990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304604"/>
            <a:ext cx="1574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让模型做一件事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628454"/>
            <a:ext cx="1574063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函数、参数、执行结果。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78001" y="1854101"/>
            <a:ext cx="1917799" cy="1595884"/>
          </a:xfrm>
          <a:prstGeom prst="roundRect">
            <a:avLst>
              <a:gd name="adj" fmla="val 636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78001" y="1873151"/>
            <a:ext cx="191779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91038" y="1854101"/>
            <a:ext cx="0" cy="159588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78001" y="3445222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82763" y="1854101"/>
            <a:ext cx="0" cy="159588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65227" y="206990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5227" y="2304604"/>
            <a:ext cx="1574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让模型知道资料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65227" y="2628454"/>
            <a:ext cx="157421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检索、片段、引用证据。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1854101"/>
            <a:ext cx="1917650" cy="1595884"/>
          </a:xfrm>
          <a:prstGeom prst="roundRect">
            <a:avLst>
              <a:gd name="adj" fmla="val 636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1873151"/>
            <a:ext cx="1917650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61088" y="1854101"/>
            <a:ext cx="0" cy="159588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48200" y="3445222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652962" y="1854101"/>
            <a:ext cx="0" cy="159588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35426" y="206990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35426" y="2304604"/>
            <a:ext cx="1574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让模型按方法做事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35426" y="2628454"/>
            <a:ext cx="157406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步骤、约束、检查、兜底。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18250" y="1854101"/>
            <a:ext cx="1917799" cy="1595884"/>
          </a:xfrm>
          <a:prstGeom prst="roundRect">
            <a:avLst>
              <a:gd name="adj" fmla="val 636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8250" y="1873151"/>
            <a:ext cx="1917799" cy="0"/>
          </a:xfrm>
          <a:prstGeom prst="line">
            <a:avLst/>
          </a:prstGeom>
          <a:noFill/>
          <a:ln w="38100">
            <a:solidFill>
              <a:srgbClr val="93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1287" y="1854101"/>
            <a:ext cx="0" cy="159588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718250" y="3445222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723013" y="1854101"/>
            <a:ext cx="0" cy="159588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05476" y="206990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5476" y="2304604"/>
            <a:ext cx="1574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让模型理解当前任务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5476" y="2876104"/>
            <a:ext cx="157421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角色、目标、上下文、输出格式。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950" y="3602385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36525" y="3602385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4451" y="3830985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相同点：都能影响上下文；不同点：能力、知识、方法、方向不可互换。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30</a:t>
            </a:r>
            <a:endParaRPr lang="en-US" sz="9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4459C0E5-BC2B-B99A-C18C-EE3D55730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250" y="769317"/>
            <a:ext cx="1917651" cy="9986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2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定义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是“函数的说明书”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大模型能读懂代码，但不能直接执行代码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2776180"/>
            <a:ext cx="4003250" cy="548533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2776180"/>
            <a:ext cx="0" cy="548533"/>
          </a:xfrm>
          <a:prstGeom prst="line">
            <a:avLst/>
          </a:prstGeom>
          <a:noFill/>
          <a:ln w="571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0231" y="2940772"/>
            <a:ext cx="3631035" cy="21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= 给模型看的能力说明 + 给引擎执行的函数入口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94971" y="1669253"/>
            <a:ext cx="3893630" cy="831532"/>
          </a:xfrm>
          <a:prstGeom prst="roundRect">
            <a:avLst>
              <a:gd name="adj" fmla="val 12218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94971" y="1688303"/>
            <a:ext cx="389363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483839" y="1669253"/>
            <a:ext cx="0" cy="8315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594971" y="2496022"/>
            <a:ext cx="389363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599734" y="1669253"/>
            <a:ext cx="0" cy="8315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29774" y="1824629"/>
            <a:ext cx="369650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29774" y="1993615"/>
            <a:ext cx="3696505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叫什么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9774" y="2226787"/>
            <a:ext cx="3696505" cy="139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唯一标识，模型知道能力的名字。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94971" y="2500785"/>
            <a:ext cx="3893630" cy="831533"/>
          </a:xfrm>
          <a:prstGeom prst="roundRect">
            <a:avLst>
              <a:gd name="adj" fmla="val 12218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94971" y="2519835"/>
            <a:ext cx="389363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483839" y="2500785"/>
            <a:ext cx="0" cy="83153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94971" y="3327555"/>
            <a:ext cx="389363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99734" y="2500785"/>
            <a:ext cx="0" cy="83153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29774" y="2656162"/>
            <a:ext cx="369650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29774" y="2825147"/>
            <a:ext cx="3696505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何时用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29774" y="3058319"/>
            <a:ext cx="3696505" cy="139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用途与调用时机，提供语义依据。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94971" y="3332318"/>
            <a:ext cx="3893630" cy="831533"/>
          </a:xfrm>
          <a:prstGeom prst="roundRect">
            <a:avLst>
              <a:gd name="adj" fmla="val 12218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94971" y="3351368"/>
            <a:ext cx="3893630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483839" y="3332318"/>
            <a:ext cx="0" cy="83153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594971" y="4159088"/>
            <a:ext cx="389363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599734" y="3332318"/>
            <a:ext cx="0" cy="83153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729774" y="3487694"/>
            <a:ext cx="369650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29774" y="3656680"/>
            <a:ext cx="3696505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怎么传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29774" y="3889852"/>
            <a:ext cx="3696505" cy="139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输入结构，约束参数形状。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7951" y="3619649"/>
            <a:ext cx="4003245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36525" y="3619649"/>
            <a:ext cx="0" cy="761851"/>
          </a:xfrm>
          <a:prstGeom prst="line">
            <a:avLst/>
          </a:prstGeom>
          <a:noFill/>
          <a:ln w="571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44451" y="3848249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模型决定要不要用；Agent 引擎负责真的去用。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30</a:t>
            </a:r>
            <a:endParaRPr lang="en-US" sz="9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6FAFD7AA-CC9A-0D52-D784-1FA3354D3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31" y="1544433"/>
            <a:ext cx="2801034" cy="1147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结构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Tool = 一份 Schema + 一个函数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给模型看，执行体给 Agent 引擎看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2650" y="1854101"/>
            <a:ext cx="3936950" cy="1882378"/>
          </a:xfrm>
          <a:prstGeom prst="roundRect">
            <a:avLst>
              <a:gd name="adj" fmla="val 53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2650" y="1873151"/>
            <a:ext cx="393695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14838" y="1854101"/>
            <a:ext cx="0" cy="1882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82650" y="3731716"/>
            <a:ext cx="39369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87412" y="1854101"/>
            <a:ext cx="0" cy="1882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69875" y="2069902"/>
            <a:ext cx="36337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/ MODEL 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24400" y="1854101"/>
            <a:ext cx="3936950" cy="1882378"/>
          </a:xfrm>
          <a:prstGeom prst="roundRect">
            <a:avLst>
              <a:gd name="adj" fmla="val 53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24400" y="1873151"/>
            <a:ext cx="3936950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56588" y="1854101"/>
            <a:ext cx="0" cy="1882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724400" y="3731716"/>
            <a:ext cx="39369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29163" y="1854101"/>
            <a:ext cx="0" cy="1882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911626" y="2069902"/>
            <a:ext cx="36337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/ RUNTIME 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888879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6525" y="3888879"/>
            <a:ext cx="0" cy="761851"/>
          </a:xfrm>
          <a:prstGeom prst="line">
            <a:avLst/>
          </a:prstGeom>
          <a:noFill/>
          <a:ln w="5715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44451" y="4117479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↔ 函数名　 parameters ↔ 参数签名　 description ↔ 调用语境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30</a:t>
            </a:r>
            <a:endParaRPr lang="en-US" sz="9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9007859-934C-DFEC-7A8E-3DC6E8D44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26" y="2406254"/>
            <a:ext cx="3936950" cy="129924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5C8C02F-E805-D3A4-1311-C5B0D6FDE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626" y="2324370"/>
            <a:ext cx="3231251" cy="1399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全链路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一次工具调用的五步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加载 → 语义匹配 → 填参 → 本地执行 → 回传判断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03202"/>
            <a:ext cx="1503611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22252"/>
            <a:ext cx="1503611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00679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988171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1775" y="1942802"/>
            <a:ext cx="1281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1775" y="2171402"/>
            <a:ext cx="12810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775" y="2495252"/>
            <a:ext cx="128108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把可用 Tool 的说明放入当前可见范围。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63961" y="1803202"/>
            <a:ext cx="1503759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63961" y="1822252"/>
            <a:ext cx="1503759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6295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163961" y="2988171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16872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287786" y="1942802"/>
            <a:ext cx="128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87786" y="2171402"/>
            <a:ext cx="12812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7786" y="2495252"/>
            <a:ext cx="128123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根据用户意图选择最合适的 Tool。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20120" y="1803202"/>
            <a:ext cx="1503611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820120" y="1822252"/>
            <a:ext cx="1503611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1896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820120" y="2988171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82488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943945" y="1942802"/>
            <a:ext cx="1281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43945" y="2171402"/>
            <a:ext cx="12810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43945" y="2495252"/>
            <a:ext cx="128108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生成符合 Schema 的参数。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76131" y="1803202"/>
            <a:ext cx="1503759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76131" y="1822252"/>
            <a:ext cx="1503759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97512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476131" y="2988171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48089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599956" y="1942802"/>
            <a:ext cx="128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99956" y="2171402"/>
            <a:ext cx="12812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99956" y="2495252"/>
            <a:ext cx="128123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引擎在授权运行时调用函数。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32290" y="1803202"/>
            <a:ext cx="1503759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132290" y="1822252"/>
            <a:ext cx="1503759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31287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132290" y="2988171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3705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256115" y="1942802"/>
            <a:ext cx="128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56115" y="2171402"/>
            <a:ext cx="12812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回传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56115" y="2495252"/>
            <a:ext cx="128123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result/error 交回模型，决定下一步。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7950" y="3170634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36525" y="3170634"/>
            <a:ext cx="0" cy="761851"/>
          </a:xfrm>
          <a:prstGeom prst="line">
            <a:avLst/>
          </a:prstGeom>
          <a:noFill/>
          <a:ln w="5715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44451" y="3399234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模型看见“我要调用”和“执行结果”，看不见函数内部怎么跑。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807B8-E166-CDC9-85EC-940E8300D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4F25A1D8-7AD8-A433-7766-845A08F245D0}"/>
              </a:ext>
            </a:extLst>
          </p:cNvPr>
          <p:cNvSpPr/>
          <p:nvPr/>
        </p:nvSpPr>
        <p:spPr>
          <a:xfrm>
            <a:off x="60385" y="0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27B6B7D-C10B-6EBC-1BF2-8C3F032A06CB}"/>
              </a:ext>
            </a:extLst>
          </p:cNvPr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全链路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9AAD06-67D3-76EC-D699-E5757D955291}"/>
              </a:ext>
            </a:extLst>
          </p:cNvPr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一次工具调用的五步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673F95-D62A-5D77-7D93-1BED34B2C091}"/>
              </a:ext>
            </a:extLst>
          </p:cNvPr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加载 → 语义匹配 → 填参 → 本地执行 → 回传判断</a:t>
            </a:r>
            <a:endParaRPr lang="en-US" sz="14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FC25C463-9EFA-4B16-88F9-5C8CDF067C14}"/>
              </a:ext>
            </a:extLst>
          </p:cNvPr>
          <p:cNvSpPr/>
          <p:nvPr/>
        </p:nvSpPr>
        <p:spPr>
          <a:xfrm>
            <a:off x="848406" y="4550195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55D4D0F-767A-D599-3767-62527780C626}"/>
              </a:ext>
            </a:extLst>
          </p:cNvPr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76BD893-B5F7-E190-CC4E-D7E7DA503271}"/>
              </a:ext>
            </a:extLst>
          </p:cNvPr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CDE7F7F-1BE7-6A30-5678-098EE840E0E5}"/>
              </a:ext>
            </a:extLst>
          </p:cNvPr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30</a:t>
            </a:r>
            <a:endParaRPr lang="en-US" sz="900" dirty="0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25DD389D-7C06-C05D-5C21-B67A7442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49" y="2121491"/>
            <a:ext cx="1868909" cy="171084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107950" dist="12700" dir="5400000" algn="ctr">
              <a:srgbClr val="000000"/>
            </a:outerShdw>
          </a:effectLst>
        </p:spPr>
      </p:pic>
      <p:sp>
        <p:nvSpPr>
          <p:cNvPr id="56" name="Text 2">
            <a:extLst>
              <a:ext uri="{FF2B5EF4-FFF2-40B4-BE49-F238E27FC236}">
                <a16:creationId xmlns:a16="http://schemas.microsoft.com/office/drawing/2014/main" id="{358BEA0F-9C42-6DF4-E4FF-0F22ED6A59DD}"/>
              </a:ext>
            </a:extLst>
          </p:cNvPr>
          <p:cNvSpPr/>
          <p:nvPr/>
        </p:nvSpPr>
        <p:spPr>
          <a:xfrm>
            <a:off x="507949" y="1428602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 err="1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基于deepseek</a:t>
            </a:r>
            <a:r>
              <a:rPr lang="zh-CN" alt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r>
              <a:rPr lang="zh-CN" alt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技术框架拆解</a:t>
            </a:r>
            <a:endParaRPr lang="en-US" sz="1400" dirty="0"/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1E06D294-42DB-DFE3-50D5-4B42C0A90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766" y="2467556"/>
            <a:ext cx="1800555" cy="92662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107950" dist="12700" dir="5400000" algn="ctr">
              <a:srgbClr val="000000"/>
            </a:outerShdw>
          </a:effectLst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5AC8DE7F-FDE2-BDB1-A2B0-BE9FD46145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0160" y="2121491"/>
            <a:ext cx="2398865" cy="173186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107950" dist="12700" dir="5400000" algn="ctr">
              <a:srgbClr val="000000"/>
            </a:outerShdw>
          </a:effectLst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832532FD-228A-CD8B-03C3-4E54EA591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981" y="1822523"/>
            <a:ext cx="1896629" cy="240972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107950" dist="12700" dir="5400000" algn="ctr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341791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DAED-86EE-81B4-47C8-B7CE4DC4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1A65F462-E5D9-E310-C840-8936CE50F9DE}"/>
              </a:ext>
            </a:extLst>
          </p:cNvPr>
          <p:cNvSpPr/>
          <p:nvPr/>
        </p:nvSpPr>
        <p:spPr>
          <a:xfrm>
            <a:off x="60385" y="0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74D19BB-4862-8662-6068-D9B5FB00344F}"/>
              </a:ext>
            </a:extLst>
          </p:cNvPr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全链路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FD582B-C118-1C7B-F586-1377F5BB3198}"/>
              </a:ext>
            </a:extLst>
          </p:cNvPr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一次工具调用的五步</a:t>
            </a:r>
            <a:endParaRPr lang="en-US" sz="30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9F6C789-9261-8168-12A7-1E4BC7E4143B}"/>
              </a:ext>
            </a:extLst>
          </p:cNvPr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91830A54-6674-D985-834D-69FC55B6106E}"/>
              </a:ext>
            </a:extLst>
          </p:cNvPr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6196DD9-F5D7-D440-1A37-E6C32F46D60D}"/>
              </a:ext>
            </a:extLst>
          </p:cNvPr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30</a:t>
            </a:r>
            <a:endParaRPr lang="en-US" sz="9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2C7538-9929-4962-B8BC-9EB9CB4D3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8" y="1280747"/>
            <a:ext cx="5693222" cy="3347810"/>
          </a:xfrm>
          <a:prstGeom prst="rect">
            <a:avLst/>
          </a:prstGeom>
          <a:solidFill>
            <a:schemeClr val="bg1"/>
          </a:solidFill>
          <a:ln w="19050">
            <a:solidFill>
              <a:srgbClr val="8EFA00"/>
            </a:solidFill>
          </a:ln>
          <a:effectLst>
            <a:outerShdw blurRad="107950" dist="12700" dir="5400000" algn="ctr">
              <a:srgbClr val="000000"/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35D5BF-7F76-86C0-3858-A85CB215A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236" y="1280216"/>
            <a:ext cx="1642198" cy="160033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107950" dist="12700" dir="5400000" algn="ctr">
              <a:srgbClr val="000000"/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CC1CC92-2C91-8991-4BBE-B442A41CAE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067"/>
          <a:stretch>
            <a:fillRect/>
          </a:stretch>
        </p:blipFill>
        <p:spPr>
          <a:xfrm>
            <a:off x="6660099" y="2954652"/>
            <a:ext cx="1642199" cy="167390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107950" dist="12700" dir="5400000" algn="ctr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9657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底层原理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不是只会思考，而是让推理与行动交错发生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64455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→ Action → Observation；观察结果回到下一轮推理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450" y="2320522"/>
            <a:ext cx="1198587" cy="898273"/>
          </a:xfrm>
          <a:prstGeom prst="roundRect">
            <a:avLst>
              <a:gd name="adj" fmla="val 11311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6450" y="2339572"/>
            <a:ext cx="1198587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600274" y="2320522"/>
            <a:ext cx="0" cy="89827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47591" y="3290436"/>
            <a:ext cx="119858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11212" y="2320522"/>
            <a:ext cx="0" cy="89827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03033" y="2429411"/>
            <a:ext cx="1025529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3033" y="2607719"/>
            <a:ext cx="1025529" cy="163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3033" y="2830604"/>
            <a:ext cx="1025529" cy="301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规划、判断、处理异常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23909" y="2320522"/>
            <a:ext cx="1198703" cy="898273"/>
          </a:xfrm>
          <a:prstGeom prst="roundRect">
            <a:avLst>
              <a:gd name="adj" fmla="val 11311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723909" y="2339572"/>
            <a:ext cx="119870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917850" y="2320522"/>
            <a:ext cx="0" cy="89827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728671" y="2320522"/>
            <a:ext cx="0" cy="89827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820492" y="2429411"/>
            <a:ext cx="1025647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0492" y="2607719"/>
            <a:ext cx="1025647" cy="163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0492" y="2830604"/>
            <a:ext cx="1025647" cy="1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搜索或调用外部环境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41484" y="2320522"/>
            <a:ext cx="1198587" cy="898273"/>
          </a:xfrm>
          <a:prstGeom prst="roundRect">
            <a:avLst>
              <a:gd name="adj" fmla="val 11311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041484" y="2339572"/>
            <a:ext cx="1198587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235309" y="2320522"/>
            <a:ext cx="0" cy="89827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046247" y="2320522"/>
            <a:ext cx="0" cy="89827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138068" y="2429411"/>
            <a:ext cx="1025529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138068" y="2607720"/>
            <a:ext cx="1151914" cy="16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38068" y="2830604"/>
            <a:ext cx="1025529" cy="301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取得证据，回到下一轮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6166" y="3374369"/>
            <a:ext cx="0" cy="594244"/>
          </a:xfrm>
          <a:prstGeom prst="line">
            <a:avLst/>
          </a:prstGeom>
          <a:noFill/>
          <a:ln w="571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418379" y="2241352"/>
            <a:ext cx="4043621" cy="1769730"/>
          </a:xfrm>
          <a:prstGeom prst="roundRect">
            <a:avLst>
              <a:gd name="adj" fmla="val 5741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418379" y="2260402"/>
            <a:ext cx="4043621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457238" y="2241352"/>
            <a:ext cx="0" cy="176973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423142" y="2241352"/>
            <a:ext cx="0" cy="176973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90864" y="3401883"/>
            <a:ext cx="7866374" cy="10665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77666" y="3391401"/>
            <a:ext cx="0" cy="1066502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49091" y="4723115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30</a:t>
            </a:r>
            <a:endParaRPr lang="en-US" sz="900" dirty="0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7895789A-2339-9538-1C2C-4A30E38B8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847" y="2298389"/>
            <a:ext cx="4005391" cy="992047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78EF15F7-4E93-ED88-D603-4817315F3456}"/>
              </a:ext>
            </a:extLst>
          </p:cNvPr>
          <p:cNvSpPr txBox="1"/>
          <p:nvPr/>
        </p:nvSpPr>
        <p:spPr>
          <a:xfrm>
            <a:off x="616967" y="3670029"/>
            <a:ext cx="7936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以前的模型是"想完了才动手"，ReAct 是"想一点 → 动一下手 → 看看结果 → 再想下一步"。走错了就现场纠正，而不是一条道想到黑。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机制一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vs 按需加载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 Token，也减干扰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79402"/>
            <a:ext cx="3987850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98452"/>
            <a:ext cx="398785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91038" y="187940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029545"/>
            <a:ext cx="39878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7940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95202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LOADED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329904"/>
            <a:ext cx="3685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始终可见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653754"/>
            <a:ext cx="368566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简单、稳定；但上下文占用和候选噪声增加。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8200" y="1879402"/>
            <a:ext cx="3987850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48200" y="1898452"/>
            <a:ext cx="3987850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631287" y="187940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648200" y="3029545"/>
            <a:ext cx="39878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652962" y="187940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835426" y="2095202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DEMAND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35426" y="2329904"/>
            <a:ext cx="3685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按需调起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35426" y="2653754"/>
            <a:ext cx="3685666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先看目录/类别，需要时加载详情；需要更清晰的分类。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950" y="3212009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6525" y="3212009"/>
            <a:ext cx="0" cy="761851"/>
          </a:xfrm>
          <a:prstGeom prst="line">
            <a:avLst/>
          </a:prstGeom>
          <a:noFill/>
          <a:ln w="5715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44451" y="3440609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工具少 → 简单优先；工具多 → 分类、权限、按需加载。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950" y="425321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“4200 次请求 / 前 5 工具占 50%”</a:t>
            </a:r>
            <a:r>
              <a:rPr lang="zh-CN" altLang="en-US" sz="12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30</a:t>
            </a:r>
            <a:endParaRPr lang="en-US" sz="9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9142F786-15E5-3C16-9651-01084D9FC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87" y="1556013"/>
            <a:ext cx="8128100" cy="4472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机制二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敏感操作必须过人工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写文件、删除、批量执行，都要拦截确认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54101"/>
            <a:ext cx="1917650" cy="1012031"/>
          </a:xfrm>
          <a:prstGeom prst="roundRect">
            <a:avLst>
              <a:gd name="adj" fmla="val 10039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73151"/>
            <a:ext cx="191765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854101"/>
            <a:ext cx="0" cy="10120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861370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54101"/>
            <a:ext cx="0" cy="10120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27979" y="1993702"/>
            <a:ext cx="1677594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7979" y="2552551"/>
            <a:ext cx="1677594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只读：查询/计算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001" y="1854101"/>
            <a:ext cx="1917799" cy="1012031"/>
          </a:xfrm>
          <a:prstGeom prst="roundRect">
            <a:avLst>
              <a:gd name="adj" fmla="val 10039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78001" y="1873151"/>
            <a:ext cx="191779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491038" y="1854101"/>
            <a:ext cx="0" cy="10120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578001" y="2861370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82763" y="1854101"/>
            <a:ext cx="0" cy="10120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698028" y="1993702"/>
            <a:ext cx="1677745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698028" y="2552551"/>
            <a:ext cx="1677745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可撤销写入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8200" y="1854101"/>
            <a:ext cx="1917650" cy="1012031"/>
          </a:xfrm>
          <a:prstGeom prst="roundRect">
            <a:avLst>
              <a:gd name="adj" fmla="val 10039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48200" y="1873151"/>
            <a:ext cx="191765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561088" y="1854101"/>
            <a:ext cx="0" cy="10120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648200" y="2861370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652962" y="1854101"/>
            <a:ext cx="0" cy="10120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768228" y="1993702"/>
            <a:ext cx="1677594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768228" y="2552551"/>
            <a:ext cx="1677594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影响共享状态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8250" y="1854101"/>
            <a:ext cx="1917799" cy="1012031"/>
          </a:xfrm>
          <a:prstGeom prst="roundRect">
            <a:avLst>
              <a:gd name="adj" fmla="val 10039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718250" y="1873151"/>
            <a:ext cx="1917799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631287" y="1854101"/>
            <a:ext cx="0" cy="10120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718250" y="2861370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723013" y="1854101"/>
            <a:ext cx="0" cy="101203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38277" y="1993702"/>
            <a:ext cx="1677745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838277" y="2552551"/>
            <a:ext cx="1677745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删除/下单/批量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20788" y="1181249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白名单 + 分级 + 确认；全放开就只能靠人眼盯住。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30</a:t>
            </a:r>
            <a:endParaRPr lang="en-US" sz="900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9F06EB34-AD62-55DC-576F-776DB9CC5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74" y="3034718"/>
            <a:ext cx="8141714" cy="11889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· 反问型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信息缺失时，主动反问用户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澄清意图、消除歧义、让用户做选择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03202"/>
            <a:ext cx="3975199" cy="1949351"/>
          </a:xfrm>
          <a:prstGeom prst="roundRect">
            <a:avLst>
              <a:gd name="adj" fmla="val 5212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22252"/>
            <a:ext cx="3975199" cy="0"/>
          </a:xfrm>
          <a:prstGeom prst="line">
            <a:avLst/>
          </a:prstGeom>
          <a:noFill/>
          <a:ln w="38100">
            <a:solidFill>
              <a:srgbClr val="93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78387" y="1803202"/>
            <a:ext cx="0" cy="194935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747790"/>
            <a:ext cx="39751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03202"/>
            <a:ext cx="0" cy="194935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18976" y="1942802"/>
            <a:ext cx="382821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步 · 凭记忆复述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8976" y="2177504"/>
            <a:ext cx="3753148" cy="1288852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/Users/amerlin/Desktop/ai-兴趣小组/01-筹备文档/005-tools使用/ppt/assets/case-tennis-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77" y="2202805"/>
            <a:ext cx="3702546" cy="12382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8976" y="3504456"/>
            <a:ext cx="382821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凭记忆给出郑钦文参赛赛程,但信息过期。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60850" y="1803202"/>
            <a:ext cx="3975199" cy="1949351"/>
          </a:xfrm>
          <a:prstGeom prst="roundRect">
            <a:avLst>
              <a:gd name="adj" fmla="val 5212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660850" y="1822252"/>
            <a:ext cx="3975199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631287" y="1803202"/>
            <a:ext cx="0" cy="194935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660850" y="3747790"/>
            <a:ext cx="39751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665613" y="1803202"/>
            <a:ext cx="0" cy="1949351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4771876" y="1942802"/>
            <a:ext cx="382821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步 · 质疑并核实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71876" y="2177504"/>
            <a:ext cx="3753148" cy="1288852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/Users/amerlin/Desktop/ai-兴趣小组/01-筹备文档/005-tools使用/ppt/assets/case-tennis-corr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177" y="2202805"/>
            <a:ext cx="3702546" cy="12382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71876" y="3504456"/>
            <a:ext cx="382821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反问 → 核实 → 修正为退赛信息。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7950" y="3854053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536525" y="3854053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844451" y="4082653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猜测用户意图 ✗　　质疑前提 + 核实事实 ✓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· 定义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是“人类知识与经验凝练的方法论”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一个做事情的 SOP，不只是一段代码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79402"/>
            <a:ext cx="1503611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98452"/>
            <a:ext cx="1503611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006798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222873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95202"/>
            <a:ext cx="11517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329904"/>
            <a:ext cx="11517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653754"/>
            <a:ext cx="115174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先做什么，后做什么。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63961" y="1879402"/>
            <a:ext cx="1503759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63961" y="1898452"/>
            <a:ext cx="150375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62958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163961" y="3222873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168723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351187" y="2095202"/>
            <a:ext cx="115189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51187" y="2329904"/>
            <a:ext cx="11518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条件判断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51187" y="2653754"/>
            <a:ext cx="115189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什么时候走哪条分支。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20120" y="1879402"/>
            <a:ext cx="1503611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820120" y="1898452"/>
            <a:ext cx="1503611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18968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820120" y="3222873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824883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007346" y="2095202"/>
            <a:ext cx="11517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07346" y="2329904"/>
            <a:ext cx="11517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07346" y="2653754"/>
            <a:ext cx="115174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什么不能做，必须满足什么。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76131" y="1879402"/>
            <a:ext cx="1503759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76131" y="1898452"/>
            <a:ext cx="1503759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975128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476131" y="3222873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480893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3357" y="2095202"/>
            <a:ext cx="115189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3357" y="2329904"/>
            <a:ext cx="11518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踩坑案例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63357" y="2653754"/>
            <a:ext cx="115189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哪些失败已经发生过。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32290" y="1879402"/>
            <a:ext cx="1503759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132290" y="1898452"/>
            <a:ext cx="150375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31287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132290" y="3222873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37053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319516" y="2095202"/>
            <a:ext cx="115189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9516" y="2329904"/>
            <a:ext cx="11518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异常兜底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19516" y="2653754"/>
            <a:ext cx="115189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失败时重试、升级或请求人工。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7950" y="3405336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36525" y="3405336"/>
            <a:ext cx="0" cy="761851"/>
          </a:xfrm>
          <a:prstGeom prst="line">
            <a:avLst/>
          </a:prstGeom>
          <a:noFill/>
          <a:ln w="571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44451" y="3633936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给手脚；Skill 给做事的方法。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· 物理构成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+ 脚本 + 知识 + 模板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打包在一起，就是一个完整的小系统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3694" y="1752451"/>
            <a:ext cx="6507307" cy="2769679"/>
          </a:xfrm>
          <a:prstGeom prst="roundRect">
            <a:avLst>
              <a:gd name="adj" fmla="val 3668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3694" y="1771501"/>
            <a:ext cx="6507307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956239" y="1752451"/>
            <a:ext cx="0" cy="276967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3694" y="4517368"/>
            <a:ext cx="650730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58456" y="1752451"/>
            <a:ext cx="0" cy="276967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69774" y="1886248"/>
            <a:ext cx="6400651" cy="11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目录树 · 课程示例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65664" y="1752451"/>
            <a:ext cx="1306961" cy="692420"/>
          </a:xfrm>
          <a:prstGeom prst="roundRect">
            <a:avLst>
              <a:gd name="adj" fmla="val 1467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165664" y="1771501"/>
            <a:ext cx="1306961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467862" y="1752451"/>
            <a:ext cx="0" cy="69242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165664" y="2440109"/>
            <a:ext cx="130696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170426" y="1752451"/>
            <a:ext cx="0" cy="69242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281743" y="1886248"/>
            <a:ext cx="1096297" cy="11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主体方法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81743" y="2031763"/>
            <a:ext cx="1096297" cy="12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81743" y="2208928"/>
            <a:ext cx="1096297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何时用、怎么做、检查什么。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65664" y="2444871"/>
            <a:ext cx="1306961" cy="692420"/>
          </a:xfrm>
          <a:prstGeom prst="roundRect">
            <a:avLst>
              <a:gd name="adj" fmla="val 1467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165664" y="2463921"/>
            <a:ext cx="1306961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67862" y="2444871"/>
            <a:ext cx="0" cy="69242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65664" y="3132529"/>
            <a:ext cx="130696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170426" y="2444871"/>
            <a:ext cx="0" cy="69242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281743" y="2578668"/>
            <a:ext cx="1096297" cy="11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可执行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81743" y="2724183"/>
            <a:ext cx="1096297" cy="12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81743" y="2901348"/>
            <a:ext cx="1096297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把重复动作交给程序。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65664" y="3137291"/>
            <a:ext cx="1306961" cy="692420"/>
          </a:xfrm>
          <a:prstGeom prst="roundRect">
            <a:avLst>
              <a:gd name="adj" fmla="val 1467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165664" y="3156341"/>
            <a:ext cx="1306961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67862" y="3137291"/>
            <a:ext cx="0" cy="69242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165664" y="3824949"/>
            <a:ext cx="130696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170426" y="3137291"/>
            <a:ext cx="0" cy="69242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281743" y="3271088"/>
            <a:ext cx="1096297" cy="11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领域知识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81743" y="3416603"/>
            <a:ext cx="1096297" cy="12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references/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81743" y="3593768"/>
            <a:ext cx="1096297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规范、案例和长材料。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65664" y="3829711"/>
            <a:ext cx="1306961" cy="692420"/>
          </a:xfrm>
          <a:prstGeom prst="roundRect">
            <a:avLst>
              <a:gd name="adj" fmla="val 1467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7165664" y="3848761"/>
            <a:ext cx="1306961" cy="0"/>
          </a:xfrm>
          <a:prstGeom prst="line">
            <a:avLst/>
          </a:prstGeom>
          <a:noFill/>
          <a:ln w="38100">
            <a:solidFill>
              <a:srgbClr val="93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67862" y="3829711"/>
            <a:ext cx="0" cy="69242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7165664" y="4517368"/>
            <a:ext cx="130696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170426" y="3829711"/>
            <a:ext cx="0" cy="69242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281743" y="3963507"/>
            <a:ext cx="1096297" cy="11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资源模板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81743" y="4109022"/>
            <a:ext cx="1096297" cy="12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assets/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281743" y="4286188"/>
            <a:ext cx="1096297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模板、素材和输出资源。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30</a:t>
            </a:r>
            <a:endParaRPr lang="en-US" sz="900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80ABFF22-2777-1ABA-A2B4-E2AFC9904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60" y="2099971"/>
            <a:ext cx="3129844" cy="2476906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071023CF-76FF-3D1A-73E9-FA2DCC917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638" y="2103966"/>
            <a:ext cx="1179299" cy="2487973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C1D14DD4-87D1-A3F6-09DB-3A22151DA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804" y="2113476"/>
            <a:ext cx="1098063" cy="2486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· 加载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 → 正文 → 按需资源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用渐进式披露，避免 Skill 全量加载撑爆上下文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03202"/>
            <a:ext cx="2607766" cy="996404"/>
          </a:xfrm>
          <a:prstGeom prst="roundRect">
            <a:avLst>
              <a:gd name="adj" fmla="val 101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22252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10954" y="1803202"/>
            <a:ext cx="0" cy="99640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794843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03202"/>
            <a:ext cx="0" cy="99640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1775" y="1942802"/>
            <a:ext cx="2407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1775" y="2171402"/>
            <a:ext cx="2407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元数据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775" y="2495252"/>
            <a:ext cx="240731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名称、用途、触发条件、简短描述。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68117" y="1803202"/>
            <a:ext cx="2607766" cy="996404"/>
          </a:xfrm>
          <a:prstGeom prst="roundRect">
            <a:avLst>
              <a:gd name="adj" fmla="val 101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68117" y="1822252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71121" y="1803202"/>
            <a:ext cx="0" cy="99640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68117" y="2794843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272879" y="1803202"/>
            <a:ext cx="0" cy="99640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391942" y="1942802"/>
            <a:ext cx="2407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91942" y="2171402"/>
            <a:ext cx="2407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正文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91942" y="2495252"/>
            <a:ext cx="240731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流程、约束、判断、验收标准。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28283" y="1803202"/>
            <a:ext cx="2607766" cy="996404"/>
          </a:xfrm>
          <a:prstGeom prst="roundRect">
            <a:avLst>
              <a:gd name="adj" fmla="val 101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28283" y="1822252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631287" y="1803202"/>
            <a:ext cx="0" cy="99640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028283" y="2794843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33046" y="1803202"/>
            <a:ext cx="0" cy="99640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152108" y="1942802"/>
            <a:ext cx="2407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52108" y="2171402"/>
            <a:ext cx="2407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资源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52108" y="2495252"/>
            <a:ext cx="240731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脚本、references、assets、长案例。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950" y="2977307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6525" y="2977307"/>
            <a:ext cx="0" cy="761851"/>
          </a:xfrm>
          <a:prstGeom prst="line">
            <a:avLst/>
          </a:prstGeom>
          <a:noFill/>
          <a:ln w="571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44451" y="3205907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不是把所有经验都塞进上下文，而是在正确时机打开正确一层。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30</a:t>
            </a:r>
            <a:endParaRPr lang="en-US" sz="90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21CE988C-FC79-EC3A-E9EF-D6FD18E31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849" y="2901107"/>
            <a:ext cx="2092578" cy="1432485"/>
          </a:xfrm>
          <a:prstGeom prst="rect">
            <a:avLst/>
          </a:prstGeom>
          <a:ln>
            <a:solidFill>
              <a:srgbClr val="8EFA00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· 形态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五种 Skill 形态：从封装工具到编排流水线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 err="1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便于教学的分类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54101"/>
            <a:ext cx="1503611" cy="1734889"/>
          </a:xfrm>
          <a:prstGeom prst="roundRect">
            <a:avLst>
              <a:gd name="adj" fmla="val 675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73151"/>
            <a:ext cx="1503611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006798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584228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69902"/>
            <a:ext cx="11517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304604"/>
            <a:ext cx="11517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工具封装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628454"/>
            <a:ext cx="115174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规范化已有 Tool/API；工单查询加权限与参数校验。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63961" y="1854101"/>
            <a:ext cx="1503759" cy="1734889"/>
          </a:xfrm>
          <a:prstGeom prst="roundRect">
            <a:avLst>
              <a:gd name="adj" fmla="val 675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63961" y="1873151"/>
            <a:ext cx="150375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62958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163961" y="3584228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168723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351187" y="2069902"/>
            <a:ext cx="115189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51187" y="2304604"/>
            <a:ext cx="11518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51187" y="2628454"/>
            <a:ext cx="115189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按输入产出制品；需求 → PRD。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20120" y="1854101"/>
            <a:ext cx="1503611" cy="1734889"/>
          </a:xfrm>
          <a:prstGeom prst="roundRect">
            <a:avLst>
              <a:gd name="adj" fmla="val 675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820120" y="1873151"/>
            <a:ext cx="1503611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18968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820120" y="3584228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824883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007346" y="2069902"/>
            <a:ext cx="11517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07346" y="2304604"/>
            <a:ext cx="11517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审查器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07346" y="2628454"/>
            <a:ext cx="115174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按标准验收并给修复项；Review MR。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76131" y="1854101"/>
            <a:ext cx="1503759" cy="1734889"/>
          </a:xfrm>
          <a:prstGeom prst="roundRect">
            <a:avLst>
              <a:gd name="adj" fmla="val 675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76131" y="1873151"/>
            <a:ext cx="150375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975128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476131" y="3584228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480893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3357" y="2069902"/>
            <a:ext cx="115189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3357" y="2304604"/>
            <a:ext cx="11518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反转式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63357" y="2628454"/>
            <a:ext cx="115189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先提问补齐输入，再执行方案。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32290" y="1854101"/>
            <a:ext cx="1503759" cy="1734889"/>
          </a:xfrm>
          <a:prstGeom prst="roundRect">
            <a:avLst>
              <a:gd name="adj" fmla="val 675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132290" y="1873151"/>
            <a:ext cx="150375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31287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132290" y="3584228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37053" y="1854101"/>
            <a:ext cx="0" cy="173488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319516" y="2069902"/>
            <a:ext cx="115189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9516" y="2304604"/>
            <a:ext cx="11518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19516" y="2590354"/>
            <a:ext cx="1151894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分阶段串联；提单 → 修复 → Review → 合入。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7950" y="3741390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36525" y="3741390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44451" y="3969990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官方五范式。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· 创建方法一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从对话历史里长出一个 Skill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Skillify：把一次解决问题提炼成可复用流程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03202"/>
            <a:ext cx="1503611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22252"/>
            <a:ext cx="1503611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00679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988171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1775" y="1942802"/>
            <a:ext cx="1281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1775" y="2171402"/>
            <a:ext cx="12810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775" y="2495252"/>
            <a:ext cx="128108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找到重复任务和成功对话。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63961" y="1803202"/>
            <a:ext cx="1503759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63961" y="1822252"/>
            <a:ext cx="150375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6295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163961" y="2988171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16872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287786" y="1942802"/>
            <a:ext cx="128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87786" y="2171402"/>
            <a:ext cx="12812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7786" y="2495252"/>
            <a:ext cx="128123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标出步骤、输入、输出和分支。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20120" y="1803202"/>
            <a:ext cx="1503611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820120" y="1822252"/>
            <a:ext cx="1503611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1896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820120" y="2988171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82488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943945" y="1942802"/>
            <a:ext cx="1281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43945" y="2171402"/>
            <a:ext cx="12810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补约束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43945" y="2495252"/>
            <a:ext cx="128108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写清边界、失败和权限。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76131" y="1803202"/>
            <a:ext cx="1503759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76131" y="1822252"/>
            <a:ext cx="150375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97512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476131" y="2988171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48089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599956" y="1942802"/>
            <a:ext cx="128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99956" y="2171402"/>
            <a:ext cx="12812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成稿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99956" y="2495252"/>
            <a:ext cx="128123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SKILL.md 与必要资源。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32290" y="1803202"/>
            <a:ext cx="1503759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132290" y="1822252"/>
            <a:ext cx="150375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31287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132290" y="2988171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3705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256115" y="1942802"/>
            <a:ext cx="128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56115" y="2171402"/>
            <a:ext cx="12812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试跑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56115" y="2495252"/>
            <a:ext cx="128123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用原任务重演并修订。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3566" y="3069134"/>
            <a:ext cx="2604564" cy="1152602"/>
          </a:xfrm>
          <a:prstGeom prst="roundRect">
            <a:avLst>
              <a:gd name="adj" fmla="val 881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1859" y="3127427"/>
            <a:ext cx="2537737" cy="125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SOP 跑通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1859" y="3287024"/>
            <a:ext cx="2487978" cy="876419"/>
          </a:xfrm>
          <a:prstGeom prst="roundRect">
            <a:avLst>
              <a:gd name="adj" fmla="val 57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0" descr="/Users/amerlin/Desktop/ai-兴趣小组/01-筹备文档/005-tools使用/ppt/assets/demo-fetch-s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4" y="3304229"/>
            <a:ext cx="2453569" cy="84201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3191762" y="3069134"/>
            <a:ext cx="2604665" cy="1152602"/>
          </a:xfrm>
          <a:prstGeom prst="roundRect">
            <a:avLst>
              <a:gd name="adj" fmla="val 881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3250055" y="3127427"/>
            <a:ext cx="2537841" cy="125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反问澄清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3250055" y="3287024"/>
            <a:ext cx="2488079" cy="876419"/>
          </a:xfrm>
          <a:prstGeom prst="roundRect">
            <a:avLst>
              <a:gd name="adj" fmla="val 57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1" descr="/Users/amerlin/Desktop/ai-兴趣小组/01-筹备文档/005-tools使用/ppt/assets/demo-ask-cla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260" y="3304229"/>
            <a:ext cx="2453670" cy="84201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5900059" y="3069134"/>
            <a:ext cx="2604665" cy="1152602"/>
          </a:xfrm>
          <a:prstGeom prst="roundRect">
            <a:avLst>
              <a:gd name="adj" fmla="val 8815"/>
            </a:avLst>
          </a:prstGeom>
          <a:solidFill>
            <a:srgbClr val="1A2740"/>
          </a:solidFill>
          <a:ln w="9525">
            <a:solidFill>
              <a:srgbClr val="2A3A5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5958352" y="3127427"/>
            <a:ext cx="2537841" cy="125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产出产物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5958352" y="3287024"/>
            <a:ext cx="2488079" cy="876419"/>
          </a:xfrm>
          <a:prstGeom prst="roundRect">
            <a:avLst>
              <a:gd name="adj" fmla="val 57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2" descr="/Users/amerlin/Desktop/ai-兴趣小组/01-筹备文档/005-tools使用/ppt/assets/demo-english-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556" y="3304229"/>
            <a:ext cx="2453670" cy="842010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507950" y="4225975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demo：WRITING task 的一次对话 → 长出可复用流程。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4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· 创建方法二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先澄清核心问题，再生成 Skill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/ 路径元素 / 组织形态 / 前置条件 / 输出标准 / 铁律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7282" y="1803202"/>
            <a:ext cx="1220278" cy="1325743"/>
          </a:xfrm>
          <a:prstGeom prst="roundRect">
            <a:avLst>
              <a:gd name="adj" fmla="val 832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97282" y="1822252"/>
            <a:ext cx="1220278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712797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97282" y="3124182"/>
            <a:ext cx="1220278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02045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8297" y="1988790"/>
            <a:ext cx="916214" cy="15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297" y="2190634"/>
            <a:ext cx="91621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交付什么？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297" y="2469145"/>
            <a:ext cx="916214" cy="33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定义最终制品和完成边界。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48624" y="1803202"/>
            <a:ext cx="1220406" cy="1325743"/>
          </a:xfrm>
          <a:prstGeom prst="roundRect">
            <a:avLst>
              <a:gd name="adj" fmla="val 83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848624" y="1822252"/>
            <a:ext cx="122040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064267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48624" y="3124182"/>
            <a:ext cx="122040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853386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009638" y="1988790"/>
            <a:ext cx="916345" cy="15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路径元素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09638" y="2190634"/>
            <a:ext cx="916345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怎么做？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09638" y="2469145"/>
            <a:ext cx="916345" cy="33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步骤、工具和资料。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093" y="1803202"/>
            <a:ext cx="1220278" cy="1325743"/>
          </a:xfrm>
          <a:prstGeom prst="roundRect">
            <a:avLst>
              <a:gd name="adj" fmla="val 832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00093" y="1822252"/>
            <a:ext cx="1220278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415608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200093" y="3124182"/>
            <a:ext cx="1220278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204856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361108" y="1988790"/>
            <a:ext cx="916214" cy="15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组织形态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1108" y="2190634"/>
            <a:ext cx="91621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怎么组织？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61108" y="2469145"/>
            <a:ext cx="916214" cy="498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封装、生成、审查、反转或 Pipeline。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51435" y="1803202"/>
            <a:ext cx="1220406" cy="1325743"/>
          </a:xfrm>
          <a:prstGeom prst="roundRect">
            <a:avLst>
              <a:gd name="adj" fmla="val 83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551435" y="1822252"/>
            <a:ext cx="122040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767078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551435" y="3124182"/>
            <a:ext cx="122040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556197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712449" y="1988790"/>
            <a:ext cx="916344" cy="15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前置条件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12449" y="2190634"/>
            <a:ext cx="91634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需要什么？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12449" y="2469145"/>
            <a:ext cx="916344" cy="33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输入、权限和环境。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02905" y="1803202"/>
            <a:ext cx="1220405" cy="1325743"/>
          </a:xfrm>
          <a:prstGeom prst="roundRect">
            <a:avLst>
              <a:gd name="adj" fmla="val 83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902905" y="1822252"/>
            <a:ext cx="1220405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118547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902905" y="3124182"/>
            <a:ext cx="1220405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907667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063919" y="1988790"/>
            <a:ext cx="916345" cy="15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输出标准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63919" y="2190634"/>
            <a:ext cx="916345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怎样算好？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063919" y="2469145"/>
            <a:ext cx="916345" cy="33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正确、完整、可交付。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254374" y="1803202"/>
            <a:ext cx="1220406" cy="1325743"/>
          </a:xfrm>
          <a:prstGeom prst="roundRect">
            <a:avLst>
              <a:gd name="adj" fmla="val 83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7254374" y="1822252"/>
            <a:ext cx="1220406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470017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254374" y="3124182"/>
            <a:ext cx="122040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259137" y="1803202"/>
            <a:ext cx="0" cy="132574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7415388" y="1988790"/>
            <a:ext cx="916345" cy="15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铁律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15388" y="2190634"/>
            <a:ext cx="916345" cy="42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什么不能做？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415388" y="2682124"/>
            <a:ext cx="916345" cy="166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失败如何升级。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7950" y="3105299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36525" y="3105299"/>
            <a:ext cx="0" cy="761851"/>
          </a:xfrm>
          <a:prstGeom prst="line">
            <a:avLst/>
          </a:prstGeom>
          <a:noFill/>
          <a:ln w="571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44451" y="3333899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问题界定清，模型才知道应该如何工作。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· 静态审核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逐文件检查，证据要具体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 / 元数据 / 结构 / </a:t>
            </a:r>
            <a:r>
              <a:rPr lang="en-US" sz="1400" dirty="0" err="1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54101"/>
            <a:ext cx="1917650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73151"/>
            <a:ext cx="191765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197572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6990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304604"/>
            <a:ext cx="1574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能不能安全跑？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628454"/>
            <a:ext cx="157406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权限、凭据、危险动作、注入边界。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78001" y="1854101"/>
            <a:ext cx="1917799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78001" y="1873151"/>
            <a:ext cx="191779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91038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78001" y="3197572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82763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65227" y="206990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5227" y="2304604"/>
            <a:ext cx="1574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能不能被找到？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65227" y="2628454"/>
            <a:ext cx="157421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名称、描述、触发条件、依赖。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1854101"/>
            <a:ext cx="1917650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1873151"/>
            <a:ext cx="191765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61088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48200" y="3197572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652962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35426" y="206990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35426" y="2304604"/>
            <a:ext cx="1574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能不能照着做？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35426" y="2628454"/>
            <a:ext cx="157406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入口、步骤、分支、资源和输出。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18250" y="1854101"/>
            <a:ext cx="1917799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8250" y="1873151"/>
            <a:ext cx="191779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1287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718250" y="3197572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723013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05476" y="206990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5476" y="2304604"/>
            <a:ext cx="1574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能不能稳定交付？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5476" y="2628454"/>
            <a:ext cx="157421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示例、兜底、复现和验收标准。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950" y="3354735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36525" y="3354735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4451" y="3583335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“一定要 Review” ✗　→　“检查第 3 节是否定义失败重试，并附失败样例” ✓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· 动态审核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 Skill vs </a:t>
            </a:r>
            <a:r>
              <a:rPr lang="en-US" sz="3000" b="1" dirty="0" err="1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裸跑：盲测打分</a:t>
            </a:r>
            <a:r>
              <a:rPr lang="en-US" altLang="zh-CN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zh-CN" alt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</a:t>
            </a:r>
            <a:r>
              <a:rPr lang="en-US" altLang="zh-CN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Agent 并行，裁判盲测，再做回归检测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03202"/>
            <a:ext cx="1917650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22252"/>
            <a:ext cx="191765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988171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1775" y="1942802"/>
            <a:ext cx="170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1775" y="2171402"/>
            <a:ext cx="170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同一任务集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775" y="2495252"/>
            <a:ext cx="170340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边界、中等、注入、压力 case（分类待核）。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78001" y="1803202"/>
            <a:ext cx="1917799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78001" y="1822252"/>
            <a:ext cx="191779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9103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78001" y="2988171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8276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01826" y="1942802"/>
            <a:ext cx="170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01826" y="2171402"/>
            <a:ext cx="17035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01826" y="2495252"/>
            <a:ext cx="170355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裸跑；B 带 Skill。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1803202"/>
            <a:ext cx="1917650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1822252"/>
            <a:ext cx="191765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61088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48200" y="2988171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652962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772025" y="1942802"/>
            <a:ext cx="170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72025" y="2171402"/>
            <a:ext cx="170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裁判盲测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2025" y="2495252"/>
            <a:ext cx="170340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隐藏身份，分别评结构与语义。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18250" y="1803202"/>
            <a:ext cx="1917799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8250" y="1822252"/>
            <a:ext cx="191779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1287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718250" y="2988171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723013" y="18032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842075" y="1942802"/>
            <a:ext cx="170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42075" y="2171402"/>
            <a:ext cx="17035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回归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42075" y="2495252"/>
            <a:ext cx="170355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持续比较，发现退化就回滚。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950" y="3170634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36525" y="3170634"/>
            <a:ext cx="0" cy="761851"/>
          </a:xfrm>
          <a:prstGeom prst="line">
            <a:avLst/>
          </a:prstGeom>
          <a:noFill/>
          <a:ln w="571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4451" y="3399234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&gt; 0：改进；Delta &lt; 0：退化；回归测试让“变好”可持续。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为什么需要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能力延伸到远端，收敛集成复杂度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多应用 × 多服务，中间协议收敛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2650" y="1854101"/>
            <a:ext cx="3924300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2650" y="1873151"/>
            <a:ext cx="392430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02187" y="1854101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82650" y="3004245"/>
            <a:ext cx="392430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87412" y="1854101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69875" y="2069902"/>
            <a:ext cx="362084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没有中间协议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9875" y="2304604"/>
            <a:ext cx="36208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9875" y="2590354"/>
            <a:ext cx="362084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每个应用都要为每个服务写一条定制连接。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37050" y="1854101"/>
            <a:ext cx="3924300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37050" y="1873151"/>
            <a:ext cx="392430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656588" y="1854101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37050" y="3004245"/>
            <a:ext cx="392430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741813" y="1854101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924276" y="2069902"/>
            <a:ext cx="362084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 MCP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24276" y="2304604"/>
            <a:ext cx="36208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两边复用协议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24276" y="2628454"/>
            <a:ext cx="362084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Host/Client 连接 MCP Server，业务能力集中封装。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950" y="3186708"/>
            <a:ext cx="8128099" cy="10665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6525" y="3186708"/>
            <a:ext cx="0" cy="1066502"/>
          </a:xfrm>
          <a:prstGeom prst="line">
            <a:avLst/>
          </a:prstGeom>
          <a:noFill/>
          <a:ln w="5715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44451" y="3415308"/>
            <a:ext cx="7662493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是 for Agent </a:t>
            </a:r>
            <a:r>
              <a:rPr lang="en-US" sz="1600" dirty="0" err="1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的桥</a:t>
            </a: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B87DD-F9CD-FD6A-276A-76959285B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3">
            <a:extLst>
              <a:ext uri="{FF2B5EF4-FFF2-40B4-BE49-F238E27FC236}">
                <a16:creationId xmlns:a16="http://schemas.microsoft.com/office/drawing/2014/main" id="{AD6995F2-B642-4DA1-3862-7AA861AE567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9437555-F1E1-D635-9DE6-3CA68A8746F9}"/>
              </a:ext>
            </a:extLst>
          </p:cNvPr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为什么需要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5D01FD-9E2D-DFE6-AA15-11F2467CF2F5}"/>
              </a:ext>
            </a:extLst>
          </p:cNvPr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能力延伸到远端，收敛集成复杂度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0DDE07-118F-AABA-9FA5-83767DB7E117}"/>
              </a:ext>
            </a:extLst>
          </p:cNvPr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多应用 × 多服务，中间协议收敛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D176BEB-B94E-9332-ED6E-A1E9C27C71BA}"/>
              </a:ext>
            </a:extLst>
          </p:cNvPr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D73F830-45D8-68F0-C45F-25E9C776B9D6}"/>
              </a:ext>
            </a:extLst>
          </p:cNvPr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CF6B763-66F0-9FE1-985A-F1BB69149262}"/>
              </a:ext>
            </a:extLst>
          </p:cNvPr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889EDFD-DCBB-2020-BF61-5EF4928F5213}"/>
              </a:ext>
            </a:extLst>
          </p:cNvPr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30</a:t>
            </a:r>
            <a:endParaRPr lang="en-US" sz="900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FCF8DDE-53E6-53A2-560B-6A9CE4349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1574601"/>
            <a:ext cx="8401236" cy="277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15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对比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RESTful 在 Agent 时代常常不够用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原子接口给研发，任务语义给模型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7950" y="2241352"/>
            <a:ext cx="8128099" cy="0"/>
          </a:xfrm>
          <a:prstGeom prst="line">
            <a:avLst/>
          </a:prstGeom>
          <a:noFill/>
          <a:ln w="190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58701" y="1942951"/>
            <a:ext cx="27289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34184" y="1942951"/>
            <a:ext cx="2729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/ REST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09816" y="1942951"/>
            <a:ext cx="27289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950" y="2633365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58701" y="2339727"/>
            <a:ext cx="27289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34184" y="2339727"/>
            <a:ext cx="2729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描述服务接口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09816" y="2339727"/>
            <a:ext cx="27289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 Agent 能力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7950" y="3020616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58701" y="2726978"/>
            <a:ext cx="27289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粒度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34184" y="2726978"/>
            <a:ext cx="2729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 / CRUD 原子接口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09816" y="2726978"/>
            <a:ext cx="27289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可封装面向任务的 Tool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950" y="3407866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58701" y="3114229"/>
            <a:ext cx="27289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34184" y="3114229"/>
            <a:ext cx="2729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 code 便于程序处理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09816" y="3114229"/>
            <a:ext cx="27289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原因、影响、下一步、可恢复性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950" y="3565029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6525" y="3565029"/>
            <a:ext cx="0" cy="761851"/>
          </a:xfrm>
          <a:prstGeom prst="line">
            <a:avLst/>
          </a:prstGeom>
          <a:noFill/>
          <a:ln w="5715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44451" y="3793629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可组合，不是二选一：MCP Server 仍可由 REST/OpenAPI 后端驱动。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49F46-5031-89F3-DD19-38D05157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3">
            <a:extLst>
              <a:ext uri="{FF2B5EF4-FFF2-40B4-BE49-F238E27FC236}">
                <a16:creationId xmlns:a16="http://schemas.microsoft.com/office/drawing/2014/main" id="{C1DBBBD2-D703-E3A2-2FFD-BDB81A1DB82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6FC9F5D-DCC9-014C-7AEC-27775E29858C}"/>
              </a:ext>
            </a:extLst>
          </p:cNvPr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对比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60E1B4-8A81-4C6D-7746-DC04AC20BF7A}"/>
              </a:ext>
            </a:extLst>
          </p:cNvPr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RESTful 在 Agent 时代常常不够用</a:t>
            </a:r>
            <a:endParaRPr lang="en-US" sz="3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DA3B903-2A48-2F0E-49BA-B8F3E6AF494E}"/>
              </a:ext>
            </a:extLst>
          </p:cNvPr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94123D9-1D71-3C9F-EC84-6ED39C443E6A}"/>
              </a:ext>
            </a:extLst>
          </p:cNvPr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1B6D753-9257-9E84-F41C-C58E4372ED38}"/>
              </a:ext>
            </a:extLst>
          </p:cNvPr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D635919-8B22-137F-E33A-3EC1BBC7EC0C}"/>
              </a:ext>
            </a:extLst>
          </p:cNvPr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30</a:t>
            </a:r>
            <a:endParaRPr lang="en-US" sz="9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807F1D91-7DC8-D95D-34BA-78A00535D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49" y="1178613"/>
            <a:ext cx="8205900" cy="344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44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协议原理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JSON-RPC + 生命周期：初始化、协商、调用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管理连接，Client 做连接器，Server 提供能力；stdio / Streamable HTTP 承载通信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450" y="1930152"/>
            <a:ext cx="1270992" cy="1344960"/>
          </a:xfrm>
          <a:prstGeom prst="roundRect">
            <a:avLst>
              <a:gd name="adj" fmla="val 799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6450" y="1949202"/>
            <a:ext cx="1270992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672679" y="193015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06450" y="3270349"/>
            <a:ext cx="1270992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11212" y="193015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30275" y="2069753"/>
            <a:ext cx="1043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275" y="2298353"/>
            <a:ext cx="10438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275" y="2584103"/>
            <a:ext cx="1043809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应用，管理连接与用户确认。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9842" y="1930152"/>
            <a:ext cx="1270992" cy="1344960"/>
          </a:xfrm>
          <a:prstGeom prst="roundRect">
            <a:avLst>
              <a:gd name="adj" fmla="val 799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829842" y="1949202"/>
            <a:ext cx="1270992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096071" y="193015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29842" y="3270349"/>
            <a:ext cx="1270992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834604" y="193015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953667" y="2069753"/>
            <a:ext cx="1043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53667" y="2298353"/>
            <a:ext cx="10438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53667" y="2584103"/>
            <a:ext cx="1043809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连接器，翻译并转发请求。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53234" y="1930152"/>
            <a:ext cx="1270992" cy="1344960"/>
          </a:xfrm>
          <a:prstGeom prst="roundRect">
            <a:avLst>
              <a:gd name="adj" fmla="val 799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53234" y="1949202"/>
            <a:ext cx="1270992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19464" y="193015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253234" y="3270349"/>
            <a:ext cx="1270992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257996" y="193015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377059" y="2069753"/>
            <a:ext cx="1043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77059" y="2298353"/>
            <a:ext cx="10438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77059" y="2584103"/>
            <a:ext cx="1043809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 Tools / Resources / Prompts。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2826" y="1828651"/>
            <a:ext cx="3908524" cy="1931194"/>
          </a:xfrm>
          <a:prstGeom prst="roundRect">
            <a:avLst>
              <a:gd name="adj" fmla="val 5261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52826" y="1847701"/>
            <a:ext cx="3908524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56588" y="1828651"/>
            <a:ext cx="0" cy="193119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752826" y="3755082"/>
            <a:ext cx="3908524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757589" y="1828651"/>
            <a:ext cx="0" cy="193119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940052" y="2044452"/>
            <a:ext cx="360475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40052" y="2279154"/>
            <a:ext cx="360475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initialize request/response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40052" y="2472482"/>
            <a:ext cx="360475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notifications/initialized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40052" y="2665809"/>
            <a:ext cx="360475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tools/list 与 tools/call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40052" y="2859137"/>
            <a:ext cx="360475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result 或 error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40052" y="3052465"/>
            <a:ext cx="360475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底层传输关闭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7950" y="3886795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36525" y="3886795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44451" y="4115395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先协商版本与能力，再按已协商能力操作；不要把 MCP 概括为“都是长连接/SSE”。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D85E-F688-DA85-3618-0B4A01D26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8CB7F17-3DF3-92EB-E440-6B04188B1B8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89404AB-857D-8371-F40B-AA6456BBC4BF}"/>
              </a:ext>
            </a:extLst>
          </p:cNvPr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协议原理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7261ED-8291-728A-91D5-0AE61681BD68}"/>
              </a:ext>
            </a:extLst>
          </p:cNvPr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JSON-RPC + 生命周期：初始化、协商、调用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862A197-F0F6-B3D7-AD7F-8575B50CF805}"/>
              </a:ext>
            </a:extLst>
          </p:cNvPr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BF0335B-5D0E-A552-D571-2D5B57B14F76}"/>
              </a:ext>
            </a:extLst>
          </p:cNvPr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63923DD-D4E1-694E-6D97-2E0D30C825F5}"/>
              </a:ext>
            </a:extLst>
          </p:cNvPr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30</a:t>
            </a:r>
            <a:endParaRPr lang="en-US" sz="900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AB6C0843-4860-D125-73E7-8CD16DED8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18" y="1204873"/>
            <a:ext cx="4426174" cy="349902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DA42FEFB-BA66-1B00-B894-8D7EF01A6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777" y="1431768"/>
            <a:ext cx="4089670" cy="1227344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1ACFC05A-79B8-749C-AD68-E46959F28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777" y="2985980"/>
            <a:ext cx="4075101" cy="141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49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三类能力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Resource / Prompt：三种不同的控制权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模型调用工具，应用挂载资源，用户选择提示模板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54101"/>
            <a:ext cx="2607766" cy="1503462"/>
          </a:xfrm>
          <a:prstGeom prst="roundRect">
            <a:avLst>
              <a:gd name="adj" fmla="val 6758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73151"/>
            <a:ext cx="2607766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10954" y="1854101"/>
            <a:ext cx="0" cy="150346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352800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54101"/>
            <a:ext cx="0" cy="150346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69902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MODEL-CONTROLLED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304604"/>
            <a:ext cx="227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590354"/>
            <a:ext cx="227798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可执行函数；tools/list、tools/call；查询工单、创建 MR。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68117" y="1854101"/>
            <a:ext cx="2607766" cy="1503462"/>
          </a:xfrm>
          <a:prstGeom prst="roundRect">
            <a:avLst>
              <a:gd name="adj" fmla="val 6758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68117" y="1873151"/>
            <a:ext cx="2607766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71121" y="1854101"/>
            <a:ext cx="0" cy="150346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68117" y="3352800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272879" y="1854101"/>
            <a:ext cx="0" cy="150346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455343" y="2069902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APPLICATION-CONTROLLED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5343" y="2304604"/>
            <a:ext cx="227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55343" y="2590354"/>
            <a:ext cx="227798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可读取的结构化上下文；resources/list、resources/read；项目规范、文件、查询结果。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28283" y="1854101"/>
            <a:ext cx="2607766" cy="1503462"/>
          </a:xfrm>
          <a:prstGeom prst="roundRect">
            <a:avLst>
              <a:gd name="adj" fmla="val 6758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28283" y="1873151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631287" y="1854101"/>
            <a:ext cx="0" cy="150346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028283" y="3352800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33046" y="1854101"/>
            <a:ext cx="0" cy="150346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15509" y="2069902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USER-CONTROLLED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5509" y="2304604"/>
            <a:ext cx="227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5509" y="2590354"/>
            <a:ext cx="227798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可复用参数化模板；prompts/list、prompts/get；生成 BugFix 计划。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950" y="3535263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6525" y="3535263"/>
            <a:ext cx="0" cy="761851"/>
          </a:xfrm>
          <a:prstGeom prst="line">
            <a:avLst/>
          </a:prstGeom>
          <a:noFill/>
          <a:ln w="5715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44451" y="3763863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先问“谁控制”，再问“它能做什么”。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快速构建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十几行代码起一个 Server；复杂交互也能回到上下文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30</a:t>
            </a:r>
            <a:endParaRPr lang="en-US" sz="900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D7D57453-042C-B71F-F46D-61047C9226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06" b="12629"/>
          <a:stretch>
            <a:fillRect/>
          </a:stretch>
        </p:blipFill>
        <p:spPr>
          <a:xfrm>
            <a:off x="249331" y="1104907"/>
            <a:ext cx="8296276" cy="35418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工程坑点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裸搬 API / 返回过载 / 重复执行 / 错误难懂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面向任务构建，保护上下文和真实世界状态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54101"/>
            <a:ext cx="1917650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73151"/>
            <a:ext cx="191765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197572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6990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 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304604"/>
            <a:ext cx="1574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裸搬 CRUD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628454"/>
            <a:ext cx="157406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合并成面向任务的高价值 Tool。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78001" y="1854101"/>
            <a:ext cx="1917799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78001" y="1873151"/>
            <a:ext cx="1917799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91038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78001" y="3197572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82763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65227" y="206990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 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5227" y="2304604"/>
            <a:ext cx="1574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大表全文返回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65227" y="2628454"/>
            <a:ext cx="157421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摘要、筛选结果或可读取 URL。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1854101"/>
            <a:ext cx="1917650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1873151"/>
            <a:ext cx="191765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61088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48200" y="3197572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652962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35426" y="2069902"/>
            <a:ext cx="157406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 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35426" y="2304604"/>
            <a:ext cx="15740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非幂等重复执行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35426" y="2628454"/>
            <a:ext cx="157406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确认、幂等键、状态检查。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18250" y="1854101"/>
            <a:ext cx="1917799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8250" y="1873151"/>
            <a:ext cx="1917799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1287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718250" y="3197572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723013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05476" y="2069902"/>
            <a:ext cx="157421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 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5476" y="2304604"/>
            <a:ext cx="1574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只有机器错误码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5476" y="2628454"/>
            <a:ext cx="157421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返回原因、影响、是否执行、下一步。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950" y="3380036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36525" y="3380036"/>
            <a:ext cx="0" cy="761851"/>
          </a:xfrm>
          <a:prstGeom prst="line">
            <a:avLst/>
          </a:prstGeom>
          <a:noFill/>
          <a:ln w="571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4451" y="3608636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少暴露接口，多暴露任务语义；少吐全文，多返回可行动结果。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7950" y="4446687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“5000 行大表 / </a:t>
            </a:r>
            <a:r>
              <a:rPr lang="en-US" sz="1200" dirty="0" err="1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重复下单</a:t>
            </a:r>
            <a:r>
              <a:rPr lang="en-US" sz="12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安全与治理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连接远端能力前，先把同意、身份和权限做实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用户控制 / 数据隐私 / Tool 安全；HTTP 连接还要做 Origin 校验与认证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8806" y="1803202"/>
            <a:ext cx="2583882" cy="1186446"/>
          </a:xfrm>
          <a:prstGeom prst="roundRect">
            <a:avLst>
              <a:gd name="adj" fmla="val 856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98806" y="1822252"/>
            <a:ext cx="2583882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077926" y="1803202"/>
            <a:ext cx="0" cy="118644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98806" y="2984885"/>
            <a:ext cx="2583882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03569" y="1803202"/>
            <a:ext cx="0" cy="118644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63565" y="1993106"/>
            <a:ext cx="2299452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用户同意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3565" y="2199644"/>
            <a:ext cx="229945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我知道它要做什么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3565" y="2484632"/>
            <a:ext cx="2299452" cy="340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说明执行动作与数据，并保留拒绝/撤销路径。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16801" y="1803202"/>
            <a:ext cx="2583882" cy="1186446"/>
          </a:xfrm>
          <a:prstGeom prst="roundRect">
            <a:avLst>
              <a:gd name="adj" fmla="val 856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16801" y="1822252"/>
            <a:ext cx="2583882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795921" y="1803202"/>
            <a:ext cx="0" cy="118644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16801" y="2984885"/>
            <a:ext cx="2583882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221563" y="1803202"/>
            <a:ext cx="0" cy="118644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381560" y="1993106"/>
            <a:ext cx="2299452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身份认证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1560" y="2199644"/>
            <a:ext cx="229945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我知道连的是谁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1560" y="2484632"/>
            <a:ext cx="2299452" cy="340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不默认信任 Server，不把 Token 原样透传。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34795" y="1803202"/>
            <a:ext cx="2583882" cy="1186446"/>
          </a:xfrm>
          <a:prstGeom prst="roundRect">
            <a:avLst>
              <a:gd name="adj" fmla="val 856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934795" y="1822252"/>
            <a:ext cx="2583882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513915" y="1803202"/>
            <a:ext cx="0" cy="118644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934795" y="2984885"/>
            <a:ext cx="2583882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939558" y="1803202"/>
            <a:ext cx="0" cy="118644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99554" y="1993106"/>
            <a:ext cx="2299453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权限治理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99554" y="2199644"/>
            <a:ext cx="2299453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它只能做被允许的事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99554" y="2484632"/>
            <a:ext cx="2299453" cy="340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最小上下文；高危动作确认、幂等、留日志。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4150" y="3164680"/>
            <a:ext cx="7975699" cy="831056"/>
          </a:xfrm>
          <a:prstGeom prst="roundRect">
            <a:avLst>
              <a:gd name="adj" fmla="val 1222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84150" y="3322886"/>
            <a:ext cx="7975699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55087" y="3303836"/>
            <a:ext cx="0" cy="83105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60350" y="4343027"/>
            <a:ext cx="79756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88913" y="3303836"/>
            <a:ext cx="0" cy="83105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71376" y="3519636"/>
            <a:ext cx="775327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/ HTTP 防线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7576" y="3967236"/>
            <a:ext cx="7753273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校验 Origin · 本地优先绑定 127.0.0.1 · 配置认证与访问控制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4150" y="3832547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12725" y="3832547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20651" y="4061147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规范给出防线；系统仍要自己实现并验证。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4AC67929-6092-8CAD-AAC2-6541493E9B31}"/>
              </a:ext>
            </a:extLst>
          </p:cNvPr>
          <p:cNvSpPr/>
          <p:nvPr/>
        </p:nvSpPr>
        <p:spPr>
          <a:xfrm>
            <a:off x="0" y="18604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一个工程里，有两套 Hook 在同时跑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 err="1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文件不同，职责不同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2650" y="1854101"/>
            <a:ext cx="3936950" cy="1386334"/>
          </a:xfrm>
          <a:prstGeom prst="roundRect">
            <a:avLst>
              <a:gd name="adj" fmla="val 7329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2650" y="1873151"/>
            <a:ext cx="393695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14838" y="1854101"/>
            <a:ext cx="0" cy="13863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82650" y="3235672"/>
            <a:ext cx="39369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87412" y="1854101"/>
            <a:ext cx="0" cy="13863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69875" y="2069902"/>
            <a:ext cx="36337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原生运行时 · 31 种事件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9875" y="2304604"/>
            <a:ext cx="36337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.claude/settings.json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9875" y="2590354"/>
            <a:ext cx="363374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SessionStart / PreToolUse / PreCompact……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9875" y="2859881"/>
            <a:ext cx="363374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语义：客户端什么时候通知我。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1854101"/>
            <a:ext cx="3936950" cy="1386334"/>
          </a:xfrm>
          <a:prstGeom prst="roundRect">
            <a:avLst>
              <a:gd name="adj" fmla="val 7329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24400" y="1873151"/>
            <a:ext cx="393695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656588" y="1854101"/>
            <a:ext cx="0" cy="13863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724400" y="3235672"/>
            <a:ext cx="39369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729163" y="1854101"/>
            <a:ext cx="0" cy="13863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911626" y="2069902"/>
            <a:ext cx="36337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工程自定义清单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1626" y="2304604"/>
            <a:ext cx="36337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hooks/hooks.json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1626" y="2590354"/>
            <a:ext cx="363374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PreSkill / PostSkill / PostToolUse……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1626" y="2859881"/>
            <a:ext cx="363374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语义：通知到了，我该干哪些活。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950" y="3392835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36525" y="3392835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4451" y="3621435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PreCompact、PostToolUse 两边都有，但语义不是一回事。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E15A34B-4638-948B-AC23-4AD6DB6AD645}"/>
              </a:ext>
            </a:extLst>
          </p:cNvPr>
          <p:cNvSpPr/>
          <p:nvPr/>
        </p:nvSpPr>
        <p:spPr>
          <a:xfrm>
            <a:off x="-75" y="15573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反转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hooks.json 这个文件，原生运行时根本不读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 P0 结论——“谁消费 hooks.json？没人。”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1982" y="1777901"/>
            <a:ext cx="3857685" cy="1618845"/>
          </a:xfrm>
          <a:prstGeom prst="roundRect">
            <a:avLst>
              <a:gd name="adj" fmla="val 627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1982" y="1796951"/>
            <a:ext cx="3857685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324904" y="1777901"/>
            <a:ext cx="0" cy="1618845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71982" y="3391984"/>
            <a:ext cx="3857685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76744" y="1777901"/>
            <a:ext cx="0" cy="1618845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2996" y="1963489"/>
            <a:ext cx="3606369" cy="15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清单格式 · 原生不认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91794" y="1777901"/>
            <a:ext cx="3857685" cy="1618845"/>
          </a:xfrm>
          <a:prstGeom prst="roundRect">
            <a:avLst>
              <a:gd name="adj" fmla="val 627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91794" y="1796951"/>
            <a:ext cx="3857685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444717" y="1777901"/>
            <a:ext cx="0" cy="1618845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91794" y="3391984"/>
            <a:ext cx="3857685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96557" y="1777901"/>
            <a:ext cx="0" cy="1618845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752808" y="1963489"/>
            <a:ext cx="3606369" cy="15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原生格式 · 运行时才认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206948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6525" y="3206948"/>
            <a:ext cx="0" cy="761851"/>
          </a:xfrm>
          <a:prstGeom prst="line">
            <a:avLst/>
          </a:prstGeom>
          <a:noFill/>
          <a:ln w="571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44451" y="3435548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解法：加一个中间人 dispatch.sh，让它成为唯一消费者。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950" y="417195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改清单不改原生、加桥接不推倒重来。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B3B51891-30FA-DDB9-DA77-C29549ADBE97}"/>
              </a:ext>
            </a:extLst>
          </p:cNvPr>
          <p:cNvSpPr/>
          <p:nvPr/>
        </p:nvSpPr>
        <p:spPr>
          <a:xfrm>
            <a:off x="-75" y="0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链路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五层链路，各管一段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原生事件 → 薄触发层 → 分发器 → 清单 → 脚本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03202"/>
            <a:ext cx="1503611" cy="1383060"/>
          </a:xfrm>
          <a:prstGeom prst="roundRect">
            <a:avLst>
              <a:gd name="adj" fmla="val 734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22252"/>
            <a:ext cx="1503611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006798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181499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1775" y="1942802"/>
            <a:ext cx="1281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1775" y="2171402"/>
            <a:ext cx="12810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原生运行时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775" y="2495252"/>
            <a:ext cx="128108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 31 种事件，到点喊一嗓子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63961" y="1803202"/>
            <a:ext cx="1503759" cy="1383060"/>
          </a:xfrm>
          <a:prstGeom prst="roundRect">
            <a:avLst>
              <a:gd name="adj" fmla="val 734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63961" y="1822252"/>
            <a:ext cx="150375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62958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163961" y="3181499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168723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287786" y="1942802"/>
            <a:ext cx="128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87786" y="2171402"/>
            <a:ext cx="12812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薄触发层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7786" y="2495252"/>
            <a:ext cx="128123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settings.json 把事件翻译成“去调 dispatch.sh”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20120" y="1803202"/>
            <a:ext cx="1503611" cy="1383060"/>
          </a:xfrm>
          <a:prstGeom prst="roundRect">
            <a:avLst>
              <a:gd name="adj" fmla="val 734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820120" y="1822252"/>
            <a:ext cx="1503611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18968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820120" y="3181499"/>
            <a:ext cx="150361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824883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943945" y="1942802"/>
            <a:ext cx="1281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43945" y="2171402"/>
            <a:ext cx="12810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分发器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43945" y="2495252"/>
            <a:ext cx="128108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dispatch.sh 读清单、匹配、决定跑哪个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76131" y="1803202"/>
            <a:ext cx="1503759" cy="1383060"/>
          </a:xfrm>
          <a:prstGeom prst="roundRect">
            <a:avLst>
              <a:gd name="adj" fmla="val 734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76131" y="1822252"/>
            <a:ext cx="150375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975128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476131" y="3181499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480893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599956" y="1942802"/>
            <a:ext cx="128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99956" y="2171402"/>
            <a:ext cx="12812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清单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99956" y="2495252"/>
            <a:ext cx="128123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hooks.json 声明事件 → matcher → 脚本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32290" y="1803202"/>
            <a:ext cx="1503759" cy="1383060"/>
          </a:xfrm>
          <a:prstGeom prst="roundRect">
            <a:avLst>
              <a:gd name="adj" fmla="val 734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132290" y="1822252"/>
            <a:ext cx="150375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31287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132290" y="3181499"/>
            <a:ext cx="150375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37053" y="1803202"/>
            <a:ext cx="0" cy="13830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256115" y="1942802"/>
            <a:ext cx="1281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56115" y="2171402"/>
            <a:ext cx="12812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执行脚本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56115" y="2495252"/>
            <a:ext cx="128123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hooks/*.sh 真正干活的 8 个脚本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7950" y="3363962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36525" y="3363962"/>
            <a:ext cx="0" cy="761851"/>
          </a:xfrm>
          <a:prstGeom prst="line">
            <a:avLst/>
          </a:prstGeom>
          <a:noFill/>
          <a:ln w="571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44451" y="3592562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原生运行时不知道也不关心 hooks.json，只有 dispatch.sh 读得懂它。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链路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3E4330CD-393F-585B-8A77-44FE37CF22F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事件映射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原生名字 ≠ 工程名字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两个“不对应”，是最容易看花眼的地方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7950" y="2103162"/>
            <a:ext cx="8114987" cy="0"/>
          </a:xfrm>
          <a:prstGeom prst="line">
            <a:avLst/>
          </a:prstGeom>
          <a:noFill/>
          <a:ln w="190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7536" y="1872505"/>
            <a:ext cx="1639236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原生事件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54629" y="1872505"/>
            <a:ext cx="1639354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61839" y="1872505"/>
            <a:ext cx="1639236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收到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68933" y="1872505"/>
            <a:ext cx="1639354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清单事件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76143" y="1872505"/>
            <a:ext cx="1639354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最终脚本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950" y="2372832"/>
            <a:ext cx="811498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47536" y="2181990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54629" y="2181990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startup|resume|…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61839" y="2181990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SessionStart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68933" y="2181990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76143" y="2181990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session-start + check-large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950" y="2637740"/>
            <a:ext cx="811498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47536" y="2446898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54629" y="2446898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61839" y="2446898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68933" y="2446898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76143" y="2446898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session-end.sh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950" y="2902648"/>
            <a:ext cx="811498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47536" y="2711806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54629" y="2711806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manual|auto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61839" y="2711806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68933" y="2711806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76143" y="2711806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pre-compact.sh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7950" y="3167557"/>
            <a:ext cx="811498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47536" y="2976714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PreToolUse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54629" y="2976714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61839" y="2976714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PreSkill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68933" y="2976714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PreSkill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76143" y="2976714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pre-skill.sh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7950" y="3432465"/>
            <a:ext cx="811498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47536" y="3241622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PostToolUse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54629" y="3241622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61839" y="3241622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PostSkill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68933" y="3241622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PostSkill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76143" y="3241622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post-skill.sh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3963" y="3697373"/>
            <a:ext cx="8114987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47536" y="3506530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PostToolUse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54629" y="3506530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project-manager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61839" y="3506530"/>
            <a:ext cx="16392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PostToolUse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68933" y="3506530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PostToolUse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76143" y="3506530"/>
            <a:ext cx="163935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post-project-switch.sh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9376" y="3866555"/>
            <a:ext cx="8143561" cy="705514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07950" y="3697373"/>
            <a:ext cx="0" cy="949339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22033" y="3890309"/>
            <a:ext cx="7662493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PreSkill/PostSkill 在原生里根本不存在，是用 PreToolUse/PostToolUse 配 matcher Skill“冒充”出来的。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链路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4245BB88-556B-35FA-F709-AE1283FBBE31}"/>
              </a:ext>
            </a:extLst>
          </p:cNvPr>
          <p:cNvSpPr/>
          <p:nvPr/>
        </p:nvSpPr>
        <p:spPr>
          <a:xfrm>
            <a:off x="-75" y="7293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机制一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技能名，是从 stdin 里抠出来的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${CLAUDE_SKILL_NAME} 根本不存在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5886" y="1803202"/>
            <a:ext cx="3879128" cy="1364242"/>
          </a:xfrm>
          <a:prstGeom prst="roundRect">
            <a:avLst>
              <a:gd name="adj" fmla="val 744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5886" y="1822252"/>
            <a:ext cx="3879128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340251" y="1803202"/>
            <a:ext cx="0" cy="136424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65886" y="3162681"/>
            <a:ext cx="3879128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70648" y="1803202"/>
            <a:ext cx="0" cy="136424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11922" y="1971526"/>
            <a:ext cx="3658797" cy="14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运行时打进 stdin 的 JSON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82757" y="1803202"/>
            <a:ext cx="3879244" cy="1364242"/>
          </a:xfrm>
          <a:prstGeom prst="roundRect">
            <a:avLst>
              <a:gd name="adj" fmla="val 744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82757" y="1822252"/>
            <a:ext cx="3879244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457238" y="1803202"/>
            <a:ext cx="0" cy="136424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82757" y="3162681"/>
            <a:ext cx="3879244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87520" y="1803202"/>
            <a:ext cx="0" cy="136424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728793" y="1971526"/>
            <a:ext cx="3658915" cy="14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dispatch.sh 用 jq 兜底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2363242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07950" y="2382292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110954" y="236324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07950" y="3513386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12713" y="236324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95176" y="2579043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防御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5176" y="2813745"/>
            <a:ext cx="227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[[ ! -t 0 ]]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5176" y="3099495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stdin 非终端才读，避免傻等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68117" y="2363242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68117" y="2382292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871121" y="236324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3268117" y="3513386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272879" y="236324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455343" y="2579043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防御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55343" y="2813745"/>
            <a:ext cx="22779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|| true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55343" y="3099495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 stdin 立即跳过，绝不阻塞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28283" y="2363242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028283" y="2382292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631287" y="236324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028283" y="3513386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033046" y="2363242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215509" y="2579043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防御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5509" y="2813745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字段名兜底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15509" y="3137595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.tool_input.skill → .skill → .name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7950" y="3619649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36525" y="3619649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44451" y="3848249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绕一圈，技能名才从“运行时脑子里”落到“脚本参数里”。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CEC078AB-8DEF-1855-FE7E-E7F4E75F7004}"/>
              </a:ext>
            </a:extLst>
          </p:cNvPr>
          <p:cNvSpPr/>
          <p:nvPr/>
        </p:nvSpPr>
        <p:spPr>
          <a:xfrm>
            <a:off x="-75" y="0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机制二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matcher，圈定“谁享受门禁”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个前缀，把质量门禁限定在项目自有技能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2650" y="1828651"/>
            <a:ext cx="3936950" cy="1348978"/>
          </a:xfrm>
          <a:prstGeom prst="roundRect">
            <a:avLst>
              <a:gd name="adj" fmla="val 7532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2650" y="1847701"/>
            <a:ext cx="393695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14838" y="1828651"/>
            <a:ext cx="0" cy="13489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82650" y="3172867"/>
            <a:ext cx="39369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87412" y="1828651"/>
            <a:ext cx="0" cy="13489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69875" y="2044452"/>
            <a:ext cx="36337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matcher_hits()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24400" y="1828651"/>
            <a:ext cx="3936950" cy="1348978"/>
          </a:xfrm>
          <a:prstGeom prst="roundRect">
            <a:avLst>
              <a:gd name="adj" fmla="val 7532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24400" y="1847701"/>
            <a:ext cx="3936950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56588" y="1828651"/>
            <a:ext cx="0" cy="13489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724400" y="3172867"/>
            <a:ext cx="39369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29163" y="1828651"/>
            <a:ext cx="0" cy="13489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911626" y="2044452"/>
            <a:ext cx="363374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 matcher 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1626" y="2279154"/>
            <a:ext cx="363374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＊ / .* → 恒真（SessionStart 等）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1626" y="2472482"/>
            <a:ext cx="363374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^(security-|bid-|…) → 正则匹配技能名前缀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11626" y="2665809"/>
            <a:ext cx="363374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project-manager → 精确串匹配工具名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7950" y="3304580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36525" y="3304580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4451" y="3533180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门禁只该管“会产出交付物的项目技能”，不该管插件技能和第三方技能。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950" y="429503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已核：hooks.json 的 PreSkill/PostSkill matcher 正则含 16 个前缀。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D7019A8C-5DFD-EEAA-0F06-5F09432319A3}"/>
              </a:ext>
            </a:extLst>
          </p:cNvPr>
          <p:cNvSpPr/>
          <p:nvPr/>
        </p:nvSpPr>
        <p:spPr>
          <a:xfrm>
            <a:off x="-75" y="0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机制三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绝不能把会话搞挂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恒返 0 + 单动作失败只 warn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79402"/>
            <a:ext cx="3987850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98452"/>
            <a:ext cx="398785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491038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222873"/>
            <a:ext cx="39878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95202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铁律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329904"/>
            <a:ext cx="3685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恒返回 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653754"/>
            <a:ext cx="368566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dispatch.sh 最后一定 exit 0；返回非零（尤其 exit 2）会被原生当成阻塞性错误拦下整个事件。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8200" y="1879402"/>
            <a:ext cx="3987850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48200" y="1898452"/>
            <a:ext cx="398785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631287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648200" y="3222873"/>
            <a:ext cx="39878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652962" y="1879402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835426" y="2095202"/>
            <a:ext cx="3685666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铁律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35426" y="2329904"/>
            <a:ext cx="36856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失败只 warn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35426" y="2653754"/>
            <a:ext cx="368566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matcher 组多个 action，前一个 eval 失败只记 warn，继续跑下一个。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950" y="3405336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6525" y="3405336"/>
            <a:ext cx="0" cy="761851"/>
          </a:xfrm>
          <a:prstGeom prst="line">
            <a:avLst/>
          </a:prstGeom>
          <a:noFill/>
          <a:ln w="571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44451" y="3633936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是给会话打辅助的，绝不能反过来卡死会话。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93C19517-A312-E73C-8242-F14FDE898BE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机制四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日志，是唯一的审计入口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光看它存在没用，得看时间戳、事件名、状态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4151" y="1777901"/>
            <a:ext cx="8047136" cy="1069753"/>
          </a:xfrm>
          <a:prstGeom prst="roundRect">
            <a:avLst>
              <a:gd name="adj" fmla="val 9498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84151" y="1796950"/>
            <a:ext cx="8047136" cy="13693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062889" y="1777901"/>
            <a:ext cx="0" cy="106975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84150" y="2842891"/>
            <a:ext cx="8483501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88913" y="1777901"/>
            <a:ext cx="0" cy="1069753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48909" y="1967805"/>
            <a:ext cx="8317063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logs/hook-execution.log · 一条记录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388543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7950" y="2407593"/>
            <a:ext cx="2607766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110954" y="2388543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07950" y="3538686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12713" y="2388543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95176" y="2604343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5176" y="2839045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得是当前时间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5176" y="3162895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不是几天前的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8117" y="2388543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68117" y="2407593"/>
            <a:ext cx="2607766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871121" y="2388543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268117" y="3538686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272879" y="2388543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455343" y="2604343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55343" y="2839045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对得上事件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55343" y="3162895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session-start / pre-skill …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28283" y="2388543"/>
            <a:ext cx="2607766" cy="1154906"/>
          </a:xfrm>
          <a:prstGeom prst="roundRect">
            <a:avLst>
              <a:gd name="adj" fmla="val 8797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028283" y="2407593"/>
            <a:ext cx="2607766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631287" y="2388543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028283" y="3538686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033046" y="2388543"/>
            <a:ext cx="0" cy="115490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215509" y="2604343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5509" y="2839045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得是 ok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5509" y="3162895"/>
            <a:ext cx="227798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 error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7950" y="3619649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36525" y="3619649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44451" y="3848249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最新记录停在几天前，只能说明“过去跑过”，不能说明“现在还在自动跑”。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B40B7637-7CCD-2AC8-6409-89892A5B0CC8}"/>
              </a:ext>
            </a:extLst>
          </p:cNvPr>
          <p:cNvSpPr/>
          <p:nvPr/>
        </p:nvSpPr>
        <p:spPr>
          <a:xfrm>
            <a:off x="-75" y="-19199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验证一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四级证据 L0–L3，可靠结论至少 L2+L3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配置文件存在 ≠ 脚本能跑 ≠ 真的自动触发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54101"/>
            <a:ext cx="1917650" cy="1214586"/>
          </a:xfrm>
          <a:prstGeom prst="roundRect">
            <a:avLst>
              <a:gd name="adj" fmla="val 836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73151"/>
            <a:ext cx="1917650" cy="0"/>
          </a:xfrm>
          <a:prstGeom prst="line">
            <a:avLst/>
          </a:prstGeom>
          <a:noFill/>
          <a:ln w="38100">
            <a:solidFill>
              <a:srgbClr val="93A1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854101"/>
            <a:ext cx="0" cy="121458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063925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54101"/>
            <a:ext cx="0" cy="121458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27979" y="1993702"/>
            <a:ext cx="1677594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7979" y="2552551"/>
            <a:ext cx="1677594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配置文件存在 · 仅证明有人声明过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001" y="1854101"/>
            <a:ext cx="1917799" cy="1214586"/>
          </a:xfrm>
          <a:prstGeom prst="roundRect">
            <a:avLst>
              <a:gd name="adj" fmla="val 836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78001" y="1873151"/>
            <a:ext cx="1917799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491038" y="1854101"/>
            <a:ext cx="0" cy="121458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578001" y="3063925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82763" y="1854101"/>
            <a:ext cx="0" cy="121458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698028" y="1993702"/>
            <a:ext cx="1677745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698028" y="2552551"/>
            <a:ext cx="1677745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手工执行成功 · 脚本可运行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8200" y="1854101"/>
            <a:ext cx="1917650" cy="1214586"/>
          </a:xfrm>
          <a:prstGeom prst="roundRect">
            <a:avLst>
              <a:gd name="adj" fmla="val 836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48200" y="1873151"/>
            <a:ext cx="191765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561088" y="1854101"/>
            <a:ext cx="0" cy="121458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648200" y="3063925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652962" y="1854101"/>
            <a:ext cx="0" cy="121458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768228" y="1993702"/>
            <a:ext cx="1677594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768228" y="2552551"/>
            <a:ext cx="1677594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/hooks 显示已加载 · 客户端识别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8250" y="1854101"/>
            <a:ext cx="1917799" cy="1214586"/>
          </a:xfrm>
          <a:prstGeom prst="roundRect">
            <a:avLst>
              <a:gd name="adj" fmla="val 836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718250" y="1873151"/>
            <a:ext cx="1917799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631287" y="1854101"/>
            <a:ext cx="0" cy="121458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718250" y="3063925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723013" y="1854101"/>
            <a:ext cx="0" cy="1214586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838277" y="1993702"/>
            <a:ext cx="1677745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838277" y="2552551"/>
            <a:ext cx="1677745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日志新增+副作用对 · 实际执行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950" y="3246388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36525" y="3246388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44451" y="3474988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“脚本能运行”“日志曾有记录”“文档写自动生效”“当前运行时已加载”是四个不同命题。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DDC4F6DD-C052-7720-2F63-DB7C79446AF8}"/>
              </a:ext>
            </a:extLst>
          </p:cNvPr>
          <p:cNvSpPr/>
          <p:nvPr/>
        </p:nvSpPr>
        <p:spPr>
          <a:xfrm>
            <a:off x="0" y="18604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验证二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怎么证明它真的生效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SessionStart / PreSkill / PostToolUse / PreCompact，逐个验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03202"/>
            <a:ext cx="1917650" cy="1344960"/>
          </a:xfrm>
          <a:prstGeom prst="roundRect">
            <a:avLst>
              <a:gd name="adj" fmla="val 755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22252"/>
            <a:ext cx="191765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420838" y="180320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143399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0320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1775" y="1942802"/>
            <a:ext cx="170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1775" y="2171402"/>
            <a:ext cx="1703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SessionStart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775" y="2457152"/>
            <a:ext cx="1703400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记录日志末尾 → 重启客户端 → 查新时间戳 + 启动副作用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78001" y="1803202"/>
            <a:ext cx="1917799" cy="1344960"/>
          </a:xfrm>
          <a:prstGeom prst="roundRect">
            <a:avLst>
              <a:gd name="adj" fmla="val 755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78001" y="1822252"/>
            <a:ext cx="191779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91038" y="180320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578001" y="3143399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82763" y="180320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01826" y="1942802"/>
            <a:ext cx="170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01826" y="2171402"/>
            <a:ext cx="17035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PreSkill/PostSkill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01826" y="2457152"/>
            <a:ext cx="170355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执行匹配技能 → before/after 行数对比 + 工作区检查痕迹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1803202"/>
            <a:ext cx="1917650" cy="1344960"/>
          </a:xfrm>
          <a:prstGeom prst="roundRect">
            <a:avLst>
              <a:gd name="adj" fmla="val 755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1822252"/>
            <a:ext cx="191765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561088" y="180320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48200" y="3143399"/>
            <a:ext cx="191765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652962" y="180320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772025" y="1942802"/>
            <a:ext cx="170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72025" y="2171402"/>
            <a:ext cx="1703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PostToolUse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2025" y="2457152"/>
            <a:ext cx="1703400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项目切换 → 查 project-switch 日志 + 符号链接仍有效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18250" y="1803202"/>
            <a:ext cx="1917799" cy="1344960"/>
          </a:xfrm>
          <a:prstGeom prst="roundRect">
            <a:avLst>
              <a:gd name="adj" fmla="val 755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8250" y="1822252"/>
            <a:ext cx="191779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1287" y="180320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718250" y="3143399"/>
            <a:ext cx="19177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723013" y="1803202"/>
            <a:ext cx="0" cy="134496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842075" y="1942802"/>
            <a:ext cx="170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42075" y="2171402"/>
            <a:ext cx="17035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PreCompact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42075" y="2457152"/>
            <a:ext cx="1703552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真实压缩 → 查 session-handoff 压缩标记 + 日志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7950" y="3325862"/>
            <a:ext cx="8128099" cy="1066502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36525" y="3325862"/>
            <a:ext cx="0" cy="1066502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4451" y="3554462"/>
            <a:ext cx="7662493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每个事件都要用“真实事件 + 当前时间日志 + 副作用对得上”来验，不能手工跑脚本冒充。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97CAD802-D074-42CD-958F-D186F911C9BF}"/>
              </a:ext>
            </a:extLst>
          </p:cNvPr>
          <p:cNvSpPr/>
          <p:nvPr/>
        </p:nvSpPr>
        <p:spPr>
          <a:xfrm>
            <a:off x="0" y="18604"/>
            <a:ext cx="9144000" cy="5143500"/>
          </a:xfrm>
          <a:prstGeom prst="rect">
            <a:avLst/>
          </a:prstGeom>
          <a:solidFill>
            <a:srgbClr val="0E16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接线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先明确唯一运行时入口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原生接线，还是 Harness 接线，二选一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854101"/>
            <a:ext cx="2607766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873151"/>
            <a:ext cx="2607766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10954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197572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5176" y="2069902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176" y="2304604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确定唯一入口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176" y="2628454"/>
            <a:ext cx="227798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原生接线 / Harness 接线，二选一；说明谁负责消费清单。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68117" y="1854101"/>
            <a:ext cx="2607766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68117" y="1873151"/>
            <a:ext cx="2607766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871121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68117" y="3197572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272879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455343" y="2069902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5343" y="2304604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最小可重复验证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55343" y="2628454"/>
            <a:ext cx="227798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只读诊断命令 + 修正“自动生效”口径。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28283" y="1854101"/>
            <a:ext cx="2607766" cy="1348234"/>
          </a:xfrm>
          <a:prstGeom prst="roundRect">
            <a:avLst>
              <a:gd name="adj" fmla="val 753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28283" y="1873151"/>
            <a:ext cx="2607766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631287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028283" y="3197572"/>
            <a:ext cx="2607766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33046" y="1854101"/>
            <a:ext cx="0" cy="1348234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15509" y="2069902"/>
            <a:ext cx="227798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5509" y="2304604"/>
            <a:ext cx="22779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纳入回归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5509" y="2628454"/>
            <a:ext cx="227798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升级客户端/调清单都回归 4 事件 + 日志一致性。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950" y="3380036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6525" y="3380036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44451" y="3608636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不能只保留一份“看起来像配置”的清单，却不说明谁负责消费它。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Hook 专题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R&amp;D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8650"/>
            <a:ext cx="8290661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</a:t>
            </a:r>
            <a:r>
              <a:rPr lang="zh-CN" altLang="en-US" sz="3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TAPD 提单 → 开发 → MR → Review → 合入 → 沉淀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60645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阶段 + 4 角色，一次工具穿透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2203252"/>
            <a:ext cx="1227683" cy="1437382"/>
          </a:xfrm>
          <a:prstGeom prst="roundRect">
            <a:avLst>
              <a:gd name="adj" fmla="val 827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222230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730871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6358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1775" y="234285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1775" y="257145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775" y="2895302"/>
            <a:ext cx="999634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TAPD MCP 获取问题与上下文。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88034" y="2203252"/>
            <a:ext cx="1227683" cy="1437382"/>
          </a:xfrm>
          <a:prstGeom prst="roundRect">
            <a:avLst>
              <a:gd name="adj" fmla="val 827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888034" y="222230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110954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88034" y="36358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892796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011859" y="234285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859" y="257145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859" y="289530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确认负责人、优先级和验收。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68117" y="2203252"/>
            <a:ext cx="1227683" cy="1437382"/>
          </a:xfrm>
          <a:prstGeom prst="roundRect">
            <a:avLst>
              <a:gd name="adj" fmla="val 827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68117" y="222230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491038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268117" y="36358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272879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391942" y="234285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91942" y="257145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91942" y="289530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读取代码、修改、运行测试。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8200" y="2203252"/>
            <a:ext cx="1227683" cy="1437382"/>
          </a:xfrm>
          <a:prstGeom prst="roundRect">
            <a:avLst>
              <a:gd name="adj" fmla="val 827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48200" y="222230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871121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648200" y="36358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652962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772025" y="234285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72025" y="257145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 MR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72025" y="289530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提交变更、测试和说明。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28283" y="2203252"/>
            <a:ext cx="1227683" cy="1437382"/>
          </a:xfrm>
          <a:prstGeom prst="roundRect">
            <a:avLst>
              <a:gd name="adj" fmla="val 827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28283" y="222230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251204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028283" y="36358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033046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152108" y="234285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152108" y="2571452"/>
            <a:ext cx="99963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Review/合入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52108" y="314295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按标准审查，人工确认。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408366" y="2203252"/>
            <a:ext cx="1227683" cy="1437382"/>
          </a:xfrm>
          <a:prstGeom prst="roundRect">
            <a:avLst>
              <a:gd name="adj" fmla="val 8276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7408366" y="222230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631287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408366" y="36358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413129" y="2203252"/>
            <a:ext cx="0" cy="143738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7532191" y="234285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532191" y="257145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532191" y="289530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把成功路径、坑点回写 Skill。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7950" y="3793034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36525" y="3793034"/>
            <a:ext cx="0" cy="761851"/>
          </a:xfrm>
          <a:prstGeom prst="line">
            <a:avLst/>
          </a:prstGeom>
          <a:noFill/>
          <a:ln w="5715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44451" y="4021634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负责连接；Skill 封装流程；人做决策和 Review。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实战闭环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BUGFIX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86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完成率 33% 显示成 0.0%，6 步修完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1683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TAPD MCP → 工蜂 MCP → bugfix Skill → MR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765102"/>
            <a:ext cx="1227683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78415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730871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29500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1775" y="190470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1775" y="213330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读工单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775" y="245715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获取复现信息和验收条件。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88034" y="1765102"/>
            <a:ext cx="1227683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888034" y="178415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110954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88034" y="29500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892796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011859" y="190470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859" y="213330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859" y="245715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找到格式化与展示逻辑。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68117" y="1765102"/>
            <a:ext cx="1227683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68117" y="178415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491038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268117" y="29500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272879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391942" y="190470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91942" y="213330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91942" y="245715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 33% 被显示成 0.0%。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8200" y="1765102"/>
            <a:ext cx="1227683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48200" y="178415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871121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648200" y="29500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652962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772025" y="190470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72025" y="213330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72025" y="245715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修改逻辑并补测试。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28283" y="1765102"/>
            <a:ext cx="1227683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28283" y="178415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251204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028283" y="29500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033046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152108" y="190470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152108" y="213330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 MR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52108" y="245715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测试、说明、创建变更。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408366" y="1765102"/>
            <a:ext cx="1227683" cy="1189732"/>
          </a:xfrm>
          <a:prstGeom prst="roundRect">
            <a:avLst>
              <a:gd name="adj" fmla="val 8540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7408366" y="1784152"/>
            <a:ext cx="1227683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631287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408366" y="2950071"/>
            <a:ext cx="1227683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413129" y="1765102"/>
            <a:ext cx="0" cy="1189732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7532191" y="1904702"/>
            <a:ext cx="999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532191" y="2133302"/>
            <a:ext cx="9996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532191" y="2457152"/>
            <a:ext cx="99963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Review、合入、沉淀。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7950" y="3107234"/>
            <a:ext cx="8128099" cy="761851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36525" y="3107234"/>
            <a:ext cx="0" cy="761851"/>
          </a:xfrm>
          <a:prstGeom prst="line">
            <a:avLst/>
          </a:prstGeom>
          <a:noFill/>
          <a:ln w="5715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44451" y="3335834"/>
            <a:ext cx="766249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人在环中：确认范围 / 接受 MR / 处理异常。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实战闭环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CODE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286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拿到 MR，按维度审查，再决定是否合入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1683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变更详情 → 检查项 → 评论 → 人工确认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450" y="1848332"/>
            <a:ext cx="1551238" cy="975580"/>
          </a:xfrm>
          <a:prstGeom prst="roundRect">
            <a:avLst>
              <a:gd name="adj" fmla="val 1041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6450" y="1867382"/>
            <a:ext cx="1551238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952926" y="1848332"/>
            <a:ext cx="0" cy="97558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06450" y="2819150"/>
            <a:ext cx="1551238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11212" y="1848332"/>
            <a:ext cx="0" cy="97558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07986" y="1962805"/>
            <a:ext cx="1375129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986" y="2150257"/>
            <a:ext cx="1375129" cy="2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读取变更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986" y="2415814"/>
            <a:ext cx="1375129" cy="15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diff、测试、关联工单。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82656" y="1848332"/>
            <a:ext cx="1551239" cy="975580"/>
          </a:xfrm>
          <a:prstGeom prst="roundRect">
            <a:avLst>
              <a:gd name="adj" fmla="val 1041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082656" y="1867382"/>
            <a:ext cx="1551239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29132" y="1848332"/>
            <a:ext cx="0" cy="97558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082656" y="2819150"/>
            <a:ext cx="155123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087419" y="1848332"/>
            <a:ext cx="0" cy="97558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184193" y="1962805"/>
            <a:ext cx="1375129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84193" y="2150257"/>
            <a:ext cx="1375129" cy="2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按维度检查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84193" y="2415814"/>
            <a:ext cx="1375129" cy="317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正确性、边界、测试、维护、安全。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58863" y="1848332"/>
            <a:ext cx="1551238" cy="975580"/>
          </a:xfrm>
          <a:prstGeom prst="roundRect">
            <a:avLst>
              <a:gd name="adj" fmla="val 1041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758863" y="1867382"/>
            <a:ext cx="1551238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305338" y="1848332"/>
            <a:ext cx="0" cy="97558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758863" y="2819150"/>
            <a:ext cx="1551238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63625" y="1848332"/>
            <a:ext cx="0" cy="97558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860399" y="1962805"/>
            <a:ext cx="1375129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60399" y="2150257"/>
            <a:ext cx="1375129" cy="2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生成评论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60399" y="2415814"/>
            <a:ext cx="1375129" cy="15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证据、影响、修复建议。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35069" y="1848332"/>
            <a:ext cx="1551238" cy="975580"/>
          </a:xfrm>
          <a:prstGeom prst="roundRect">
            <a:avLst>
              <a:gd name="adj" fmla="val 10414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35069" y="1867382"/>
            <a:ext cx="1551238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981545" y="1848332"/>
            <a:ext cx="0" cy="97558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435069" y="2819150"/>
            <a:ext cx="1551238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439832" y="1848332"/>
            <a:ext cx="0" cy="97558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536606" y="1962805"/>
            <a:ext cx="1375129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36606" y="2150257"/>
            <a:ext cx="1375129" cy="2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复核修改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6606" y="2415814"/>
            <a:ext cx="1375129" cy="15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关闭问题并重跑必要测试。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94506" y="1765102"/>
            <a:ext cx="1280800" cy="2881604"/>
          </a:xfrm>
          <a:prstGeom prst="roundRect">
            <a:avLst>
              <a:gd name="adj" fmla="val 793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194506" y="1784152"/>
            <a:ext cx="1280800" cy="0"/>
          </a:xfrm>
          <a:prstGeom prst="line">
            <a:avLst/>
          </a:prstGeom>
          <a:noFill/>
          <a:ln w="38100">
            <a:solidFill>
              <a:srgbClr val="FF7B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470544" y="1765102"/>
            <a:ext cx="0" cy="2052087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194506" y="3812426"/>
            <a:ext cx="1280800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348031" y="1942058"/>
            <a:ext cx="993225" cy="15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最终动作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48031" y="2134514"/>
            <a:ext cx="993225" cy="51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Request changes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48031" y="2819150"/>
            <a:ext cx="993225" cy="475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Skill 让检查可重复；人保留最后责任和确认。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338293" y="3677905"/>
            <a:ext cx="993225" cy="475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原始“5 个维度”名称待录屏或 Skill 文件核对。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实战闭环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 · 沉淀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50" y="666750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把经验编码成系统，让团队 AI 越来越强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50" y="1206401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一次交付 → 一次复盘 → 下一次更少重复劳动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907822"/>
            <a:ext cx="681192" cy="1605314"/>
          </a:xfrm>
          <a:prstGeom prst="roundRect">
            <a:avLst>
              <a:gd name="adj" fmla="val 1491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926872"/>
            <a:ext cx="681192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184380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7950" y="3283437"/>
            <a:ext cx="681192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713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04534" y="2016710"/>
            <a:ext cx="49778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4534" y="2195018"/>
            <a:ext cx="497786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列清单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9184" y="2686100"/>
            <a:ext cx="497786" cy="45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写下每天重复做的事。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08015" y="1907821"/>
            <a:ext cx="681308" cy="1605315"/>
          </a:xfrm>
          <a:prstGeom prst="roundRect">
            <a:avLst>
              <a:gd name="adj" fmla="val 1491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308015" y="1926872"/>
            <a:ext cx="681308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984561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308015" y="3283437"/>
            <a:ext cx="681308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312777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404598" y="2016710"/>
            <a:ext cx="49790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04598" y="2195018"/>
            <a:ext cx="497904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挑一件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6357" y="2577182"/>
            <a:ext cx="497904" cy="75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选低风险、可验证、边界清晰的事。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08195" y="1907821"/>
            <a:ext cx="681192" cy="1605319"/>
          </a:xfrm>
          <a:prstGeom prst="roundRect">
            <a:avLst>
              <a:gd name="adj" fmla="val 1491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108195" y="1926872"/>
            <a:ext cx="681192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784625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2112958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204779" y="2016710"/>
            <a:ext cx="49778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204779" y="2195018"/>
            <a:ext cx="497786" cy="193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跑通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04779" y="2704639"/>
            <a:ext cx="497786" cy="45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执行并由人验证。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08259" y="1907821"/>
            <a:ext cx="681308" cy="1644959"/>
          </a:xfrm>
          <a:prstGeom prst="roundRect">
            <a:avLst>
              <a:gd name="adj" fmla="val 14913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908259" y="1926872"/>
            <a:ext cx="681308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584805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2908259" y="3283437"/>
            <a:ext cx="681308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2913022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004843" y="2016710"/>
            <a:ext cx="49790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004843" y="2195018"/>
            <a:ext cx="497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提炼 Skill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055850" y="2758554"/>
            <a:ext cx="497904" cy="45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写入路径、边界和验收。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08440" y="1907821"/>
            <a:ext cx="681192" cy="1644961"/>
          </a:xfrm>
          <a:prstGeom prst="roundRect">
            <a:avLst>
              <a:gd name="adj" fmla="val 14915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708440" y="1926872"/>
            <a:ext cx="681192" cy="0"/>
          </a:xfrm>
          <a:prstGeom prst="line">
            <a:avLst/>
          </a:prstGeom>
          <a:noFill/>
          <a:ln w="381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384869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 flipV="1">
            <a:off x="3743146" y="3283436"/>
            <a:ext cx="646485" cy="307475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3713202" y="1907822"/>
            <a:ext cx="0" cy="1380378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3805023" y="2016710"/>
            <a:ext cx="49778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6F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805023" y="2195018"/>
            <a:ext cx="497786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下一轮复用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867009" y="2899130"/>
            <a:ext cx="497786" cy="45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5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重复调用，持续回归。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7950" y="3670305"/>
            <a:ext cx="3881681" cy="594244"/>
          </a:xfrm>
          <a:prstGeom prst="rect">
            <a:avLst/>
          </a:prstGeom>
          <a:solidFill>
            <a:srgbClr val="15203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46050" y="3670305"/>
            <a:ext cx="0" cy="594244"/>
          </a:xfrm>
          <a:prstGeom prst="line">
            <a:avLst/>
          </a:prstGeom>
          <a:noFill/>
          <a:ln w="76200">
            <a:solidFill>
              <a:srgbClr val="D6FF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85279" y="3848612"/>
            <a:ext cx="3642449" cy="298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沉淀不是终点，是下一次自动化的起点。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07950" y="4449739"/>
            <a:ext cx="3959315" cy="12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7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“30 min → 5–10 min”任务与基线待核。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48089" y="1828651"/>
            <a:ext cx="4015412" cy="1555319"/>
          </a:xfrm>
          <a:prstGeom prst="roundRect">
            <a:avLst>
              <a:gd name="adj" fmla="val 6532"/>
            </a:avLst>
          </a:prstGeom>
          <a:solidFill>
            <a:srgbClr val="1A27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548089" y="1847701"/>
            <a:ext cx="4015412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558739" y="1828651"/>
            <a:ext cx="0" cy="155531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4548089" y="3379208"/>
            <a:ext cx="4015412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4552852" y="1828651"/>
            <a:ext cx="0" cy="1555319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4614955" y="1917805"/>
            <a:ext cx="3959315" cy="14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真实演示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614955" y="2100873"/>
            <a:ext cx="3881681" cy="1079599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0" descr="/Users/amerlin/Desktop/ai-兴趣小组/01-筹备文档/005-tools使用/ppt/assets/demo-tavily-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89" y="2120607"/>
            <a:ext cx="3842212" cy="104013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4614955" y="3210190"/>
            <a:ext cx="3959315" cy="10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tavily/search 调用轨迹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6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实战闭环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6594" y="58637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是手脚，Skill 是方法论，MCP 是桥</a:t>
            </a:r>
            <a:endParaRPr lang="en-US" sz="3000" dirty="0"/>
          </a:p>
        </p:txBody>
      </p:sp>
      <p:sp>
        <p:nvSpPr>
          <p:cNvPr id="45" name="Shape 41"/>
          <p:cNvSpPr/>
          <p:nvPr/>
        </p:nvSpPr>
        <p:spPr>
          <a:xfrm>
            <a:off x="507950" y="4646712"/>
            <a:ext cx="8128099" cy="0"/>
          </a:xfrm>
          <a:prstGeom prst="line">
            <a:avLst/>
          </a:prstGeom>
          <a:noFill/>
          <a:ln w="9525">
            <a:solidFill>
              <a:srgbClr val="2A3A5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2"/>
          <p:cNvSpPr/>
          <p:nvPr/>
        </p:nvSpPr>
        <p:spPr>
          <a:xfrm>
            <a:off x="507950" y="4803874"/>
            <a:ext cx="2763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人工智能兴趣小组 · 五期 · Tools 使用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3190123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5872445" y="4803874"/>
            <a:ext cx="27636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9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EC882A65-BB78-E419-0A5E-8CEF28ABA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107"/>
            <a:ext cx="9144000" cy="3943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2794</Words>
  <Application>Microsoft Macintosh PowerPoint</Application>
  <PresentationFormat>全屏显示(16:9)</PresentationFormat>
  <Paragraphs>813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48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T176619</cp:lastModifiedBy>
  <cp:revision>19</cp:revision>
  <dcterms:created xsi:type="dcterms:W3CDTF">2026-08-22T00:26:41Z</dcterms:created>
  <dcterms:modified xsi:type="dcterms:W3CDTF">2026-08-22T07:12:33Z</dcterms:modified>
</cp:coreProperties>
</file>