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5" r:id="rId27"/>
    <p:sldId id="296" r:id="rId28"/>
    <p:sldId id="297" r:id="rId29"/>
    <p:sldId id="298" r:id="rId30"/>
    <p:sldId id="299" r:id="rId31"/>
    <p:sldId id="300" r:id="rId32"/>
    <p:sldId id="287" r:id="rId33"/>
    <p:sldId id="288" r:id="rId34"/>
    <p:sldId id="294" r:id="rId35"/>
    <p:sldId id="289" r:id="rId36"/>
    <p:sldId id="290" r:id="rId37"/>
    <p:sldId id="295" r:id="rId38"/>
    <p:sldId id="291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5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33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5127-DBD9-2C2A-D170-C0A0D0F5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96966-E070-8C8A-61F5-B135E1FD2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4767C-A054-577E-F109-99053673A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8E168-4027-0960-B2C0-0FFBC05A9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294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5E8E-0B18-F490-796B-F08AEBB1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F6119-4BEB-EA24-CF01-2EE8840D8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6C648-D9A8-A24B-8DDE-473F9F40C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55DE8-78F1-542D-A4D3-D2EBE64D5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913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64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60"/>
              </a:lnSpc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上下文工程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7950" y="1410891"/>
            <a:ext cx="829066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把喂给模型的信息,变成可管理的工程问题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96542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2096542"/>
            <a:ext cx="0" cy="761851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3501" y="2325142"/>
            <a:ext cx="764306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听完你会知道——为什么 AI 该聪明时总犯蠢,以及怎么治。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3112294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3299520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5176" y="3534221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5176" y="3858071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把历史会话变成可检索资产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68117" y="3112294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55343" y="3299520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5343" y="3534221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5343" y="3858071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看懂每一分 token 花在哪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28283" y="3112294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509" y="3299520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5509" y="3534221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5509" y="3858071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用数据而不是拍脑袋选型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本期主线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一条递进线,不是三条平行线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全局地图</a:t>
            </a: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框架、工程、案例、工具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676102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81257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问题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5176" y="204728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 + 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176" y="237113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该进的没进,进来的有毒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8117" y="1676102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5343" y="181257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框架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5343" y="204728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+ 4 子系统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5343" y="237113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三选二的取舍模型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28283" y="1676102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509" y="181257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三堵墙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5509" y="204728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物理极限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5509" y="237113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绕不开的架构约束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2777133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76" y="291360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知识放哪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5176" y="314831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承载矩阵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5176" y="347216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用途决定归属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8117" y="2777133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55343" y="291360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两案例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5343" y="314831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真实取舍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55343" y="347216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OnCall + Coding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28283" y="2777133"/>
            <a:ext cx="2607766" cy="1024830"/>
          </a:xfrm>
          <a:prstGeom prst="roundRect">
            <a:avLst>
              <a:gd name="adj" fmla="val 991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15509" y="2913608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三工具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5509" y="3148310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落地抓手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5509" y="3472160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 / AgentLens / Router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50" y="3903464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6050" y="3903464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87301" y="403041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三个工具不是三幕,是同一框架的三块拼图。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一个反直觉的翻车现场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不是模型笨,是上下文里没有那三条关键信息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8128099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84102"/>
            <a:ext cx="0" cy="10665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3501" y="1612702"/>
            <a:ext cx="7643062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换更强的模型,还是错;改措辞,还是错。最后把 agent 真正发给模型的文本打印出来——三条关键信息一条都没进去。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780705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176" y="2967930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95176" y="3526780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处调用(漏了)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8117" y="2780705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5343" y="2967930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55343" y="3526780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条禁用语法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8283" y="2780705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509" y="2967930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5509" y="3526780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条被否方案(进上下文)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4068961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6050" y="4068961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7301" y="4195911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我们以为在调模型,其实一直在调上下文。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AI 会在该聪明时犯蠢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三堵绕不过去的</a:t>
            </a:r>
            <a:r>
              <a:rPr lang="en-US" sz="3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架构级物理限制,靠调模型绕不开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74602"/>
            <a:ext cx="2607766" cy="1113532"/>
          </a:xfrm>
          <a:prstGeom prst="roundRect">
            <a:avLst>
              <a:gd name="adj" fmla="val 912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93652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10954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683371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1790403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5176" y="2114253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窗口标称 ≠ 真能用满,会打折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68117" y="1574602"/>
            <a:ext cx="2607766" cy="1113532"/>
          </a:xfrm>
          <a:prstGeom prst="roundRect">
            <a:avLst>
              <a:gd name="adj" fmla="val 912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68117" y="1593652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71121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68117" y="2683371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72879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5343" y="1790403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5343" y="2114253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长对话越聊越蠢,规矩被日志淹没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28283" y="1574602"/>
            <a:ext cx="2607766" cy="1113532"/>
          </a:xfrm>
          <a:prstGeom prst="roundRect">
            <a:avLst>
              <a:gd name="adj" fmla="val 912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28283" y="1593652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31287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028283" y="2683371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33046" y="1574602"/>
            <a:ext cx="0" cy="1113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15509" y="1790403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知识时效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5509" y="2114253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参数外知识有保质期,过期比没有更危险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67848" y="958975"/>
            <a:ext cx="486343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05948" y="958975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047199" y="1085925"/>
            <a:ext cx="4080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窗口够大就不需要工程,是错觉。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38</a:t>
            </a:r>
            <a:endParaRPr lang="en-US" sz="9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7553890-71FC-CD26-8844-B26E15FEE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13" y="2689360"/>
            <a:ext cx="2625663" cy="146859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DDA9689-B752-AC91-33D3-1D63D817E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777" y="2678610"/>
            <a:ext cx="2575581" cy="145664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B0FB22F-6170-9B77-2BA3-76F75FBF4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484" y="2690674"/>
            <a:ext cx="2567582" cy="1444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一个决策框架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CAR:成本 × 自主性 × 可靠性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类比分布式 CAP 定理——三者不能同时拉满,只能取舍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28651"/>
            <a:ext cx="3562052" cy="2068413"/>
          </a:xfrm>
          <a:prstGeom prst="roundRect">
            <a:avLst>
              <a:gd name="adj" fmla="val 4912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Users/amerlin/Desktop/ai-兴趣小组/01-筹备文档/004期-上下文工程/ppt/assets/concept-car-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6" y="1901577"/>
            <a:ext cx="3416201" cy="1922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47704" y="1828651"/>
            <a:ext cx="4388346" cy="572393"/>
          </a:xfrm>
          <a:prstGeom prst="roundRect">
            <a:avLst>
              <a:gd name="adj" fmla="val 1775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09629" y="1914376"/>
            <a:ext cx="4145786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Cost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09629" y="2163068"/>
            <a:ext cx="414578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是消耗,越省越难两全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47704" y="2451795"/>
            <a:ext cx="4388346" cy="572393"/>
          </a:xfrm>
          <a:prstGeom prst="roundRect">
            <a:avLst>
              <a:gd name="adj" fmla="val 1775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09629" y="2537520"/>
            <a:ext cx="4145786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Autonomy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09629" y="2786211"/>
            <a:ext cx="414578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越自动,越少被打断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47704" y="3074938"/>
            <a:ext cx="4388346" cy="572393"/>
          </a:xfrm>
          <a:prstGeom prst="roundRect">
            <a:avLst>
              <a:gd name="adj" fmla="val 1775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409629" y="3160663"/>
            <a:ext cx="4145786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· Reliability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09629" y="3409355"/>
            <a:ext cx="414578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越要兜底,越需人工把关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950" y="3998565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46050" y="3998565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787301" y="4125516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不同场景选不同两轴:coding 保 R 舍 A,运营保 A 舍 R。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· 坐标系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A×R 当两轴,每个场景落在不同象限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横轴 A 自主性 · 纵轴 R 可靠性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3517702" cy="2179737"/>
          </a:xfrm>
          <a:prstGeom prst="roundRect">
            <a:avLst>
              <a:gd name="adj" fmla="val 4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Users/amerlin/Desktop/ai-兴趣小组/01-筹备文档/004期-上下文工程/ppt/assets/concept-car-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6" y="1876127"/>
            <a:ext cx="3371850" cy="18975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3353" y="1803202"/>
            <a:ext cx="4432697" cy="490984"/>
          </a:xfrm>
          <a:prstGeom prst="roundRect">
            <a:avLst>
              <a:gd name="adj" fmla="val 206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339828" y="1876127"/>
            <a:ext cx="42429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左下 · 简单任务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39828" y="2069009"/>
            <a:ext cx="4242941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就够,C 也低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03353" y="2332286"/>
            <a:ext cx="4432697" cy="490984"/>
          </a:xfrm>
          <a:prstGeom prst="roundRect">
            <a:avLst>
              <a:gd name="adj" fmla="val 206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339828" y="2405211"/>
            <a:ext cx="42429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左上 · 高可靠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39828" y="2598093"/>
            <a:ext cx="4242941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/ 运营自动化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03353" y="2861370"/>
            <a:ext cx="4432697" cy="490984"/>
          </a:xfrm>
          <a:prstGeom prst="roundRect">
            <a:avLst>
              <a:gd name="adj" fmla="val 206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339828" y="2934295"/>
            <a:ext cx="42429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右下 · 高自主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39828" y="3127177"/>
            <a:ext cx="4242941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金融支付 / AI coding 人工兜底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03353" y="3390454"/>
            <a:ext cx="4432697" cy="490984"/>
          </a:xfrm>
          <a:prstGeom prst="roundRect">
            <a:avLst>
              <a:gd name="adj" fmla="val 206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39828" y="3463379"/>
            <a:ext cx="42429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右上 · 演进空间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39828" y="3656261"/>
            <a:ext cx="4242941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模型变强后向全高演进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7950" y="4084439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46050" y="4084439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787301" y="4211389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是动态的,随模型变强从 CA 向 RA 再向全高演进。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先分清楚三个词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 · 记忆 · 上下文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客观 · 共享 · 慢更新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5176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组织级的、大家都能查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8117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5343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5343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跟人走 · 会变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5343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个性化、按 agent/业务线沉淀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28283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509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5509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临时拼的现场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5509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每次请求临时组装喂给模型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950" y="26881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6050" y="2688134"/>
            <a:ext cx="0" cy="761851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3501" y="2916734"/>
            <a:ext cx="764306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一条知识躺在知识库里,只要没被检索进窗口,这次请求里它就是</a:t>
            </a: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不存在</a:t>
            </a: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全课骨架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把每次推理拆开,就是 4 个子系统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851249" y="1307902"/>
            <a:ext cx="3441502" cy="2000548"/>
          </a:xfrm>
          <a:prstGeom prst="roundRect">
            <a:avLst>
              <a:gd name="adj" fmla="val 507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Users/amerlin/Desktop/ai-兴趣小组/01-筹备文档/004期-上下文工程/ppt/assets/concept-subsy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175" y="1380827"/>
            <a:ext cx="3295650" cy="1854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3409950"/>
            <a:ext cx="1917650" cy="650081"/>
          </a:xfrm>
          <a:prstGeom prst="roundRect">
            <a:avLst>
              <a:gd name="adj" fmla="val 1562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9875" y="3520976"/>
            <a:ext cx="162567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上下文供给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9875" y="3755678"/>
            <a:ext cx="162567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对的时机喂对信息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78001" y="3409950"/>
            <a:ext cx="1917799" cy="650081"/>
          </a:xfrm>
          <a:prstGeom prst="roundRect">
            <a:avLst>
              <a:gd name="adj" fmla="val 1562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39926" y="3520976"/>
            <a:ext cx="162582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记忆固化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39926" y="3755678"/>
            <a:ext cx="1625828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验证过的跨对话存下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48200" y="3409950"/>
            <a:ext cx="1917650" cy="650081"/>
          </a:xfrm>
          <a:prstGeom prst="roundRect">
            <a:avLst>
              <a:gd name="adj" fmla="val 1562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10125" y="3520976"/>
            <a:ext cx="162567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知识工程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10125" y="3755678"/>
            <a:ext cx="162567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整理成 AI 捡得回的样子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18250" y="3409950"/>
            <a:ext cx="1917799" cy="650081"/>
          </a:xfrm>
          <a:prstGeom prst="roundRect">
            <a:avLst>
              <a:gd name="adj" fmla="val 1562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80175" y="3520976"/>
            <a:ext cx="162582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约束工程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80175" y="3755678"/>
            <a:ext cx="1625828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软中硬三层管住越权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7950" y="4136231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46050" y="4136231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87301" y="4263182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这是全课骨架,后面每一章都是其中一个子系统的展开。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能力是</a:t>
            </a:r>
            <a:r>
              <a:rPr lang="en-US" sz="3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r>
              <a:rPr lang="en-US" sz="30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,不是加法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58801"/>
            <a:ext cx="8128099" cy="800100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58801"/>
            <a:ext cx="0" cy="800100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3501" y="1587401"/>
            <a:ext cx="7643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能力 = </a:t>
            </a: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上下文工程质量</a:t>
            </a:r>
            <a:r>
              <a:rPr lang="en-US" sz="18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工具可用性 × 循环控制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84624" y="2438251"/>
            <a:ext cx="2774752" cy="1625352"/>
          </a:xfrm>
          <a:prstGeom prst="roundRect">
            <a:avLst>
              <a:gd name="adj" fmla="val 625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/Users/amerlin/Desktop/ai-兴趣小组/01-筹备文档/004期-上下文工程/ppt/assets/concept-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511177"/>
            <a:ext cx="2628900" cy="1479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950" y="4139803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46050" y="4139803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7301" y="426675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任何一项归零,整体归零——上下文质量是乘积的致命因子,不是加分项。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用工程对抗物理限制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能解决就别上 400K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398785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403152"/>
            <a:ext cx="39878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91038" y="13841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7950" y="2534245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713" y="13841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95176" y="15999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5176" y="18346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5176" y="2158454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角色/红线/项目背景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8200" y="1384102"/>
            <a:ext cx="398785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8200" y="1403152"/>
            <a:ext cx="39878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31287" y="13841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48200" y="2534245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52962" y="13841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35426" y="15999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35426" y="18346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35426" y="2158454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动态日志/最新状态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950" y="2716709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6050" y="2716709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87301" y="2843659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内容摆放顺序不是排版问题,是实打实省 token 省延时。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知识在系统里分几层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三层,只有上两层你能发力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07902"/>
            <a:ext cx="4209752" cy="2432893"/>
          </a:xfrm>
          <a:prstGeom prst="roundRect">
            <a:avLst>
              <a:gd name="adj" fmla="val 4176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Users/amerlin/Desktop/ai-兴趣小组/01-筹备文档/004期-上下文工程/ppt/assets/concept-knowledge-pyra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6" y="1380827"/>
            <a:ext cx="4063901" cy="22870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5404" y="1307902"/>
            <a:ext cx="3740646" cy="609154"/>
          </a:xfrm>
          <a:prstGeom prst="roundRect">
            <a:avLst>
              <a:gd name="adj" fmla="val 1667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82629" y="1418927"/>
            <a:ext cx="34335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会话知识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82629" y="1653778"/>
            <a:ext cx="343351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这轮塞进来的 · 你能完全控制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95404" y="1993255"/>
            <a:ext cx="3740646" cy="609154"/>
          </a:xfrm>
          <a:prstGeom prst="roundRect">
            <a:avLst>
              <a:gd name="adj" fmla="val 1667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82629" y="2104281"/>
            <a:ext cx="34335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检索知识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82629" y="2339132"/>
            <a:ext cx="343351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RAG/工具/记忆/技能 · 你能设计召回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5404" y="2678609"/>
            <a:ext cx="3740646" cy="609154"/>
          </a:xfrm>
          <a:prstGeom prst="roundRect">
            <a:avLst>
              <a:gd name="adj" fmla="val 16679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82629" y="2789634"/>
            <a:ext cx="34335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参数知识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82629" y="3024485"/>
            <a:ext cx="343351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训练时写进权重 · 你动不了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7950" y="3842296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46050" y="3842296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7301" y="3969246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一条知识没被检索进窗口,这次请求里它就不存在。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反直觉 · 污染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信息进来了,但可能是脏的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种不会报错的翻车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28651"/>
            <a:ext cx="1917650" cy="1310134"/>
          </a:xfrm>
          <a:prstGeom prst="roundRect">
            <a:avLst>
              <a:gd name="adj" fmla="val 775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47701"/>
            <a:ext cx="19176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34023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4445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279154"/>
            <a:ext cx="1574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564904"/>
            <a:ext cx="157406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幻觉写进记忆被反复引用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28651"/>
            <a:ext cx="1917799" cy="1310134"/>
          </a:xfrm>
          <a:prstGeom prst="roundRect">
            <a:avLst>
              <a:gd name="adj" fmla="val 775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47701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3134023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65227" y="204445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5227" y="2279154"/>
            <a:ext cx="1574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5227" y="256490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历史太长压住模型反复复述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28651"/>
            <a:ext cx="1917650" cy="1310134"/>
          </a:xfrm>
          <a:prstGeom prst="roundRect">
            <a:avLst>
              <a:gd name="adj" fmla="val 775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47701"/>
            <a:ext cx="19176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3134023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35426" y="204445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5426" y="2279154"/>
            <a:ext cx="1574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35426" y="2564904"/>
            <a:ext cx="157406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几十个工具选错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28651"/>
            <a:ext cx="1917799" cy="1310134"/>
          </a:xfrm>
          <a:prstGeom prst="roundRect">
            <a:avLst>
              <a:gd name="adj" fmla="val 775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47701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3134023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28651"/>
            <a:ext cx="0" cy="13101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05476" y="204445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5476" y="2279154"/>
            <a:ext cx="1574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5476" y="2564904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前后矛盾(moment vs day)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265736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46050" y="3265736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87301" y="3392686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污染的共同点——不报错,但让模型慢慢变蠢。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干净上下文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盯着两头:该进的没进,进来的脏了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只放高信号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能改变行为的 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5176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高信号 ≠ 高相关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8117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5343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幻觉绝不进记忆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5343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未验证不进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5343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验证过才沉淀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28283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509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过期矛盾及时清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5509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只入不出会膨胀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5509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定时清理回收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950" y="2688134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6050" y="2688134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7301" y="281508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缺(该进没进)和 脏(进来的有毒)——两头都要盯。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373237"/>
            <a:ext cx="82906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7950" y="2414588"/>
            <a:ext cx="82906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工程实践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3255913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怎么承载、怎么防脏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知识该装在哪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一条知识该放哪:五种承载 × 五类来源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50" y="1669852"/>
            <a:ext cx="3994547" cy="0"/>
          </a:xfrm>
          <a:prstGeom prst="line">
            <a:avLst/>
          </a:prstGeom>
          <a:noFill/>
          <a:ln w="190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58701" y="1371451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56333" y="1371451"/>
            <a:ext cx="132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首选承载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114" y="1371451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950" y="2061865"/>
            <a:ext cx="399454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58701" y="1768227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代码库(事实+结构)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56333" y="1768227"/>
            <a:ext cx="132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114" y="1768227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950" y="2449116"/>
            <a:ext cx="399454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58701" y="2155478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设计文档(规则流程)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56333" y="2155478"/>
            <a:ext cx="132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Skill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114" y="2155478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950" y="3036391"/>
            <a:ext cx="399454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58701" y="2542729"/>
            <a:ext cx="13235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文档(精确版本强)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333" y="2542729"/>
            <a:ext cx="13237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MCP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114" y="2542729"/>
            <a:ext cx="13235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950" y="3423642"/>
            <a:ext cx="399454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58701" y="3130004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决策记录(为什么否)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56333" y="3130004"/>
            <a:ext cx="132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记忆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114" y="3130004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950" y="3810893"/>
            <a:ext cx="399454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58701" y="3517255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踩坑记录(最高权重)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56333" y="3517255"/>
            <a:ext cx="1323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4114" y="3517255"/>
            <a:ext cx="1323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0198" y="1282601"/>
            <a:ext cx="3955852" cy="2533055"/>
          </a:xfrm>
          <a:prstGeom prst="roundRect">
            <a:avLst>
              <a:gd name="adj" fmla="val 401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/Users/amerlin/Desktop/ai-兴趣小组/01-筹备文档/004期-上下文工程/ppt/assets/concept-carrier-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124" y="1355527"/>
            <a:ext cx="3810000" cy="214416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7950" y="3891855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46050" y="3891855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787301" y="4018806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选型唯一不变的尺 = 通过「下次怎么用」来决定归属。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五小框一句话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/ RAG / MCP 是同一件事的不同包装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58801"/>
            <a:ext cx="1503611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46027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规则文件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780729"/>
            <a:ext cx="115174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量小稳定每次用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63961" y="1358801"/>
            <a:ext cx="1503759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51187" y="1546027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51187" y="1780729"/>
            <a:ext cx="11518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量大按需召回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20120" y="1358801"/>
            <a:ext cx="1503611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7346" y="1546027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07346" y="1780729"/>
            <a:ext cx="115174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可复用流程整包给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76131" y="1358801"/>
            <a:ext cx="1503759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63357" y="1546027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3357" y="1780729"/>
            <a:ext cx="11518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个性化沉淀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290" y="1358801"/>
            <a:ext cx="1503759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9516" y="1546027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9516" y="1780729"/>
            <a:ext cx="11518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会变要最新拉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950" y="2313682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6050" y="2313682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87301" y="2440632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本质都是「往上下文填正确信息」的不同包装。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 · 渐进式披露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= 一个 Prompt 预加载器:用到才加载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元数据索引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少量 token 常驻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5176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知道「我有这能力」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8117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5343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主体指令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5343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触发才加载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5343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按需展开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28283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509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深度资源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5509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文档/脚本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5509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判断需要才给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950" y="2688134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6050" y="2688134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7301" y="281508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三级披露才能不把窗口塞满,是「别切碎、整包给」的关键。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 · 规则文件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固定靠前、动态靠后,是省 token 不是排版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固定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角色/红线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5176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永远不变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8117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5343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准静态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5343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5343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偶尔更新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28283" y="1384102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509" y="15713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会变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5509" y="18060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最新状态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5509" y="21298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动态日志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950" y="2688134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6050" y="2688134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7301" y="281508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为什么这样摆?KV 缓存命中率——核心文件 ≤100 行、每条规则可验证。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 · 知识库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建库前先问:文本、表格、还是关系网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5176" y="2130177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非结构化 → embedding+rerank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8117" y="1384102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5343" y="15713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5343" y="2130177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 → text-to-SQL 双引擎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28283" y="1384102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509" y="15713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5509" y="2130177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多跳 → 构图省成本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697659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6050" y="2697659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7301" y="2824609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别拿向量的锤子砸所有钉子。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 · 存 vs 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稳定反复用 → 存;随时变要最新 → 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1898154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495127"/>
            <a:ext cx="155417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5176" y="1799779"/>
            <a:ext cx="155417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稳定反复用的知识进知识库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9106" y="1384102"/>
            <a:ext cx="1740694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96332" y="1495127"/>
            <a:ext cx="139356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96332" y="1799779"/>
            <a:ext cx="139356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随时变的用 MCP 实时拉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240756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240756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87301" y="2367707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避免「向量库还是昨天的快照」。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 ≠ 知识库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一个搞懂世界,一个搞懂这个人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3987850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71327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5176" y="1806029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帮模型懂世界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5176" y="2129879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金融合规条款堆进去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48200" y="1384102"/>
            <a:ext cx="3987850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5426" y="1571327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35426" y="1806029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帮模型懂这个人/业务线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35426" y="2129879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某次支付流程人工特批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950" y="2688134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6050" y="2688134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87301" y="2815084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追加版本化、别覆盖、能回滚。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373237"/>
            <a:ext cx="82906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7950" y="2414588"/>
            <a:ext cx="82906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4000" b="1" dirty="0" err="1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3255913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两场不同的取舍,同一把 CAR 尺子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· 对照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 CAR,取舍的轴完全不同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3146822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495127"/>
            <a:ext cx="282781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OnCall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5176" y="1799779"/>
            <a:ext cx="282781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上下文 · 有限时间必须出决策 · R 是绝对底线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57774" y="1384102"/>
            <a:ext cx="2631877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45000" y="1495127"/>
            <a:ext cx="230257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45000" y="1799779"/>
            <a:ext cx="230257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可接受多轮大上下文 · A 在长程任务最难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240756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240756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87301" y="2367707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OnCall 保 R,Coding 难 A。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ONCALL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</a:t>
            </a:r>
            <a:r>
              <a:rPr lang="zh-CN" alt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OverGuarding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万反馈/月,四阶段把 R 从 50% 提到 95%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77727"/>
            <a:ext cx="1917650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764953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5176" y="1999655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人工为主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176" y="2323505"/>
            <a:ext cx="157406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打基础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8001" y="1577727"/>
            <a:ext cx="1917799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65227" y="1764953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65227" y="1999655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投人力提可靠性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65227" y="2323505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提准确率+覆盖率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1577727"/>
            <a:ext cx="1917650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5426" y="1764953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5426" y="1999655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为主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5426" y="2323505"/>
            <a:ext cx="157406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靠前两阶段积累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18250" y="1577727"/>
            <a:ext cx="1917799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5476" y="1764953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5476" y="1999655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归因+自恢复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5476" y="2323505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2881759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6050" y="2881759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87301" y="3008709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不是一步到位,是按阶段先提 R 或先提 A——R 是绝不折损的底线。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ONCALL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altLang="zh-CN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</a:t>
            </a: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OverGuarding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 128K→32K,置信度不降反稳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26977"/>
            <a:ext cx="2286000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638002"/>
            <a:ext cx="194977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5176" y="1942654"/>
            <a:ext cx="194977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每月有效反馈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282130"/>
            <a:ext cx="2286000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2393156"/>
            <a:ext cx="194977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50%→95%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5176" y="2697807"/>
            <a:ext cx="194977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可靠性 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3037284"/>
            <a:ext cx="2286000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5176" y="3148310"/>
            <a:ext cx="194977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128K→32K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5176" y="3452961"/>
            <a:ext cx="194977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上下文窗口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651" y="2282130"/>
            <a:ext cx="5664398" cy="678954"/>
          </a:xfrm>
          <a:prstGeom prst="roundRect">
            <a:avLst>
              <a:gd name="adj" fmla="val 1496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58877" y="2393156"/>
            <a:ext cx="539574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8877" y="2697807"/>
            <a:ext cx="539574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有效日志,从海量里捞出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944689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6050" y="3944689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7301" y="4071640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喂得更少,反而更准、更便宜——直接验证「高信号」。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CODING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XXX· 门禁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门禁不能在当前上下文里自证产物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77727"/>
            <a:ext cx="8128099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577727"/>
            <a:ext cx="0" cy="10665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3501" y="1806327"/>
            <a:ext cx="7643062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必须重新切一个上下文、或并发换一个角色来 track 校验——否则「大家一起错、一起偏」。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923580"/>
            <a:ext cx="3987850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3110805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意图偏移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5176" y="3345507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识别并纠正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8200" y="2923580"/>
            <a:ext cx="3987850" cy="802481"/>
          </a:xfrm>
          <a:prstGeom prst="roundRect">
            <a:avLst>
              <a:gd name="adj" fmla="val 12661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5426" y="3110805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跳步/状态错乱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5426" y="3345507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工程链路兜底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950" y="3853011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6050" y="3853011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87301" y="3979962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自主性不是模型给的,是工程链路给的。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94F202A6-D6B9-B3CE-114A-6E0F9E52FF6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OPEN-WAZA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记忆固化子系统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全公司只留一份账本:单一权威源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26977"/>
            <a:ext cx="1917650" cy="1281559"/>
          </a:xfrm>
          <a:prstGeom prst="roundRect">
            <a:avLst>
              <a:gd name="adj" fmla="val 7928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7142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唯一权威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5176" y="1948904"/>
            <a:ext cx="1574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176" y="22346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个 .md 正文,唯一可写的地方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8001" y="1526977"/>
            <a:ext cx="1917799" cy="1281559"/>
          </a:xfrm>
          <a:prstGeom prst="roundRect">
            <a:avLst>
              <a:gd name="adj" fmla="val 7928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65227" y="17142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薄索引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65227" y="1948904"/>
            <a:ext cx="1574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.claude/memory/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65227" y="223465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只存「权威在哪 + 怎么同步」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1526977"/>
            <a:ext cx="1917650" cy="1281559"/>
          </a:xfrm>
          <a:prstGeom prst="roundRect">
            <a:avLst>
              <a:gd name="adj" fmla="val 7928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5426" y="17142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脚本镜像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5426" y="1948904"/>
            <a:ext cx="1574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~/.ai-config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5426" y="22346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rsync 单向覆盖,只读不回写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18250" y="1526977"/>
            <a:ext cx="1917799" cy="1281559"/>
          </a:xfrm>
          <a:prstGeom prst="roundRect">
            <a:avLst>
              <a:gd name="adj" fmla="val 7928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5476" y="17142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会话缓存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5476" y="1948904"/>
            <a:ext cx="1574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~/.claude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5476" y="2234654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只读指针,自动生成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2859286"/>
            <a:ext cx="2607766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7950" y="2878336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110954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07950" y="4018955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12713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95176" y="307508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层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95176" y="363393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单向发布,水只往下流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8117" y="2859286"/>
            <a:ext cx="2607766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68117" y="2878336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871121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268117" y="4018955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272879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455343" y="307508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3455343" y="363393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个孤儿文件(双向同步踩的坑)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28283" y="2859286"/>
            <a:ext cx="2607766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28283" y="2878336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31287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028283" y="4018955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033046" y="285928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215509" y="307508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215509" y="363393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个地方说了算,冲突从根上没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950" y="4125218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46050" y="4125218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87301" y="4252168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人走了,脑子里的东西不能走——经验从「长在会话里」变成「长在仓库里」。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9D6A09F8-6022-721C-72B7-F4FDD63E666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OPEN-WAZA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知识工程子系统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3305 个文件,只有 761 个配进检索库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52426"/>
            <a:ext cx="1917650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71476"/>
            <a:ext cx="19176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712095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1768227"/>
            <a:ext cx="1574063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95176" y="2327077"/>
            <a:ext cx="157406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rag-worthy · 进向量库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001" y="1552426"/>
            <a:ext cx="1917799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78001" y="1571476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91038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78001" y="2712095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82763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65227" y="1768227"/>
            <a:ext cx="157421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765227" y="2327077"/>
            <a:ext cx="1574215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· 挡在门外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8200" y="1552426"/>
            <a:ext cx="1917650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1571476"/>
            <a:ext cx="19176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61088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648200" y="2712095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652962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35426" y="1768227"/>
            <a:ext cx="1574063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835426" y="2327077"/>
            <a:ext cx="157406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direct-query · 直接查库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8250" y="1552426"/>
            <a:ext cx="1917799" cy="1164431"/>
          </a:xfrm>
          <a:prstGeom prst="roundRect">
            <a:avLst>
              <a:gd name="adj" fmla="val 87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18250" y="1571476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31287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18250" y="2712095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723013" y="1552426"/>
            <a:ext cx="0" cy="11644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05476" y="1768227"/>
            <a:ext cx="157421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905476" y="2327077"/>
            <a:ext cx="1574215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 · 先视觉转 MD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950" y="2843808"/>
            <a:ext cx="2213372" cy="899666"/>
          </a:xfrm>
          <a:prstGeom prst="roundRect">
            <a:avLst>
              <a:gd name="adj" fmla="val 112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5176" y="2954834"/>
            <a:ext cx="187569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检索形态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5176" y="3175695"/>
            <a:ext cx="1875699" cy="4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命中即停的 9 档决策树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长文档→向量库 / YAML→直接查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规则模板→不进 RAG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4324" y="2843808"/>
            <a:ext cx="2251323" cy="899666"/>
          </a:xfrm>
          <a:prstGeom prst="roundRect">
            <a:avLst>
              <a:gd name="adj" fmla="val 1129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11550" y="2954834"/>
            <a:ext cx="191440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111550" y="3175695"/>
            <a:ext cx="1914409" cy="4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直接传 / internal 应用组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customer-confidential 🔒 blocked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合规没确认前,压根不传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950" y="3844975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6050" y="3844975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87301" y="3971925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分级最大的价值,是那 2000 多个「进不了库」的挡在门外——不污染检索。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38810A0D-CE44-2C38-53DF-CADBF16D970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OPEN-WAZA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知识工程 · 检索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不是全塞进 RAG:三场景一根底座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52426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73965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写文档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5176" y="197435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检索素材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176" y="2298204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机器触发 · 精度优先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8117" y="1552426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5343" y="173965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投标调研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5343" y="197435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案例+竞品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5343" y="2298204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召回优先 · 人自筛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28283" y="1552426"/>
            <a:ext cx="2607766" cy="1126331"/>
          </a:xfrm>
          <a:prstGeom prst="roundRect">
            <a:avLst>
              <a:gd name="adj" fmla="val 9020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509" y="173965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知识问答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5509" y="197435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人直接问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5509" y="2298204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 · 禁无源断言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2805708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6050" y="2805708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7301" y="2932658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三场景是</a:t>
            </a:r>
            <a:r>
              <a:rPr lang="en-US" sz="13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同一套材料库、同一套分块、同一个底座</a:t>
            </a: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,只是盖了三层不同的用法。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950" y="3561011"/>
            <a:ext cx="3987850" cy="747415"/>
          </a:xfrm>
          <a:prstGeom prst="roundRect">
            <a:avLst>
              <a:gd name="adj" fmla="val 1359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176" y="3672036"/>
            <a:ext cx="368566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实施顺序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5176" y="3892897"/>
            <a:ext cx="3685666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调研 → ① 写文档 → ③ 问答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只读先跑通,问答最敏感放最后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48200" y="3561011"/>
            <a:ext cx="3987850" cy="747415"/>
          </a:xfrm>
          <a:prstGeom prst="roundRect">
            <a:avLst>
              <a:gd name="adj" fmla="val 1359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5426" y="3672036"/>
            <a:ext cx="368566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平台选型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35426" y="3892897"/>
            <a:ext cx="3685666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不炫技自建,上现成 Venus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诉求是「检索质量+合规」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661D9921-10E2-88A8-7CE8-134C4C34100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OPEN-WAZA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62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约束工程 · 防编造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最危险两件事:露馅 + 编数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552426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71476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10954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70257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17682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 · 真人姓名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0029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人 PII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3267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永不过期,任何交付物都不该出现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8117" y="1552426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8117" y="1571476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1121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68117" y="270257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72879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55343" y="17682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 · 真客户名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5343" y="20029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5343" y="23267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统一替换成占位符,身份不外泄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8283" y="1552426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28283" y="1571476"/>
            <a:ext cx="2607766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31287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28283" y="270257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33046" y="1552426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5509" y="1768227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 · 疑似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5509" y="2002929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规模/金额/日期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5509" y="2326779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 WARN,人工瞄一眼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50" y="2834283"/>
            <a:ext cx="2055912" cy="747415"/>
          </a:xfrm>
          <a:prstGeom prst="roundRect">
            <a:avLst>
              <a:gd name="adj" fmla="val 1359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5176" y="2945309"/>
            <a:ext cx="171508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QG-PRIVACY-01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5176" y="3166170"/>
            <a:ext cx="1715089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硬红线:真人名 + 真客户名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命中即 STOP,退出码 1,不许交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66864" y="2834283"/>
            <a:ext cx="2060377" cy="747415"/>
          </a:xfrm>
          <a:prstGeom prst="roundRect">
            <a:avLst>
              <a:gd name="adj" fmla="val 13594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54089" y="2945309"/>
            <a:ext cx="171964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来源铁律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954089" y="3166170"/>
            <a:ext cx="1719644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绝不编造未经证实的量化指标</a:t>
            </a:r>
            <a:endParaRPr lang="en-US" sz="1000" dirty="0"/>
          </a:p>
          <a:p>
            <a:pPr marL="0" indent="0" algn="l">
              <a:lnSpc>
                <a:spcPts val="12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先约束后填写,每条标来源编号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950" y="3683198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46050" y="3683198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87301" y="3810149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脱敏管「别露馅」,来源铁律管「别编造」——一体两面。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44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5688403C-3053-4054-6F19-B564AF796CC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· 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三案例,一把尺子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50" y="1720602"/>
            <a:ext cx="8128099" cy="0"/>
          </a:xfrm>
          <a:prstGeom prst="line">
            <a:avLst/>
          </a:prstGeom>
          <a:noFill/>
          <a:ln w="190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58701" y="1422202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5350" y="1422202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422202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78650" y="1422202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open-waza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950" y="2112615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58701" y="1818977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5350" y="1818977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可靠性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818977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自主性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78650" y="1818977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知识治理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950" y="2499866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58701" y="2206228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5350" y="2206228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32K(成本逼的)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206228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可大(多轮)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78650" y="2206228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按需检索(不塞满)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950" y="2887117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58701" y="2593479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核心手段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5350" y="2593479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减法:高信号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593479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分层:common/project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78650" y="2593479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分级:形态×敏感度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950" y="3274368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58701" y="2980730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子系统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5350" y="2980730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上下文供给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2980730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约束工程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78650" y="2980730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记忆固化+知识工程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3431530"/>
            <a:ext cx="8128099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6050" y="3431530"/>
            <a:ext cx="0" cy="10665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3501" y="3660130"/>
            <a:ext cx="7643062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OnCall 保 R · Coding 难 A · 知识治理治脏——</a:t>
            </a:r>
            <a:r>
              <a:rPr lang="en-US" sz="16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 CAR + 4 子系统,三个相反的解</a:t>
            </a: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44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373237"/>
            <a:ext cx="82906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7950" y="2414588"/>
            <a:ext cx="82906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工具底座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3255913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记忆固化子系统的落地工具——别让上下文从头来过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工具底座 · claude-mem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把记忆做成可查询的系统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 4 子系统里的「记忆固化」——Session Summary 四段式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80361"/>
            <a:ext cx="1917650" cy="995809"/>
          </a:xfrm>
          <a:prstGeom prst="roundRect">
            <a:avLst>
              <a:gd name="adj" fmla="val 1020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767587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5176" y="2002289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查了什么、确认了什么状态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78001" y="1580361"/>
            <a:ext cx="1917799" cy="995809"/>
          </a:xfrm>
          <a:prstGeom prst="roundRect">
            <a:avLst>
              <a:gd name="adj" fmla="val 1020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65227" y="1767587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5227" y="2002289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学到了什么、哪些是关键认知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8200" y="1580361"/>
            <a:ext cx="1917650" cy="995809"/>
          </a:xfrm>
          <a:prstGeom prst="roundRect">
            <a:avLst>
              <a:gd name="adj" fmla="val 1020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5426" y="1767587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5426" y="2002289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完成了什么、可验证的成果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18250" y="1580361"/>
            <a:ext cx="1917799" cy="995809"/>
          </a:xfrm>
          <a:prstGeom prst="roundRect">
            <a:avLst>
              <a:gd name="adj" fmla="val 10203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05476" y="1767587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5476" y="2002289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下一步做什么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01242" y="2687196"/>
            <a:ext cx="1676400" cy="1306860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/Users/amerlin/Desktop/ai-兴趣小组/01-筹备文档/004期-上下文工程/ppt/assets/session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442" y="2763396"/>
            <a:ext cx="1524000" cy="11544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7950" y="4131171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46050" y="4131171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787301" y="4258121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记忆不是流水账,是结构化档案。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0E64-5C37-21B1-0D41-E216D2A8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A9D6A24-B3DC-2C4C-BBE3-E257648BFFB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9152C1D-9CAC-A509-1480-45EF86820B76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工具底座 · claude-mem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A6EA91-EBE5-F9DD-C2AB-FAD172671D1C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把记忆做成可查询的系统</a:t>
            </a:r>
            <a:endParaRPr lang="en-US" sz="3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A498CE3-D375-7563-AFDE-762D3F70BB2B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21CB6EA-2C08-DB77-DAB8-DE12644A5602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88D690B-62A1-A494-33D2-85849983E6A6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9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7A44B95-167D-B6F7-22DA-34446CA9F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41" y="1215096"/>
            <a:ext cx="3878470" cy="197481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27F91C7-499B-2CED-CC75-20CAEE730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952" y="1228468"/>
            <a:ext cx="3768446" cy="196144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28DA8F1-021E-4D00-AD0C-463D9D914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414" y="3355711"/>
            <a:ext cx="2218267" cy="127046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52F8A70-1549-7E75-C9A8-03887A743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3501" y="3355711"/>
            <a:ext cx="2763453" cy="126658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E78EB03-A588-7BD9-B9C9-4122C90BB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6268" y="3355711"/>
            <a:ext cx="2820928" cy="126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85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成本认知 · 结论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成本全花在输入上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358801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5460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478,376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5176" y="210487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8117" y="1358801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5343" y="15460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5343" y="210487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28283" y="1358801"/>
            <a:ext cx="2607766" cy="1135856"/>
          </a:xfrm>
          <a:prstGeom prst="roundRect">
            <a:avLst>
              <a:gd name="adj" fmla="val 894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509" y="1546027"/>
            <a:ext cx="227798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5509" y="2104876"/>
            <a:ext cx="227798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输入占比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70250" y="2596158"/>
            <a:ext cx="1803350" cy="1184225"/>
          </a:xfrm>
          <a:prstGeom prst="roundRect">
            <a:avLst>
              <a:gd name="adj" fmla="val 85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Users/amerlin/Desktop/ai-兴趣小组/01-筹备文档/004期-上下文工程/ppt/assets/cost-big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50" y="2672358"/>
            <a:ext cx="1650950" cy="10318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950" y="388188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46050" y="3881884"/>
            <a:ext cx="0" cy="761851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63501" y="4110484"/>
            <a:ext cx="764306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相当于把一本厚书塞给模型,只让它回一句话——钱全花在输入上。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成本认知 · 解剖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把这条 Trace 拆开看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AgentLens 实拍 · 业务场景 craft · 模型 claude-opus-5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701552"/>
            <a:ext cx="3200400" cy="12949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步</a:t>
            </a: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调用,</a:t>
            </a: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46.07s</a:t>
            </a: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总延时</a:t>
            </a:r>
            <a:endParaRPr lang="en-US" sz="1200" dirty="0"/>
          </a:p>
          <a:p>
            <a:pPr marL="114300" indent="-114300" algn="l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</a:t>
            </a: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 条</a:t>
            </a: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累积消息,约 73 万字符 / 47.8 万 tokens</a:t>
            </a:r>
            <a:endParaRPr lang="en-US" sz="1200" dirty="0"/>
          </a:p>
          <a:p>
            <a:pPr marL="114300" indent="-114300" algn="l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输出只有 </a:t>
            </a: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endParaRPr lang="en-US" sz="1200" dirty="0"/>
          </a:p>
          <a:p>
            <a:pPr marL="114300" indent="-114300" algn="l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TraceID </a:t>
            </a:r>
            <a:r>
              <a:rPr lang="en-US" sz="12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5cba…f2bfc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051" y="1625352"/>
            <a:ext cx="4159151" cy="297849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Users/amerlin/Desktop/ai-兴趣小组/01-筹备文档/004期-上下文工程/ppt/assets/trace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251" y="1701552"/>
            <a:ext cx="4006751" cy="28260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EB59C-0028-2EFF-A4B1-72C96EB7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9D84A00-227C-C907-96A0-7070D781CFB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37BEFD-3443-6067-69F4-E2948E10C93E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成本认知 · 解剖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439009-085E-1787-0BD9-18A6184799EE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把这条 Trace 拆开看</a:t>
            </a:r>
            <a:endParaRPr lang="en-US" sz="3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D9F1AC7-D88E-B31B-468E-E0630E3AF60B}"/>
              </a:ext>
            </a:extLst>
          </p:cNvPr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BD7F29F-3A7F-44D0-90DD-A60E6EF6EBFA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60F4093-68B9-2EBF-F445-1245C01EDABB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60C8E7-1C87-E371-789F-1CB6243D6E36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461F0AF-FA2C-18A0-258F-3C225C46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417052"/>
            <a:ext cx="3015775" cy="271532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4B2E32-EE3D-3458-6AC7-56ED6AF64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005" y="1417051"/>
            <a:ext cx="2507866" cy="271531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E28316D-1F86-CD66-20AA-40E7C99BF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152" y="1417052"/>
            <a:ext cx="2550190" cy="271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05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模型格局 · OpenRouter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选模型从拍脑袋到看数据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 2026-08-10 · OpenRouter 原图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74602"/>
            <a:ext cx="4964311" cy="2161133"/>
          </a:xfrm>
          <a:prstGeom prst="roundRect">
            <a:avLst>
              <a:gd name="adj" fmla="val 47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Users/amerlin/Desktop/ai-兴趣小组/01-筹备文档/004期-上下文工程/ppt/assets/openrouter-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0" y="1650802"/>
            <a:ext cx="4811911" cy="20087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3762" y="1574602"/>
            <a:ext cx="3062288" cy="2161133"/>
          </a:xfrm>
          <a:prstGeom prst="roundRect">
            <a:avLst>
              <a:gd name="adj" fmla="val 47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/Users/amerlin/Desktop/ai-兴趣小组/01-筹备文档/004期-上下文工程/ppt/assets/ranking-in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962" y="1650802"/>
            <a:ext cx="2909888" cy="9468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950" y="3811935"/>
            <a:ext cx="8128099" cy="5014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46050" y="3811935"/>
            <a:ext cx="0" cy="501402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87301" y="3938885"/>
            <a:ext cx="779851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智能榜和智能体榜要分开看——两个维度,两个坐标系。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四期 · 上下文工程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1641</Words>
  <Application>Microsoft Macintosh PowerPoint</Application>
  <PresentationFormat>全屏显示(16:9)</PresentationFormat>
  <Paragraphs>576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T176619</cp:lastModifiedBy>
  <cp:revision>9</cp:revision>
  <dcterms:created xsi:type="dcterms:W3CDTF">2026-08-15T06:08:49Z</dcterms:created>
  <dcterms:modified xsi:type="dcterms:W3CDTF">2026-08-15T12:36:19Z</dcterms:modified>
</cp:coreProperties>
</file>