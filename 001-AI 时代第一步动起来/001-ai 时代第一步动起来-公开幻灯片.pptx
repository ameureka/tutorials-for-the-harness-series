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5" r:id="rId6"/>
    <p:sldId id="287" r:id="rId7"/>
    <p:sldId id="288" r:id="rId8"/>
    <p:sldId id="266" r:id="rId9"/>
    <p:sldId id="267" r:id="rId10"/>
    <p:sldId id="268" r:id="rId11"/>
    <p:sldId id="269" r:id="rId12"/>
    <p:sldId id="280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626"/>
  </p:normalViewPr>
  <p:slideViewPr>
    <p:cSldViewPr snapToGrid="0">
      <p:cViewPr varScale="1">
        <p:scale>
          <a:sx n="121" d="100"/>
          <a:sy n="121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0A62-41BC-DA5D-3776-5547C273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152BE-7346-2E1A-128D-867BD1FBD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EBF99-5C3E-034A-7BEB-FBF65DDA0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8CE7-9B1E-252B-2C36-1C9703A3AC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934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E66D-0BB7-4E27-7A0D-FF0AD620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19BFE-3604-AAB1-ABA9-8D4CB8BC7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08AB5-8616-36E5-B2F4-AAEF1EDE0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E2A8D-3387-5252-599B-AA72722178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6827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0" y="36195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66675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lang="zh-CN" sz="1125" b="0" dirty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玩转</a:t>
            </a:r>
            <a:r>
              <a:rPr sz="1125" b="0" dirty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 / HUTB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1600200"/>
            <a:ext cx="7429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85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从这里出发</a:t>
            </a:r>
            <a:endParaRPr sz="5850" b="1" dirty="0">
              <a:solidFill>
                <a:srgbClr val="F6F1E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2428875"/>
            <a:ext cx="8953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400" b="1" dirty="0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</a:t>
            </a:r>
            <a:r>
              <a:rPr sz="5400" b="1" dirty="0" err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时代第一步</a:t>
            </a:r>
            <a:endParaRPr sz="5400" b="1" dirty="0">
              <a:solidFill>
                <a:srgbClr val="C6A1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3543300"/>
            <a:ext cx="7143750" cy="190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0" y="1104900"/>
            <a:ext cx="2190750" cy="190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315700" y="1104900"/>
            <a:ext cx="19050" cy="20955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02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381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00 / OPENING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104900"/>
            <a:ext cx="9334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2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你今天最花时间的事情，AI 能不能 3 分钟做到 80 分？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2809875"/>
            <a:ext cx="4524375" cy="1619250"/>
          </a:xfrm>
          <a:prstGeom prst="rect">
            <a:avLst/>
          </a:prstGeom>
          <a:solidFill>
            <a:srgbClr val="121A24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95400" y="2962275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能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3362325"/>
            <a:ext cx="414337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说明它已经进入你的工作流</a:t>
            </a:r>
          </a:p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你需要学会把结果稳定下来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2809875"/>
            <a:ext cx="4524375" cy="161925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2962275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暂时不能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3362325"/>
            <a:ext cx="414337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说明问题还没有被拆清楚</a:t>
            </a:r>
          </a:p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你需要学会定义任务和评测标准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23875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521970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今天不是听完就走，而是找到第一个能开始的方向。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01 / WHY NOW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已经进入工作层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485900"/>
            <a:ext cx="4953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从聊天框到 Agent 工作流，AI 现在不是陪聊工具，而是开始参与真实工作。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19075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171700"/>
            <a:ext cx="4095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已经从“聊天工具”变成“工作基础设施”。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333750"/>
            <a:ext cx="4000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过去：会回答问题</a:t>
            </a:r>
          </a:p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现在：会参与工作</a:t>
            </a:r>
          </a:p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下一步：能执行任务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1381125"/>
            <a:ext cx="4381500" cy="3381375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24650" y="1514475"/>
            <a:ext cx="407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SOURCE / AI OPS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1965746"/>
            <a:ext cx="4076700" cy="24407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05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01 / WHY NOW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你们为什么比</a:t>
            </a:r>
            <a:r>
              <a:rPr lang="en-US" sz="315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过去的人</a:t>
            </a:r>
            <a:r>
              <a:rPr sz="315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更幸运</a:t>
            </a:r>
            <a:endParaRPr sz="3150" b="1" dirty="0">
              <a:solidFill>
                <a:srgbClr val="F6F1E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8115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你们</a:t>
            </a:r>
            <a:r>
              <a:rPr lang="en-US" sz="210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比过去一批人</a:t>
            </a:r>
            <a:r>
              <a:rPr sz="2100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更早站在窗口前</a:t>
            </a:r>
            <a:r>
              <a:rPr sz="2100" b="1" dirty="0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905125"/>
            <a:ext cx="2857500" cy="16764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0575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上一届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457575"/>
            <a:ext cx="247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还停留在工具尝鲜，真实项目入口更少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57650" y="2905125"/>
            <a:ext cx="2857500" cy="1676400"/>
          </a:xfrm>
          <a:prstGeom prst="rect">
            <a:avLst/>
          </a:prstGeom>
          <a:solidFill>
            <a:srgbClr val="121A24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48150" y="30575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现在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48150" y="3457575"/>
            <a:ext cx="247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Agent、RAG、AI 原生开发开始进入真实工作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2905125"/>
            <a:ext cx="2857500" cy="16764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0" y="30575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你们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29500" y="3457575"/>
            <a:ext cx="247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可以更早进项目、出作品、找同伴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5219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不是等机会，是进来把机会做出来</a:t>
            </a:r>
            <a:r>
              <a:rPr sz="1875" b="1" dirty="0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10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03 / INDUSTRY MAP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产业现在发生了什么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8115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正在从“工具”变成“工作基础设施”。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58716" y="2562225"/>
            <a:ext cx="2190750" cy="16764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49216" y="2714625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过去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49216" y="3114675"/>
            <a:ext cx="1809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会回答问题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73316" y="2562225"/>
            <a:ext cx="2190750" cy="1676400"/>
          </a:xfrm>
          <a:prstGeom prst="rect">
            <a:avLst/>
          </a:prstGeom>
          <a:solidFill>
            <a:srgbClr val="121A24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63816" y="2714625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现在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63816" y="3114675"/>
            <a:ext cx="1809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会参与工作流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87916" y="2562225"/>
            <a:ext cx="2190750" cy="16764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78416" y="2714625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下一步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78416" y="3114675"/>
            <a:ext cx="1809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dirty="0" err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能执行任务并反馈</a:t>
            </a:r>
            <a:endParaRPr sz="1500" b="0" dirty="0">
              <a:solidFill>
                <a:srgbClr val="DDE2E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02541" y="2343150"/>
            <a:ext cx="2476500" cy="200025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54941" y="2476500"/>
            <a:ext cx="2171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SOURCE / TOOLS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941" y="2801541"/>
            <a:ext cx="2171700" cy="131206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BD367BA-C735-9735-E3C7-D5BF29E86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72966"/>
            <a:ext cx="2082745" cy="134203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FFEFE41-230A-4E69-8C50-49BA32173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5952" y="4372966"/>
            <a:ext cx="1945537" cy="135167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BB50A4C-66F9-D8BE-AEA1-AA99D2612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896" y="4391025"/>
            <a:ext cx="2183109" cy="132397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D869C6A-E33A-07CD-2288-24BEC41319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412" y="4406749"/>
            <a:ext cx="1997179" cy="133145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E449D1F-B3BC-8C30-49BD-E6F7C4A2DA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5164" y="4408214"/>
            <a:ext cx="2111971" cy="1332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A0468-6FB1-124B-93CD-B5621DA9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89A4BC6-7111-3E55-5F73-FBD4BAF861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0989C3-4737-087F-6DE7-0E8C754ACE40}"/>
              </a:ext>
            </a:extLst>
          </p:cNvPr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D871FF-EF78-AA20-350D-EC2F9DF418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BC6778-EB39-6ACF-33F5-05B54B24558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B79C2B-F174-C03F-C250-F541197C7694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BA8233-BFAE-EDA4-9BA4-0C4993B9FF76}"/>
              </a:ext>
            </a:extLst>
          </p:cNvPr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10 / 27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36F7F-F3F6-2D18-8CB4-1DCBC9BA3BF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03 / INDUSTRY MAP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7AB120-51EF-0CFA-C7DF-FBA09E8569F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产业现在发生了什么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C3462-9FF5-2CFC-B767-8CF5F3CE152D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9A6A5EA-2964-9575-FD7E-F8B9658F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90750"/>
            <a:ext cx="5971443" cy="331800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E10C2A0-621A-00CB-7106-BF48AAA72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627" y="2190750"/>
            <a:ext cx="6355373" cy="35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7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7C46-C263-F243-905E-1D1224BA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696C9E0-96D4-0DBD-74DB-8F05B0280C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BEA107-6EE7-6517-B123-FFA0F4AA8383}"/>
              </a:ext>
            </a:extLst>
          </p:cNvPr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7B88AE-AD1F-1112-B8A9-4BC515CF6B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F5BB49-03B8-96C1-834C-CF561F64113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35E438-9D0C-CDB2-C19C-82D20A37B411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33EFD2-0109-7433-1235-AE7E29B49263}"/>
              </a:ext>
            </a:extLst>
          </p:cNvPr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10 / 27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9A2A26-F126-FA92-FC09-E542367627D3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03 / INDUSTRY MAP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87D381-013F-FF5F-6C0B-1941FEEA0F1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产业现在发生了什么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943D3B-2151-4779-1FCE-D15FAE46F19D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D8B00B-80F0-8F22-7FA0-5C2D419FA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4" y="2381645"/>
            <a:ext cx="5755613" cy="32539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301C34-5151-8FE1-A7FC-8636275D4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977" y="446898"/>
            <a:ext cx="6220160" cy="34972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C685C11-5D94-E687-7575-8B6B13EF7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046" y="3549278"/>
            <a:ext cx="5892312" cy="330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0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11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03 / INDUSTRY MAP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会用者、会造者、无感者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81150"/>
            <a:ext cx="10001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工作室训练的，不是会点 AI 的人，而是会造 AI 系统的人。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514600"/>
            <a:ext cx="3048000" cy="18288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3450" y="27051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无感者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32004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 AI 当成别人的事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373380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没有训练自己的新路径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191000" y="2514600"/>
            <a:ext cx="3048000" cy="18288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81500" y="27051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会用者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81500" y="32004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会提问，会出结果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81500" y="373380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但没有稳定的方法和流程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39050" y="2514600"/>
            <a:ext cx="3048000" cy="1828800"/>
          </a:xfrm>
          <a:prstGeom prst="rect">
            <a:avLst/>
          </a:prstGeom>
          <a:solidFill>
            <a:srgbClr val="151D26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29550" y="27051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会造者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29550" y="320040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会设计任务、搭流程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373380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会做评测和复盘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AEE42B7-16DE-8D84-AE0B-037710C26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78" y="4450796"/>
            <a:ext cx="3143250" cy="197857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31DDBA6-05FD-6CD9-60E8-2D0F9F673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2" y="4468523"/>
            <a:ext cx="3722809" cy="1909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12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03 / INDUSTRY MAP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岗位地图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5621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43050"/>
            <a:ext cx="10096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产业要的不是“会用</a:t>
            </a:r>
            <a:r>
              <a:rPr sz="1875" b="1" dirty="0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AI”，</a:t>
            </a:r>
            <a:r>
              <a:rPr sz="1875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而是“能交付结果的人</a:t>
            </a:r>
            <a:r>
              <a:rPr sz="1875" b="1" dirty="0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”。</a:t>
            </a:r>
            <a:r>
              <a:rPr lang="en-US" sz="1875" b="1" dirty="0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FED </a:t>
            </a:r>
            <a:r>
              <a:rPr lang="en-US" sz="1875" b="1" dirty="0" err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工程师</a:t>
            </a:r>
            <a:endParaRPr sz="1875" b="1" dirty="0">
              <a:solidFill>
                <a:srgbClr val="F6F1E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381250"/>
            <a:ext cx="9906000" cy="31623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381250"/>
            <a:ext cx="9906000" cy="400050"/>
          </a:xfrm>
          <a:prstGeom prst="rect">
            <a:avLst/>
          </a:prstGeom>
          <a:solidFill>
            <a:srgbClr val="151D26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24955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岗位方向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95800" y="24955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对应能力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2781300"/>
            <a:ext cx="99060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29051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工程师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10050" y="2781300"/>
            <a:ext cx="9525" cy="552450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95800" y="290512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Prompt / Agent / RAG / 工程实现 / 灰度上线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3333750"/>
            <a:ext cx="99060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345757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产品经理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210050" y="3333750"/>
            <a:ext cx="9525" cy="552450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95800" y="34575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需求定义 / 场景设计 / 体验验证 / 用户反馈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3886200"/>
            <a:ext cx="99060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40100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解决方案架构师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10050" y="3886200"/>
            <a:ext cx="9525" cy="552450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495800" y="401002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方案设计 / 交付推进 / 客户对接 / 风险处理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4438650"/>
            <a:ext cx="99060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456247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LLMOps / MLOps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210050" y="4438650"/>
            <a:ext cx="9525" cy="552450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95800" y="456247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模型运维 / 成本优化 / 版本治理 / 部署监控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4991100"/>
            <a:ext cx="99060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66800" y="51149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安全与评测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210050" y="4991100"/>
            <a:ext cx="9525" cy="552450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495800" y="5114925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Prompt 注入 / 权限审计 / 回归测试 / 质量控制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6300" y="5857875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dirty="0" err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一个可训练的起点进入真实交付</a:t>
            </a:r>
            <a:r>
              <a:rPr sz="1650" b="1" dirty="0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13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03 / INDUSTRY MAP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产业要的不是“会用 AI”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8115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会用 AI 和能交付结果，中间差的是工程能力。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971800"/>
            <a:ext cx="2857500" cy="165735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1242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会用 AI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524250"/>
            <a:ext cx="24765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会问问题</a:t>
            </a:r>
          </a:p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会出答案</a:t>
            </a:r>
          </a:p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会套模板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57700" y="2857500"/>
            <a:ext cx="2952750" cy="1885950"/>
          </a:xfrm>
          <a:prstGeom prst="rect">
            <a:avLst/>
          </a:prstGeom>
          <a:solidFill>
            <a:srgbClr val="121A24"/>
          </a:solidFill>
          <a:ln w="9525">
            <a:solidFill>
              <a:srgbClr val="5FB3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48200" y="30099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5FB3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5FB3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工程能力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48200" y="3409950"/>
            <a:ext cx="25717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Harness</a:t>
            </a:r>
          </a:p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Eval</a:t>
            </a:r>
          </a:p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Iteration</a:t>
            </a:r>
          </a:p>
          <a:p>
            <a:pPr algn="l">
              <a:def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Delivery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43875" y="2971800"/>
            <a:ext cx="2857500" cy="1657350"/>
          </a:xfrm>
          <a:prstGeom prst="rect">
            <a:avLst/>
          </a:prstGeom>
          <a:solidFill>
            <a:srgbClr val="121A24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34375" y="31242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能交付结果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34375" y="3524250"/>
            <a:ext cx="24765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会定任务</a:t>
            </a:r>
          </a:p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会做评测</a:t>
            </a:r>
          </a:p>
          <a:p>
            <a:pPr algn="l">
              <a:def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会稳定交付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33800" y="3810000"/>
            <a:ext cx="723900" cy="19050"/>
          </a:xfrm>
          <a:prstGeom prst="rect">
            <a:avLst/>
          </a:prstGeom>
          <a:solidFill>
            <a:srgbClr val="5FB3B3"/>
          </a:solidFill>
          <a:ln w="0">
            <a:solidFill>
              <a:srgbClr val="5FB3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10450" y="3810000"/>
            <a:ext cx="723900" cy="19050"/>
          </a:xfrm>
          <a:prstGeom prst="rect">
            <a:avLst/>
          </a:prstGeom>
          <a:solidFill>
            <a:srgbClr val="5FB3B3"/>
          </a:solidFill>
          <a:ln w="0">
            <a:solidFill>
              <a:srgbClr val="5FB3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14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04 / WHAT YOU GET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四层收获结构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81150"/>
            <a:ext cx="10096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从底层技术到顶层职业，每一层都能被看见、被积累、被带走。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19250" y="2590800"/>
            <a:ext cx="8096250" cy="514350"/>
          </a:xfrm>
          <a:prstGeom prst="rect">
            <a:avLst/>
          </a:prstGeom>
          <a:solidFill>
            <a:srgbClr val="151D26"/>
          </a:solidFill>
          <a:ln w="9525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09750" y="27241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职业通道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14750" y="2743200"/>
            <a:ext cx="571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实习推荐 / 竞赛 / 开源 / 后续连接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47875" y="3276600"/>
            <a:ext cx="7572375" cy="51435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38375" y="3409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项目证据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43375" y="3429000"/>
            <a:ext cx="519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GitHub 仓库 / Demo / 评测报告 / 作品集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76500" y="3962400"/>
            <a:ext cx="7048500" cy="51435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67000" y="4095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工程方法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572000" y="4114800"/>
            <a:ext cx="466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dirty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Harness Engineering / </a:t>
            </a:r>
            <a:r>
              <a:rPr sz="1350" b="0" dirty="0" err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评测约束</a:t>
            </a:r>
            <a:r>
              <a:rPr sz="1350" b="0" dirty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/</a:t>
            </a:r>
            <a:r>
              <a:rPr lang="zh-CN" altLang="en-US" sz="1350" b="0" dirty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回归测试</a:t>
            </a:r>
            <a:endParaRPr sz="1350" b="0" dirty="0">
              <a:solidFill>
                <a:srgbClr val="DDE2E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05125" y="4648200"/>
            <a:ext cx="6524625" cy="51435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095625" y="47815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C6A1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技术硬实力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00625" y="4800600"/>
            <a:ext cx="4143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dirty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Prompt / Agent / RAG / </a:t>
            </a:r>
            <a:r>
              <a:rPr sz="1350" b="0" dirty="0" err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全栈</a:t>
            </a:r>
            <a:r>
              <a:rPr sz="1350" b="0" dirty="0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/ </a:t>
            </a:r>
            <a:r>
              <a:rPr sz="1350" b="0" dirty="0" err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安全研究</a:t>
            </a:r>
            <a:endParaRPr sz="1350" b="0" dirty="0">
              <a:solidFill>
                <a:srgbClr val="DDE2E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4"/>
          </a:solidFill>
          <a:ln w="0">
            <a:solidFill>
              <a:srgbClr val="0B0F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1950" y="361950"/>
            <a:ext cx="19050" cy="609600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2B3540"/>
          </a:solidFill>
          <a:ln w="0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436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AI STUDIO LAUNCH / HUTB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72750" y="65436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975" b="0">
                <a:solidFill>
                  <a:srgbClr val="8E99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25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524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050" b="0">
                <a:solidFill>
                  <a:srgbClr val="C6A15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PART 07 / FOUR-YEAR PATH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857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早行动、出作品、找圈子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00200"/>
            <a:ext cx="47625" cy="476250"/>
          </a:xfrm>
          <a:prstGeom prst="rect">
            <a:avLst/>
          </a:prstGeom>
          <a:solidFill>
            <a:srgbClr val="C6A15B"/>
          </a:solidFill>
          <a:ln w="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581150"/>
            <a:ext cx="10001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你们不需要是最聪明的，你们需要是最早动手的。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952750"/>
            <a:ext cx="3048000" cy="18288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1432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早行动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6385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先做一个烂项目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17195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比什么都不做强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24350" y="2952750"/>
            <a:ext cx="3048000" cy="18288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14850" y="31432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出作品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14850" y="36385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GitHub、Demo、报告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14850" y="417195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必须留下证据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72400" y="2952750"/>
            <a:ext cx="3048000" cy="1828800"/>
          </a:xfrm>
          <a:prstGeom prst="rect">
            <a:avLst/>
          </a:prstGeom>
          <a:solidFill>
            <a:srgbClr val="121A24"/>
          </a:solidFill>
          <a:ln w="9525">
            <a:solidFill>
              <a:srgbClr val="2B35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62900" y="31432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6F1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找圈子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62900" y="36385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DDE2E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找到 2-3 个同伴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62900" y="417195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8E99A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一起做事成功率更高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463</Words>
  <Application>Microsoft Macintosh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T176619</cp:lastModifiedBy>
  <cp:revision>18</cp:revision>
  <dcterms:created xsi:type="dcterms:W3CDTF">2026-06-11T04:09:00Z</dcterms:created>
  <dcterms:modified xsi:type="dcterms:W3CDTF">2026-09-11T12:02:06Z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77534BC615644B759D90C6B3680BFFB2_12</vt:lpwstr>
  </property>
</Properties>
</file>