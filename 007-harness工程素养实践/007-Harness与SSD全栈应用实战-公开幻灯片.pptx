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58af346f54f55" /><Relationship Type="http://schemas.openxmlformats.org/officeDocument/2006/relationships/extended-properties" Target="/docProps/app.xml" Id="R6366b07fb30d4d76" /><Relationship Type="http://schemas.openxmlformats.org/officeDocument/2006/relationships/officeDocument" Target="/ppt/presentation.xml" Id="R287405ea34e042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2136616ffb42d0"/>
  </p:sldMasterIdLst>
  <p:notesMasterIdLst>
    <p:notesMasterId xmlns:r="http://schemas.openxmlformats.org/officeDocument/2006/relationships" r:id="Rf488d487023b4159"/>
  </p:notesMasterIdLst>
  <p:sldIdLst>
    <p:sldId xmlns:r="http://schemas.openxmlformats.org/officeDocument/2006/relationships" id="256" r:id="R13326f567c6d4465"/>
    <p:sldId xmlns:r="http://schemas.openxmlformats.org/officeDocument/2006/relationships" id="257" r:id="R2577c97a16194adc"/>
    <p:sldId xmlns:r="http://schemas.openxmlformats.org/officeDocument/2006/relationships" id="258" r:id="R6fcb80b46b554524"/>
    <p:sldId xmlns:r="http://schemas.openxmlformats.org/officeDocument/2006/relationships" id="259" r:id="Rf842d3ebe0074b5a"/>
    <p:sldId xmlns:r="http://schemas.openxmlformats.org/officeDocument/2006/relationships" id="260" r:id="Red43f45bef394e1e"/>
    <p:sldId xmlns:r="http://schemas.openxmlformats.org/officeDocument/2006/relationships" id="261" r:id="R1aaf207a4763491c"/>
    <p:sldId xmlns:r="http://schemas.openxmlformats.org/officeDocument/2006/relationships" id="262" r:id="R09736159665a4251"/>
    <p:sldId xmlns:r="http://schemas.openxmlformats.org/officeDocument/2006/relationships" id="263" r:id="Rd17d807a9e8d4ba3"/>
    <p:sldId xmlns:r="http://schemas.openxmlformats.org/officeDocument/2006/relationships" id="264" r:id="Rf677b66c5d8e40d8"/>
    <p:sldId xmlns:r="http://schemas.openxmlformats.org/officeDocument/2006/relationships" id="265" r:id="R443c390f8d6842ce"/>
    <p:sldId xmlns:r="http://schemas.openxmlformats.org/officeDocument/2006/relationships" id="266" r:id="Ra9f09bb9492c47e2"/>
    <p:sldId xmlns:r="http://schemas.openxmlformats.org/officeDocument/2006/relationships" id="267" r:id="R6707965dd93942c3"/>
    <p:sldId xmlns:r="http://schemas.openxmlformats.org/officeDocument/2006/relationships" id="268" r:id="Ra19b87e71cfe44a7"/>
    <p:sldId xmlns:r="http://schemas.openxmlformats.org/officeDocument/2006/relationships" id="269" r:id="Rd2756ed147c04af5"/>
    <p:sldId xmlns:r="http://schemas.openxmlformats.org/officeDocument/2006/relationships" id="270" r:id="Rfb26163fd712469a"/>
    <p:sldId xmlns:r="http://schemas.openxmlformats.org/officeDocument/2006/relationships" id="271" r:id="R1b72c09152c847e1"/>
    <p:sldId xmlns:r="http://schemas.openxmlformats.org/officeDocument/2006/relationships" id="272" r:id="R282334af4251436d"/>
    <p:sldId xmlns:r="http://schemas.openxmlformats.org/officeDocument/2006/relationships" id="273" r:id="R6b92124ec06249f2"/>
    <p:sldId xmlns:r="http://schemas.openxmlformats.org/officeDocument/2006/relationships" id="274" r:id="Rf3f35412c57e46ec"/>
    <p:sldId xmlns:r="http://schemas.openxmlformats.org/officeDocument/2006/relationships" id="275" r:id="Rd943a85db1044a82"/>
    <p:sldId xmlns:r="http://schemas.openxmlformats.org/officeDocument/2006/relationships" id="276" r:id="R8781dad33030488a"/>
    <p:sldId xmlns:r="http://schemas.openxmlformats.org/officeDocument/2006/relationships" id="277" r:id="Rfe46ef3c5c4e4caf"/>
    <p:sldId xmlns:r="http://schemas.openxmlformats.org/officeDocument/2006/relationships" id="278" r:id="R676d892ff3494a7b"/>
    <p:sldId xmlns:r="http://schemas.openxmlformats.org/officeDocument/2006/relationships" id="279" r:id="R226ec0ffb1e64910"/>
    <p:sldId xmlns:r="http://schemas.openxmlformats.org/officeDocument/2006/relationships" id="280" r:id="R0c61e87b0f864de2"/>
    <p:sldId xmlns:r="http://schemas.openxmlformats.org/officeDocument/2006/relationships" id="281" r:id="Rd86d0172915e43b2"/>
    <p:sldId xmlns:r="http://schemas.openxmlformats.org/officeDocument/2006/relationships" id="282" r:id="R97edc5274e5c4390"/>
    <p:sldId xmlns:r="http://schemas.openxmlformats.org/officeDocument/2006/relationships" id="283" r:id="Rdf835e3f7f7a4fb9"/>
    <p:sldId xmlns:r="http://schemas.openxmlformats.org/officeDocument/2006/relationships" id="284" r:id="R1ef40c4407974ee9"/>
    <p:sldId xmlns:r="http://schemas.openxmlformats.org/officeDocument/2006/relationships" id="285" r:id="R94c609b550ed4dd3"/>
    <p:sldId xmlns:r="http://schemas.openxmlformats.org/officeDocument/2006/relationships" id="286" r:id="Rb6fc2a3e26af461a"/>
    <p:sldId xmlns:r="http://schemas.openxmlformats.org/officeDocument/2006/relationships" id="287" r:id="R1240b2622e6e4289"/>
    <p:sldId xmlns:r="http://schemas.openxmlformats.org/officeDocument/2006/relationships" id="288" r:id="R3106112cb0b240f0"/>
    <p:sldId xmlns:r="http://schemas.openxmlformats.org/officeDocument/2006/relationships" id="289" r:id="R5de6b3e1431343d7"/>
    <p:sldId xmlns:r="http://schemas.openxmlformats.org/officeDocument/2006/relationships" id="290" r:id="Rc9edba8565124d9b"/>
    <p:sldId xmlns:r="http://schemas.openxmlformats.org/officeDocument/2006/relationships" id="291" r:id="Rad284d91846e4e6f"/>
    <p:sldId xmlns:r="http://schemas.openxmlformats.org/officeDocument/2006/relationships" id="292" r:id="R7adde33e5f0744a8"/>
    <p:sldId xmlns:r="http://schemas.openxmlformats.org/officeDocument/2006/relationships" id="293" r:id="R138dbcb84aed4f2f"/>
    <p:sldId xmlns:r="http://schemas.openxmlformats.org/officeDocument/2006/relationships" id="294" r:id="Rd7fa84ae0aff4b9e"/>
    <p:sldId xmlns:r="http://schemas.openxmlformats.org/officeDocument/2006/relationships" id="295" r:id="R37462d3a02eb490b"/>
    <p:sldId xmlns:r="http://schemas.openxmlformats.org/officeDocument/2006/relationships" id="296" r:id="R4337693fea2f4315"/>
    <p:sldId xmlns:r="http://schemas.openxmlformats.org/officeDocument/2006/relationships" id="297" r:id="R10f54529ae734aee"/>
    <p:sldId xmlns:r="http://schemas.openxmlformats.org/officeDocument/2006/relationships" id="298" r:id="Rf4a6b22f901d4145"/>
    <p:sldId xmlns:r="http://schemas.openxmlformats.org/officeDocument/2006/relationships" id="299" r:id="Re0f511cc89964fd8"/>
    <p:sldId xmlns:r="http://schemas.openxmlformats.org/officeDocument/2006/relationships" id="300" r:id="R9e6f17d0ca8f4a7c"/>
    <p:sldId xmlns:r="http://schemas.openxmlformats.org/officeDocument/2006/relationships" id="301" r:id="Rf080e19d35b2436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950c34eee4ec1" /><Relationship Type="http://schemas.openxmlformats.org/officeDocument/2006/relationships/slideMaster" Target="/ppt/slideMasters/slideMaster1.xml" Id="R672136616ffb42d0" /><Relationship Type="http://schemas.openxmlformats.org/officeDocument/2006/relationships/notesMaster" Target="/ppt/notesMasters/notesMaster1.xml" Id="Rf488d487023b4159" /><Relationship Type="http://schemas.openxmlformats.org/officeDocument/2006/relationships/presProps" Target="/ppt/presProps.xml" Id="R034c20965fd54aed" /><Relationship Type="http://schemas.openxmlformats.org/officeDocument/2006/relationships/tableStyles" Target="/ppt/tableStyles.xml" Id="R149d5b26c7dc41b7" /><Relationship Type="http://schemas.openxmlformats.org/officeDocument/2006/relationships/slide" Target="/ppt/slides/slide1.xml" Id="R13326f567c6d4465" /><Relationship Type="http://schemas.openxmlformats.org/officeDocument/2006/relationships/slide" Target="/ppt/slides/slide2.xml" Id="R2577c97a16194adc" /><Relationship Type="http://schemas.openxmlformats.org/officeDocument/2006/relationships/slide" Target="/ppt/slides/slide3.xml" Id="R6fcb80b46b554524" /><Relationship Type="http://schemas.openxmlformats.org/officeDocument/2006/relationships/slide" Target="/ppt/slides/slide4.xml" Id="Rf842d3ebe0074b5a" /><Relationship Type="http://schemas.openxmlformats.org/officeDocument/2006/relationships/slide" Target="/ppt/slides/slide5.xml" Id="Red43f45bef394e1e" /><Relationship Type="http://schemas.openxmlformats.org/officeDocument/2006/relationships/slide" Target="/ppt/slides/slide6.xml" Id="R1aaf207a4763491c" /><Relationship Type="http://schemas.openxmlformats.org/officeDocument/2006/relationships/slide" Target="/ppt/slides/slide7.xml" Id="R09736159665a4251" /><Relationship Type="http://schemas.openxmlformats.org/officeDocument/2006/relationships/slide" Target="/ppt/slides/slide8.xml" Id="Rd17d807a9e8d4ba3" /><Relationship Type="http://schemas.openxmlformats.org/officeDocument/2006/relationships/slide" Target="/ppt/slides/slide9.xml" Id="Rf677b66c5d8e40d8" /><Relationship Type="http://schemas.openxmlformats.org/officeDocument/2006/relationships/slide" Target="/ppt/slides/slide10.xml" Id="R443c390f8d6842ce" /><Relationship Type="http://schemas.openxmlformats.org/officeDocument/2006/relationships/slide" Target="/ppt/slides/slide11.xml" Id="Ra9f09bb9492c47e2" /><Relationship Type="http://schemas.openxmlformats.org/officeDocument/2006/relationships/slide" Target="/ppt/slides/slide12.xml" Id="R6707965dd93942c3" /><Relationship Type="http://schemas.openxmlformats.org/officeDocument/2006/relationships/slide" Target="/ppt/slides/slide13.xml" Id="Ra19b87e71cfe44a7" /><Relationship Type="http://schemas.openxmlformats.org/officeDocument/2006/relationships/slide" Target="/ppt/slides/slide14.xml" Id="Rd2756ed147c04af5" /><Relationship Type="http://schemas.openxmlformats.org/officeDocument/2006/relationships/slide" Target="/ppt/slides/slide15.xml" Id="Rfb26163fd712469a" /><Relationship Type="http://schemas.openxmlformats.org/officeDocument/2006/relationships/slide" Target="/ppt/slides/slide16.xml" Id="R1b72c09152c847e1" /><Relationship Type="http://schemas.openxmlformats.org/officeDocument/2006/relationships/slide" Target="/ppt/slides/slide17.xml" Id="R282334af4251436d" /><Relationship Type="http://schemas.openxmlformats.org/officeDocument/2006/relationships/slide" Target="/ppt/slides/slide18.xml" Id="R6b92124ec06249f2" /><Relationship Type="http://schemas.openxmlformats.org/officeDocument/2006/relationships/slide" Target="/ppt/slides/slide19.xml" Id="Rf3f35412c57e46ec" /><Relationship Type="http://schemas.openxmlformats.org/officeDocument/2006/relationships/slide" Target="/ppt/slides/slide20.xml" Id="Rd943a85db1044a82" /><Relationship Type="http://schemas.openxmlformats.org/officeDocument/2006/relationships/slide" Target="/ppt/slides/slide21.xml" Id="R8781dad33030488a" /><Relationship Type="http://schemas.openxmlformats.org/officeDocument/2006/relationships/slide" Target="/ppt/slides/slide22.xml" Id="Rfe46ef3c5c4e4caf" /><Relationship Type="http://schemas.openxmlformats.org/officeDocument/2006/relationships/slide" Target="/ppt/slides/slide23.xml" Id="R676d892ff3494a7b" /><Relationship Type="http://schemas.openxmlformats.org/officeDocument/2006/relationships/slide" Target="/ppt/slides/slide24.xml" Id="R226ec0ffb1e64910" /><Relationship Type="http://schemas.openxmlformats.org/officeDocument/2006/relationships/slide" Target="/ppt/slides/slide25.xml" Id="R0c61e87b0f864de2" /><Relationship Type="http://schemas.openxmlformats.org/officeDocument/2006/relationships/slide" Target="/ppt/slides/slide26.xml" Id="Rd86d0172915e43b2" /><Relationship Type="http://schemas.openxmlformats.org/officeDocument/2006/relationships/slide" Target="/ppt/slides/slide27.xml" Id="R97edc5274e5c4390" /><Relationship Type="http://schemas.openxmlformats.org/officeDocument/2006/relationships/slide" Target="/ppt/slides/slide28.xml" Id="Rdf835e3f7f7a4fb9" /><Relationship Type="http://schemas.openxmlformats.org/officeDocument/2006/relationships/slide" Target="/ppt/slides/slide29.xml" Id="R1ef40c4407974ee9" /><Relationship Type="http://schemas.openxmlformats.org/officeDocument/2006/relationships/slide" Target="/ppt/slides/slide30.xml" Id="R94c609b550ed4dd3" /><Relationship Type="http://schemas.openxmlformats.org/officeDocument/2006/relationships/slide" Target="/ppt/slides/slide31.xml" Id="Rb6fc2a3e26af461a" /><Relationship Type="http://schemas.openxmlformats.org/officeDocument/2006/relationships/slide" Target="/ppt/slides/slide32.xml" Id="R1240b2622e6e4289" /><Relationship Type="http://schemas.openxmlformats.org/officeDocument/2006/relationships/slide" Target="/ppt/slides/slide33.xml" Id="R3106112cb0b240f0" /><Relationship Type="http://schemas.openxmlformats.org/officeDocument/2006/relationships/slide" Target="/ppt/slides/slide34.xml" Id="R5de6b3e1431343d7" /><Relationship Type="http://schemas.openxmlformats.org/officeDocument/2006/relationships/slide" Target="/ppt/slides/slide35.xml" Id="Rc9edba8565124d9b" /><Relationship Type="http://schemas.openxmlformats.org/officeDocument/2006/relationships/slide" Target="/ppt/slides/slide36.xml" Id="Rad284d91846e4e6f" /><Relationship Type="http://schemas.openxmlformats.org/officeDocument/2006/relationships/slide" Target="/ppt/slides/slide37.xml" Id="R7adde33e5f0744a8" /><Relationship Type="http://schemas.openxmlformats.org/officeDocument/2006/relationships/slide" Target="/ppt/slides/slide38.xml" Id="R138dbcb84aed4f2f" /><Relationship Type="http://schemas.openxmlformats.org/officeDocument/2006/relationships/slide" Target="/ppt/slides/slide39.xml" Id="Rd7fa84ae0aff4b9e" /><Relationship Type="http://schemas.openxmlformats.org/officeDocument/2006/relationships/slide" Target="/ppt/slides/slide40.xml" Id="R37462d3a02eb490b" /><Relationship Type="http://schemas.openxmlformats.org/officeDocument/2006/relationships/slide" Target="/ppt/slides/slide41.xml" Id="R4337693fea2f4315" /><Relationship Type="http://schemas.openxmlformats.org/officeDocument/2006/relationships/slide" Target="/ppt/slides/slide42.xml" Id="R10f54529ae734aee" /><Relationship Type="http://schemas.openxmlformats.org/officeDocument/2006/relationships/slide" Target="/ppt/slides/slide43.xml" Id="Rf4a6b22f901d4145" /><Relationship Type="http://schemas.openxmlformats.org/officeDocument/2006/relationships/slide" Target="/ppt/slides/slide44.xml" Id="Re0f511cc89964fd8" /><Relationship Type="http://schemas.openxmlformats.org/officeDocument/2006/relationships/slide" Target="/ppt/slides/slide45.xml" Id="R9e6f17d0ca8f4a7c" /><Relationship Type="http://schemas.openxmlformats.org/officeDocument/2006/relationships/slide" Target="/ppt/slides/slide46.xml" Id="Rf080e19d35b2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6277bf1d7a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001533517d452c" /><Relationship Type="http://schemas.openxmlformats.org/officeDocument/2006/relationships/notesMaster" Target="/ppt/notesMasters/notesMaster1.xml" Id="R89b70bf488eb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f0d6ee081431c" /><Relationship Type="http://schemas.openxmlformats.org/officeDocument/2006/relationships/notesMaster" Target="/ppt/notesMasters/notesMaster1.xml" Id="Ra55f1d5f40c24b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bae81950674d22" /><Relationship Type="http://schemas.openxmlformats.org/officeDocument/2006/relationships/notesMaster" Target="/ppt/notesMasters/notesMaster1.xml" Id="R1f2eb757a14a44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30de16fba478b" /><Relationship Type="http://schemas.openxmlformats.org/officeDocument/2006/relationships/notesMaster" Target="/ppt/notesMasters/notesMaster1.xml" Id="Rc6ac41b594914f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99283ad78445a1" /><Relationship Type="http://schemas.openxmlformats.org/officeDocument/2006/relationships/notesMaster" Target="/ppt/notesMasters/notesMaster1.xml" Id="Rac9adc6a5234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762e0e58c041f5" /><Relationship Type="http://schemas.openxmlformats.org/officeDocument/2006/relationships/notesMaster" Target="/ppt/notesMasters/notesMaster1.xml" Id="Ra8eb1aec71ee41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6567ec6c234205" /><Relationship Type="http://schemas.openxmlformats.org/officeDocument/2006/relationships/notesMaster" Target="/ppt/notesMasters/notesMaster1.xml" Id="R11abbaabae7148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c863fc46d94908" /><Relationship Type="http://schemas.openxmlformats.org/officeDocument/2006/relationships/notesMaster" Target="/ppt/notesMasters/notesMaster1.xml" Id="R1fdc83850e2a4f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e3ad99c031435b" /><Relationship Type="http://schemas.openxmlformats.org/officeDocument/2006/relationships/notesMaster" Target="/ppt/notesMasters/notesMaster1.xml" Id="R4f31400269b447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26aaf4618346e4" /><Relationship Type="http://schemas.openxmlformats.org/officeDocument/2006/relationships/notesMaster" Target="/ppt/notesMasters/notesMaster1.xml" Id="Rfde9bb2e12b644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caabe8e3eb4112" /><Relationship Type="http://schemas.openxmlformats.org/officeDocument/2006/relationships/notesMaster" Target="/ppt/notesMasters/notesMaster1.xml" Id="R0ab58e509de541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ce8d6c2d804eb9" /><Relationship Type="http://schemas.openxmlformats.org/officeDocument/2006/relationships/notesMaster" Target="/ppt/notesMasters/notesMaster1.xml" Id="R897cffb8393244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73c33f1123479d" /><Relationship Type="http://schemas.openxmlformats.org/officeDocument/2006/relationships/notesMaster" Target="/ppt/notesMasters/notesMaster1.xml" Id="Rc86c74f9039046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b17147fe2a4194" /><Relationship Type="http://schemas.openxmlformats.org/officeDocument/2006/relationships/notesMaster" Target="/ppt/notesMasters/notesMaster1.xml" Id="Rf2bf2116b4cb4a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72c0af5c8d44d9" /><Relationship Type="http://schemas.openxmlformats.org/officeDocument/2006/relationships/notesMaster" Target="/ppt/notesMasters/notesMaster1.xml" Id="Ra132bce19cc848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d3e101f4d6c4f33" /><Relationship Type="http://schemas.openxmlformats.org/officeDocument/2006/relationships/notesMaster" Target="/ppt/notesMasters/notesMaster1.xml" Id="Re32a9e5f0d2b4d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6e92d80583d433d" /><Relationship Type="http://schemas.openxmlformats.org/officeDocument/2006/relationships/notesMaster" Target="/ppt/notesMasters/notesMaster1.xml" Id="R1bd9c3d0af1841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0100ebd7ab4e87" /><Relationship Type="http://schemas.openxmlformats.org/officeDocument/2006/relationships/notesMaster" Target="/ppt/notesMasters/notesMaster1.xml" Id="Rb57ed3cfb17243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24b8d67ce2472d" /><Relationship Type="http://schemas.openxmlformats.org/officeDocument/2006/relationships/notesMaster" Target="/ppt/notesMasters/notesMaster1.xml" Id="Rdea3bc5de5614d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7a69c4f5c84ed4" /><Relationship Type="http://schemas.openxmlformats.org/officeDocument/2006/relationships/notesMaster" Target="/ppt/notesMasters/notesMaster1.xml" Id="R31a02c3d5ae647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5c659ce24694a0d" /><Relationship Type="http://schemas.openxmlformats.org/officeDocument/2006/relationships/notesMaster" Target="/ppt/notesMasters/notesMaster1.xml" Id="Raff5797bb6df4a6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08a9f7f3f4a45c4" /><Relationship Type="http://schemas.openxmlformats.org/officeDocument/2006/relationships/notesMaster" Target="/ppt/notesMasters/notesMaster1.xml" Id="R495142d06e3949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151fe3104b41c6" /><Relationship Type="http://schemas.openxmlformats.org/officeDocument/2006/relationships/notesMaster" Target="/ppt/notesMasters/notesMaster1.xml" Id="R88624f14a6b04f4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cc7086e6d943ac" /><Relationship Type="http://schemas.openxmlformats.org/officeDocument/2006/relationships/notesMaster" Target="/ppt/notesMasters/notesMaster1.xml" Id="R20444794a4ba4c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21b18e346e34f26" /><Relationship Type="http://schemas.openxmlformats.org/officeDocument/2006/relationships/notesMaster" Target="/ppt/notesMasters/notesMaster1.xml" Id="R1f04655ea53640f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34095ea5353441b" /><Relationship Type="http://schemas.openxmlformats.org/officeDocument/2006/relationships/notesMaster" Target="/ppt/notesMasters/notesMaster1.xml" Id="R05f19510660a4ed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a1a6e1c7a9d4a95" /><Relationship Type="http://schemas.openxmlformats.org/officeDocument/2006/relationships/notesMaster" Target="/ppt/notesMasters/notesMaster1.xml" Id="R3c1979fb5c574ad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728ae4f0494950" /><Relationship Type="http://schemas.openxmlformats.org/officeDocument/2006/relationships/notesMaster" Target="/ppt/notesMasters/notesMaster1.xml" Id="Red159fbd2247450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7e56931925b41ea" /><Relationship Type="http://schemas.openxmlformats.org/officeDocument/2006/relationships/notesMaster" Target="/ppt/notesMasters/notesMaster1.xml" Id="Ra2a429c39fd54d3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04396545a954c01" /><Relationship Type="http://schemas.openxmlformats.org/officeDocument/2006/relationships/notesMaster" Target="/ppt/notesMasters/notesMaster1.xml" Id="R3aa8766a44564c1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745207f01104e29" /><Relationship Type="http://schemas.openxmlformats.org/officeDocument/2006/relationships/notesMaster" Target="/ppt/notesMasters/notesMaster1.xml" Id="R71db044a385740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7437994ce14e83" /><Relationship Type="http://schemas.openxmlformats.org/officeDocument/2006/relationships/notesMaster" Target="/ppt/notesMasters/notesMaster1.xml" Id="R5ad5ece744984b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86aeb789814cc6" /><Relationship Type="http://schemas.openxmlformats.org/officeDocument/2006/relationships/notesMaster" Target="/ppt/notesMasters/notesMaster1.xml" Id="R2ab40c8400c54fd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794fd5c14e6490d" /><Relationship Type="http://schemas.openxmlformats.org/officeDocument/2006/relationships/notesMaster" Target="/ppt/notesMasters/notesMaster1.xml" Id="R3bd0c7b5f09b447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ad6a95ead9b4aa4" /><Relationship Type="http://schemas.openxmlformats.org/officeDocument/2006/relationships/notesMaster" Target="/ppt/notesMasters/notesMaster1.xml" Id="Re7f59027e4cf484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82feb657a6b441a" /><Relationship Type="http://schemas.openxmlformats.org/officeDocument/2006/relationships/notesMaster" Target="/ppt/notesMasters/notesMaster1.xml" Id="Rbbde09e46e2b452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74c4dd76bb6413d" /><Relationship Type="http://schemas.openxmlformats.org/officeDocument/2006/relationships/notesMaster" Target="/ppt/notesMasters/notesMaster1.xml" Id="R03859f07a9bd4ea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3d7f2e68c0b4a6b" /><Relationship Type="http://schemas.openxmlformats.org/officeDocument/2006/relationships/notesMaster" Target="/ppt/notesMasters/notesMaster1.xml" Id="R445919f24f394a6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a613c6bcca64fee" /><Relationship Type="http://schemas.openxmlformats.org/officeDocument/2006/relationships/notesMaster" Target="/ppt/notesMasters/notesMaster1.xml" Id="Rf49f04f67e6b435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7483c046fc44ebf" /><Relationship Type="http://schemas.openxmlformats.org/officeDocument/2006/relationships/notesMaster" Target="/ppt/notesMasters/notesMaster1.xml" Id="R68f2b64bbd1e48f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467f87b70ee4198" /><Relationship Type="http://schemas.openxmlformats.org/officeDocument/2006/relationships/notesMaster" Target="/ppt/notesMasters/notesMaster1.xml" Id="R7de6db026410447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e511aeddd2d4cba" /><Relationship Type="http://schemas.openxmlformats.org/officeDocument/2006/relationships/notesMaster" Target="/ppt/notesMasters/notesMaster1.xml" Id="R90df719889d8485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68a334ed8ea4108" /><Relationship Type="http://schemas.openxmlformats.org/officeDocument/2006/relationships/notesMaster" Target="/ppt/notesMasters/notesMaster1.xml" Id="R40445e23d9b04f7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8245efc4fc14cfc" /><Relationship Type="http://schemas.openxmlformats.org/officeDocument/2006/relationships/notesMaster" Target="/ppt/notesMasters/notesMaster1.xml" Id="R6d70752375d9419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dda6258928c4817" /><Relationship Type="http://schemas.openxmlformats.org/officeDocument/2006/relationships/notesMaster" Target="/ppt/notesMasters/notesMaster1.xml" Id="Rc358148d03b1437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8701e2c121c4149" /><Relationship Type="http://schemas.openxmlformats.org/officeDocument/2006/relationships/notesMaster" Target="/ppt/notesMasters/notesMaster1.xml" Id="Rbe1ea8504b67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本课的主线是使用 Harness 工程素养与 SSD 资料集开发全栈应用。贯穿教学案例为“AI 学习小组课程平台”：用户浏览课程、登录报名、查看自己的报名记录，管理员发布课程。案例是本课设计的练习目标，不是声称该功能已在模板中实现。建议讲解约 75–90 分钟，另留 30 分钟练习。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pipeline-spec/README.md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设计目标为最小课程报名平台。账户和会话可以利用已有底座，课程与报名实体是教学新增设计。学习进度、支付、积分等作为后续扩展，避免第一版把模板里所有能力全部开启。讲课时先让大家理解“全栈”的交付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template/src/routes.ts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template/src/db/app.schema.ts</a:t>
            </a:r>
          </a:p>
          <a:p xmlns:a="http://schemas.openxmlformats.org/drawingml/2006/main">
            <a:r>
              <a:t>- skills/spec-dev/templates/00-discovery.template.md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资料集以 SSD Suite 命名，其 spec-dev 使用 Spec-Driven Development，即常见缩写 SDD。本课沿用用户与资料集的 SSD 说法，指以规格驱动开发的工作方式。Harness 贯穿每个阶段，帮助 Agent 按规格实施并提供验证证据，而不是独立于应用开发的一门审计课。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>- pipeline-spec/11-Harness-Engineering-项目化.md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 P0–P8 为全课主线。P0 内容事实、P1 品牌方向、P2 设计约束、P3 页面蓝图、P4 规格规划、P5 集中实现、P6 国际化与 SEO、P7 分层验证和发布、P8 写回。单项功能再嵌入 spec-dev 的发现、需求、设计、任务、审查、实施、验证七阶段。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pipeline-spec/README.md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这一章把课程平台这个想法收敛成第一版应用。学员应该带着业务行为去看页面，而不是从模板有多少页面开始堆功能。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pipeline-spec/01-P0-内容与事实奠基.md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范围为本课教学选择。支付等能力在底座中有相关模块，但不因此自动成为第一版需求。课程报名先采用免费、无名额上限的简化模型；若有付费、限额或退款要求，应另补订单、名额并发和权益规则。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skills/spec-dev/templates/00-discovery.template.md</a:t>
            </a:r>
          </a:p>
          <a:p xmlns:a="http://schemas.openxmlformats.org/drawingml/2006/main">
            <a:r>
              <a:t>- pipeline-spec/05-P4-规范驱动工程收敛规划.md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教学案例链路。为了减少状态歧义，第一版不加容量限制或支付前置。报名操作需要身份校验、课程状态校验和防重复约束。前端显示成功必须来自后端写入结果，不能仅在点击按钮后本地切换文案。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article/Harness-Engineering-实践.md §1</a:t>
            </a:r>
          </a:p>
          <a:p xmlns:a="http://schemas.openxmlformats.org/drawingml/2006/main">
            <a:r>
              <a:t>- skills/spec-dev/templates/01-requirements.template.md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 来源强调事实清单和内容结构。应用案例中的课程时间、讲师姓名和项目效果必须使用真实信息或显式占位，不能让 AI 补造。免费和无名额上限是本课简化设定，不是所有课程平台的通用规则。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pipeline-spec/01-P0-内容与事实奠基.md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 brand-system、design-system 和 P1/P2。右侧为资料中已有的 The Beacon Owl 案例资产，不代表本课课程平台已经采用这个品牌。课堂应演示如何从品牌定义到 token 再到组件，把设计变成实现可引用的约束。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pipeline-spec/02-P1-品牌与设计方向确立.md</a:t>
            </a:r>
          </a:p>
          <a:p xmlns:a="http://schemas.openxmlformats.org/drawingml/2006/main">
            <a:r>
              <a:t>- pipeline-spec/03-P2-设计真理沉淀.md</a:t>
            </a:r>
          </a:p>
          <a:p xmlns:a="http://schemas.openxmlformats.org/drawingml/2006/main">
            <a:r>
              <a:t>- design-system/components.md</a:t>
            </a:r>
          </a:p>
          <a:p xmlns:a="http://schemas.openxmlformats.org/drawingml/2006/main">
            <a:r>
              <a:t>- brand-system/03-code-assets/output/PNG/owl_logo_dark_512.png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 把内容和设计约束变成页面蓝图。本课补充全栈应用的交互状态，不只审核一张正常状态截图。视觉审核意见需回写 page_specs。桌面图可先完成，但实施验收必须覆盖移动端和错误状态。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pipeline-spec/04-P3-生成与视觉蓝图门禁.md</a:t>
            </a:r>
          </a:p>
          <a:p xmlns:a="http://schemas.openxmlformats.org/drawingml/2006/main">
            <a:r>
              <a:t>- design-system/page-specs-template.md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表中的 courses/enrollments/admin-courses 是教学新增路由设计，不能当作模板现有页面。模板实际已有 auth/login、dashboard、admin/users 等账户相关路由。页面权限与服务端数据权限都要检查，隐藏导航不能代替权限控制。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template/src/routes.ts</a:t>
            </a:r>
          </a:p>
          <a:p xmlns:a="http://schemas.openxmlformats.org/drawingml/2006/main">
            <a:r>
              <a:t>- pipeline-spec/05-P4-规范驱动工程收敛规划.md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 P4：本课把课程报名功能写成可实施的规格。页面蓝图回答看起来怎样，SSD 进一步回答数据如何保存、谁能操作、失败怎么办以及如何验收。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pipeline-spec/05-P4-规范驱动工程收敛规划.md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来自 spec-dev 默认五文件模式，矩阵模式可由上游需求替代 discovery。其七阶段是在这些文档基础上继续实施与验证。Web P4 的另一个五件套使用 file-change-plan 与 implementation-gate 名称，两者需按项目明确映射，不要混淆 02 和 04 的职责。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>- pipeline-spec/05-P4-规范驱动工程收敛规划.md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本页为教学提示词示例，可按所使用的 Agent 工具调整调用方式。若 spec-dev 尚未安装，应先按自己的工具环境配置它。提示词是任务目标与输入输出约束，不能替代检查实际生成的规格。重点审核身份来源、防重复、失败处理与数据访问范围。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>- skills/spec-dev/templates/02-design.template.md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EARS 来源于 spec-dev。屏幕为简化的中英混合教学写法，实际规格宜给每项行为单独编号，明确状态码或业务错误类型。免费、无限额设定下的重复报名按幂等成功处理。容量和付费不在这条需求中，应另立规格。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skills/spec-dev/operations/phase2-requirements.md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模板已有 user、payment、userCredit 等实体，本页 course/enrollment 为本课新增设计。userId+courseId 的唯一约束防止并发请求生成重复报名。需明确删除用户或课程时是否保留历史记录，不能机械照抄模板其他表的级联删除策略。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template/src/db/auth.schema.ts</a:t>
            </a:r>
          </a:p>
          <a:p xmlns:a="http://schemas.openxmlformats.org/drawingml/2006/main">
            <a:r>
              <a:t>- template/src/db/app.schema.ts</a:t>
            </a:r>
          </a:p>
          <a:p xmlns:a="http://schemas.openxmlformats.org/drawingml/2006/main">
            <a:r>
              <a:t>- skills/spec-dev/operations/phase3-design.md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教学权限设计。应用必须决定管理员是否兼任学员，本表不默认为管理员可以任意冒用用户报名。身份从服务端会话获取，不能信任前端传来的 userId。列表查询、详情查询和写入接口都需要相应范围约束。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template/src/lib/require-session.ts</a:t>
            </a:r>
          </a:p>
          <a:p xmlns:a="http://schemas.openxmlformats.org/drawingml/2006/main">
            <a:r>
              <a:t>- skills/spec-dev/templates/02-design.template.md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契约是本课设计，具体接口可采用现有 next-safe-action 或项目 API 方案。成功结果需区分新建与已有，错误应映射成稳定的业务类型。不要把原始数据库错误和敏感细节直接展示给用户。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template/src/actions/subscribe-newsletter.ts</a:t>
            </a:r>
          </a:p>
          <a:p xmlns:a="http://schemas.openxmlformats.org/drawingml/2006/main">
            <a:r>
              <a:t>- skills/spec-dev/templates/02-design.template.md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路径来自本地模板。技术底座 package.json 包含 Next.js、React、TypeScript 生态、Drizzle、PostgreSQL 驱动、Better Auth、next-safe-action、Zod 和 next-intl。这里描述本地资料的技术组合，不是要求学员在所有项目中使用同一技术栈。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template/package.json</a:t>
            </a:r>
          </a:p>
          <a:p xmlns:a="http://schemas.openxmlformats.org/drawingml/2006/main">
            <a:r>
              <a:t>- template/src/db/index.ts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template/README.md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结合任务卡工程资料。用户可见的功能贯穿多个技术层，不宜只按“前端做完、后端做完”独立打勾。T-03 可以使用契约先行开发，但联调通过前不能标记整条报名链完成。各任务需要对应 Requirement ID 和验证用例。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harness-engineering/deep-dives/02-task-card-engineering.md</a:t>
            </a:r>
          </a:p>
          <a:p xmlns:a="http://schemas.openxmlformats.org/drawingml/2006/main">
            <a:r>
              <a:t>- skills/spec-dev/templates/03-tasks.template.md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保持四套 Skill 的输入输出分工。新项目可从需求发现开始，不要求先生成庞大的审计报告。批量实施需要稳定的任务队列，遇到规格前提变化时记录并调整，不凭循环指令跳过决策。不同 Agent 的调用方式需按实际工具适配。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skills/blindspot-audit/SKILL.md</a:t>
            </a:r>
          </a:p>
          <a:p xmlns:a="http://schemas.openxmlformats.org/drawingml/2006/main">
            <a:r>
              <a:t>- skills/requirements-matrix-generator/SKILL.md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>- skills/loop-prompt-generator/SKILL.md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这一章是课程重点。每一页都对应一个开发动作与可观察结果。Harness 的作用体现在每一步的入口条件、范围、状态与验证，而不是增加一套脱离业务的文档。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pipeline-spec/06-P5-实现与集中化.md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本地模板已有账户、支付、积分、邮件、存储等模块。本文不宣称课程业务现成存在。当前 package.json 的 Next.js 版本为 16.1.6，README 写 15+，版本应以实际包文件和锁文件为准。模板含独立 MkSaaS 许可，使用和分发需遵守该许可；课程讲解并不授权重新分发模板源码。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template/README.md</a:t>
            </a:r>
          </a:p>
          <a:p xmlns:a="http://schemas.openxmlformats.org/drawingml/2006/main">
            <a:r>
              <a:t>- template/package.json</a:t>
            </a:r>
          </a:p>
          <a:p xmlns:a="http://schemas.openxmlformats.org/drawingml/2006/main">
            <a:r>
              <a:t>- template/LICENSE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命令依据本地 package.json 与 README。先使用项目约定的 pnpm 版本，模板 packageManager 为 pnpm@10.33.2。复制配置并不代表配置完整，需按 env.example 核对实际启用模块。本页只是操作说明，没有在本次制作 PPT 时安装依赖或运行应用。不要在没有模板授权时照抄商业源码。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template/package.json</a:t>
            </a:r>
          </a:p>
          <a:p xmlns:a="http://schemas.openxmlformats.org/drawingml/2006/main">
            <a:r>
              <a:t>- template/env.example</a:t>
            </a:r>
          </a:p>
          <a:p xmlns:a="http://schemas.openxmlformats.org/drawingml/2006/main">
            <a:r>
              <a:t>- template/README.md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模板有 db:generate、db:migrate、db:push 等命令。它们具有不同副作用，不能把生产 db:push 当成默认开发步骤。先在开发数据库审查和验证迁移。新增唯一约束前需检查已有重复数据，涉及生产数据的操作需明确授权与恢复计划。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template/package.json</a:t>
            </a:r>
          </a:p>
          <a:p xmlns:a="http://schemas.openxmlformats.org/drawingml/2006/main">
            <a:r>
              <a:t>- template/drizzle.config.ts</a:t>
            </a:r>
          </a:p>
          <a:p xmlns:a="http://schemas.openxmlformats.org/drawingml/2006/main">
            <a:r>
              <a:t>- template/src/db/migrations/</a:t>
            </a:r>
          </a:p>
          <a:p xmlns:a="http://schemas.openxmlformats.org/drawingml/2006/main">
            <a:r>
              <a:t>- skills/spec-dev/templates/02-design.template.md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本页是课程实操总览。在开发工具中对应打开页面组件、服务端动作、schema/迁移和查询页面。即使 UI 可乐观更新，也要处理失败回滚或重查，最终状态以服务端和数据库为准。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template/src/db/index.ts</a:t>
            </a:r>
          </a:p>
          <a:p xmlns:a="http://schemas.openxmlformats.org/drawingml/2006/main">
            <a:r>
              <a:t>- skills/spec-dev/templates/03-tasks.template.md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本页是新增课程业务的教学设计，不是模板已有 schema。unique(userId,courseId) 解决重复记录，但重复请求如何返回已有结果仍需服务端实现。课程发布状态与报名写入的并发一致性要按实际需求选择事务、锁或可接受的状态规则。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template/src/db/app.schema.ts</a:t>
            </a:r>
          </a:p>
          <a:p xmlns:a="http://schemas.openxmlformats.org/drawingml/2006/main">
            <a:r>
              <a:t>- template/src/db/index.ts</a:t>
            </a:r>
          </a:p>
          <a:p xmlns:a="http://schemas.openxmlformats.org/drawingml/2006/main">
            <a:r>
              <a:t>- skills/spec-dev/operations/phase3-design.md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代码为伪代码，不是可直接运行的模板 API。requireSession、validate、requirePublishedCourse、enrollOnce 等名称用于讲解。可以借鉴现有 userActionClient 与输入 schema 的模式，按业务补齐课程检查和数据库写入。禁止把未登录或存储异常吞掉后返回 success。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template/src/actions/subscribe-newsletter.ts</a:t>
            </a:r>
          </a:p>
          <a:p xmlns:a="http://schemas.openxmlformats.org/drawingml/2006/main">
            <a:r>
              <a:t>- article/Harness-Engineering-实践.md §1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本课新增前端交互设计。用户可以刷新、重试、多标签操作，因此不能把禁用按钮当作幂等机制。对过期会话、网络错误和业务不可报名应区别提示。使用共享按钮、表单、消息组件保持体验一致。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design-system/components.md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skills/spec-dev/templates/02-design.template.md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设计。前端传来的查询条件不应决定可读取的用户范围。分页和排序也需输入校验。可复用已有会话能力，但报名查询是本课新增业务。验收至少包含未登录、本人、另一个普通用户和管理员按约定授权的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template/src/lib/require-session.ts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skills/spec-dev/templates/01-requirements.template.md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模板已有 adminActionClient，但具体课程管理流程为教学新增设计。页面路由检查与服务端动作检查都不可省。若支持撤回或删除，应明确已报名学员如何受影响，并补齐相应验收。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template/src/lib/safe-action.ts</a:t>
            </a:r>
          </a:p>
          <a:p xmlns:a="http://schemas.openxmlformats.org/drawingml/2006/main">
            <a:r>
              <a:t>- template/src/routes.ts</a:t>
            </a:r>
          </a:p>
          <a:p xmlns:a="http://schemas.openxmlformats.org/drawingml/2006/main">
            <a:r>
              <a:t>- skills/spec-dev/templates/01-requirements.template.md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模板存在 mail、payment、storage 模块，本期核心案例不依赖开启全部集成。邮件发送失败不应通过盲目重试再次创建报名记录。支付成功页不能独自充当付款证据，需按提供商协议验证回调并设计幂等、状态对账与退款后的权益处理。上线前应查阅实际服务商的当前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template/src/mail/index.ts</a:t>
            </a:r>
          </a:p>
          <a:p xmlns:a="http://schemas.openxmlformats.org/drawingml/2006/main">
            <a:r>
              <a:t>- template/src/payment/provider/stripe.ts</a:t>
            </a:r>
          </a:p>
          <a:p xmlns:a="http://schemas.openxmlformats.org/drawingml/2006/main">
            <a:r>
              <a:t>- template/src/storage/index.ts</a:t>
            </a:r>
          </a:p>
          <a:p xmlns:a="http://schemas.openxmlformats.org/drawingml/2006/main">
            <a:r>
              <a:t>- operations/runbooks/paywall-release-runbook.md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 P6 方法论应用到课程平台。robots.txt 或 noindex 仅涉及索引策略，不能代替认证和授权。多语言词条键一致也不代表翻译内容正确。SEO 的 canonical、sitemap 和 hreflang 应与实际开放的语言和路由对应。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pipeline-spec/07-P6-国际化与SEO联动.md</a:t>
            </a:r>
          </a:p>
          <a:p xmlns:a="http://schemas.openxmlformats.org/drawingml/2006/main">
            <a:r>
              <a:t>- template/src/i18n/routing.ts</a:t>
            </a:r>
          </a:p>
          <a:p xmlns:a="http://schemas.openxmlformats.org/drawingml/2006/main">
            <a:r>
              <a:t>- template/src/app/sitemap.ts</a:t>
            </a:r>
          </a:p>
          <a:p xmlns:a="http://schemas.openxmlformats.org/drawingml/2006/main">
            <a:r>
              <a:t>- template/src/app/robots.ts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整合 Harness 项目化、任务卡、模块隔离和 loop 资料。复杂任务可采用执行契约九项结构，小任务可裁剪。多 Agent 并行适合接口已明确、文件冲突较少的工作，schema、共享类型和配置要协调。每轮结束需要明确 PASS、PARTIAL、FAIL 或其他项目约定状态，不能把合法状态枚举等同于成功。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pipeline-spec/11-Harness-Engineering-项目化.md</a:t>
            </a:r>
          </a:p>
          <a:p xmlns:a="http://schemas.openxmlformats.org/drawingml/2006/main">
            <a:r>
              <a:t>- harness-engineering/deep-dives/02-task-card-engineering.md</a:t>
            </a:r>
          </a:p>
          <a:p xmlns:a="http://schemas.openxmlformats.org/drawingml/2006/main">
            <a:r>
              <a:t>- harness-engineering/deep-dives/03-long-loop-harness-evolution.md</a:t>
            </a:r>
          </a:p>
          <a:p xmlns:a="http://schemas.openxmlformats.org/drawingml/2006/main">
            <a:r>
              <a:t>- harness-engineering/deep-dives/05-module-isolation-and-indexes.md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本页为教学执行契约的简化写法。可结合 loop-prompt-generator 生成批量任务的循环提示词，但先完成一个可验收任务。规格出现冲突或新增依赖时应记录并调整，不能以持续执行为由擅自扩大需求。未运行的验证明确标注，不把计划或命令文本当成实际证据。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skills/loop-prompt-generator/SKILL.md</a:t>
            </a:r>
          </a:p>
          <a:p xmlns:a="http://schemas.openxmlformats.org/drawingml/2006/main">
            <a:r>
              <a:t>- harness-engineering/deep-dives/02-task-card-engineering.md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本章让前端、后端和数据库证据汇合。区分本地构建、业务验证、目标环境配置与线上检查，避免以单个绿色命令替代全栈交付。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pipeline-spec/08-P7-分层验证与生产同步.md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由课程平台需求生成的验收矩阵。额外测试另一个用户读取报名记录、管理员权限和已有账户流程回归。测试数据使用专用环境，验证动作和对应代码版本一并记录。测试设计中必须明确 oracle，即怎样判断预期真的成立。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skills/spec-dev/operations/phase7-verification.md</a:t>
            </a:r>
          </a:p>
          <a:p xmlns:a="http://schemas.openxmlformats.org/drawingml/2006/main">
            <a:r>
              <a:t>- harness-engineering/deep-dives/04-test-contracts-and-fail-closed.md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当前模板定义 gate:check 和 build，但没有 test 脚本，不能声称 pnpm test 已可用。业务测试脚本需由开发任务补充，名称按实现确定。当前 lint 使用 biome check --write，具有修改文件的行为，应和只读验证区分。build 未自动串入 gate:check，CI 或执行脚本需要明确编排。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template/package.json</a:t>
            </a:r>
          </a:p>
          <a:p xmlns:a="http://schemas.openxmlformats.org/drawingml/2006/main">
            <a:r>
              <a:t>- template/scripts/check-gates.mjs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根据实际 check-gates.mjs：Gate 03 仅依赖数量非零，不能代表完整 V9/AST 有效性验证；Gate 04 在消息目录缺失时跳过检查，在目录存在时只要求至少一种语言文件。脚本有 Fail-Closed 的异常处理，但检查范围仍需要业务用例补充。本页不声称实际线上发生了事故。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template/scripts/check-gates.mjs</a:t>
            </a:r>
          </a:p>
          <a:p xmlns:a="http://schemas.openxmlformats.org/drawingml/2006/main">
            <a:r>
              <a:t>- harness-engineering/deep-dives/04-test-contracts-and-fail-closed.md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来源为生产 runbook 和 P7。具体 CLI 参数以当前部署环境为准。配置区分构建期和运行时，变更后按平台规则重新构建或发布。部署显示 Ready 后仍需验证课程展示、登录、报名、管理权限和已有功能。命令返回成功不代表业务验收完成。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operations/runbooks/vercel-deployment-runbook.md</a:t>
            </a:r>
          </a:p>
          <a:p xmlns:a="http://schemas.openxmlformats.org/drawingml/2006/main">
            <a:r>
              <a:t>- pipeline-spec/08-P7-分层验证与生产同步.md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历史案例来自 cross-worktree-deployment-desync。判断依据是实际提交与部署产物，而不仅是分支名。应用数据库迁移还可能有前后兼容要求，不能把代码回滚误认为数据也自动回滚。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operations/postmortems/cross-worktree-deployment-desync.md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P8 来源强调 memory、Known-Traps 和 Skill 写回。日志不应包含密码、令牌或不必要的个人资料。经验需要进入后续任务会读取的位置，并补可执行检查。来源文章的历史断点是记忆有记录但规则未更新，本课把它转换成持续迭代动作，不以历史百分比占据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pipeline-spec/09-P8-熵管理与写回.md</a:t>
            </a:r>
          </a:p>
          <a:p xmlns:a="http://schemas.openxmlformats.org/drawingml/2006/main">
            <a:r>
              <a:t>- pipeline-spec/10-技能化与Known-Traps与待拍板.md</a:t>
            </a:r>
          </a:p>
          <a:p xmlns:a="http://schemas.openxmlformats.org/drawingml/2006/main">
            <a:r>
              <a:t>- article/Harness-Engineering-实践.md §8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分钟是教学时间安排，不是完成完整全栈开发的保证。若学员环境未准备好，练习转为规格、任务与测试设计。已具备运行底座的学员可只实现一个最小切片。先确认许可和开发数据库，不使用生产数据，不把计划完成写成应用已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skills/spec-dev/templates/01-requirements.template.md</a:t>
            </a:r>
          </a:p>
          <a:p xmlns:a="http://schemas.openxmlformats.org/drawingml/2006/main">
            <a:r>
              <a:t>- skills/spec-dev/templates/03-tasks.template.md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整合 spec-dev、任务卡、runbook 和 Harness 生命周期。还应声明当前状态是本地验证完成、测试环境验收完成还是生产验收完成，避免把这些状态混为一谈。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skills/spec-dev/operations/phase7-verification.md</a:t>
            </a:r>
          </a:p>
          <a:p xmlns:a="http://schemas.openxmlformats.org/drawingml/2006/main">
            <a:r>
              <a:t>- harness-engineering/deep-dives/02-task-card-engineering.md</a:t>
            </a:r>
          </a:p>
          <a:p xmlns:a="http://schemas.openxmlformats.org/drawingml/2006/main">
            <a:r>
              <a:t>- operations/runbooks/vercel-deployment-runbook.md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路径相对于 007-harness工程素养实践/open-source-ssd。brand-system 负责品牌定义与资产，harness-engineering/visual-pipelines 提供流程阅读图。template/LICENSE 包含商业模板限制，本课仅讲解开发方法和已有结构，不提供额外模板分发授权。原创课程讲解采用 CC BY 4.0，署名 ameureka。原有资料和资产保留各自许可。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LICENSE</a:t>
            </a:r>
          </a:p>
          <a:p xmlns:a="http://schemas.openxmlformats.org/drawingml/2006/main">
            <a:r>
              <a:t>- template/LICENSE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第一张产品目标页：访客看课程，学员登录报名并重新查到记录，管理员按权限发布。用这条用户流程讲清需求、页面、服务端、数据库、验证和部署如何连接。下次可以把课程平台的一项功能真正落地成配套演示工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资料来源（相对于 007-harness工程素养实践/open-source-ssd）：</a:t>
            </a:r>
          </a:p>
          <a:p xmlns:a="http://schemas.openxmlformats.org/drawingml/2006/main">
            <a:r>
              <a:t>- pipeline-spec/README.md</a:t>
            </a:r>
          </a:p>
          <a:p xmlns:a="http://schemas.openxmlformats.org/drawingml/2006/main">
            <a:r>
              <a:t>- skills/spec-dev/SKILL.md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原创课程讲解：ameureka，CC BY 4.0。原有第三方资料与资产保留其许可。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c4dbd0d6345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72a8e972b4c1f" /><Relationship Type="http://schemas.openxmlformats.org/officeDocument/2006/relationships/slideLayout" Target="/ppt/slideLayouts/slideLayout1.xml" Id="R78ae0e7250de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ae0e7250de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f8fc430384915" /><Relationship Type="http://schemas.openxmlformats.org/officeDocument/2006/relationships/notesSlide" Target="/ppt/notesSlides/notesSlide1.xml" Id="Rf04647d6593643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089f6361a4812" /><Relationship Type="http://schemas.openxmlformats.org/officeDocument/2006/relationships/notesSlide" Target="/ppt/notesSlides/notesSlide2.xml" Id="Rce4fddba989849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4b4992dee497d" /><Relationship Type="http://schemas.openxmlformats.org/officeDocument/2006/relationships/notesSlide" Target="/ppt/notesSlides/notesSlide3.xml" Id="Ra8a7ddff263848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e8ac95718482b" /><Relationship Type="http://schemas.openxmlformats.org/officeDocument/2006/relationships/notesSlide" Target="/ppt/notesSlides/notesSlide4.xml" Id="Rbd5d3f72e47e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0f3518fb1459f" /><Relationship Type="http://schemas.openxmlformats.org/officeDocument/2006/relationships/notesSlide" Target="/ppt/notesSlides/notesSlide5.xml" Id="R3b7b7155415348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a4613bae04353" /><Relationship Type="http://schemas.openxmlformats.org/officeDocument/2006/relationships/notesSlide" Target="/ppt/notesSlides/notesSlide6.xml" Id="R652d8736514b4c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fd5ac6daf4523" /><Relationship Type="http://schemas.openxmlformats.org/officeDocument/2006/relationships/notesSlide" Target="/ppt/notesSlides/notesSlide7.xml" Id="Rceee41afde0f4a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bf721e52f4a01" /><Relationship Type="http://schemas.openxmlformats.org/officeDocument/2006/relationships/notesSlide" Target="/ppt/notesSlides/notesSlide8.xml" Id="R822f4945793445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c257404bf4ed9" /><Relationship Type="http://schemas.openxmlformats.org/officeDocument/2006/relationships/image" Target="/ppt/media/image.png" Id="Rb0f4e613fde34d9d" /><Relationship Type="http://schemas.openxmlformats.org/officeDocument/2006/relationships/notesSlide" Target="/ppt/notesSlides/notesSlide9.xml" Id="R627f58b1452243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1629dfd1441cf" /><Relationship Type="http://schemas.openxmlformats.org/officeDocument/2006/relationships/notesSlide" Target="/ppt/notesSlides/notesSlide10.xml" Id="Re0c1c344522746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cbbdf12634268" /><Relationship Type="http://schemas.openxmlformats.org/officeDocument/2006/relationships/notesSlide" Target="/ppt/notesSlides/notesSlide11.xml" Id="R502547f21a204d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3879b732a440c" /><Relationship Type="http://schemas.openxmlformats.org/officeDocument/2006/relationships/notesSlide" Target="/ppt/notesSlides/notesSlide12.xml" Id="Re947cb451b4b40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5843ed4224bd5" /><Relationship Type="http://schemas.openxmlformats.org/officeDocument/2006/relationships/notesSlide" Target="/ppt/notesSlides/notesSlide13.xml" Id="R53ff4f67005442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e02bc6ea244fb" /><Relationship Type="http://schemas.openxmlformats.org/officeDocument/2006/relationships/notesSlide" Target="/ppt/notesSlides/notesSlide14.xml" Id="R83b5b6298ed34b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25c99f86a4794" /><Relationship Type="http://schemas.openxmlformats.org/officeDocument/2006/relationships/notesSlide" Target="/ppt/notesSlides/notesSlide15.xml" Id="R0a53a2fa00da4f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fadeca9954d01" /><Relationship Type="http://schemas.openxmlformats.org/officeDocument/2006/relationships/notesSlide" Target="/ppt/notesSlides/notesSlide16.xml" Id="R4aa51fa07b614a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e6fb7db7b4abe" /><Relationship Type="http://schemas.openxmlformats.org/officeDocument/2006/relationships/notesSlide" Target="/ppt/notesSlides/notesSlide17.xml" Id="Rd7b3fe4056464c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548c6661d4b28" /><Relationship Type="http://schemas.openxmlformats.org/officeDocument/2006/relationships/notesSlide" Target="/ppt/notesSlides/notesSlide18.xml" Id="R66889367f2ea4e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6aaee2bfc40b4" /><Relationship Type="http://schemas.openxmlformats.org/officeDocument/2006/relationships/notesSlide" Target="/ppt/notesSlides/notesSlide19.xml" Id="Rb05b889bf5534a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714ccb0d842db" /><Relationship Type="http://schemas.openxmlformats.org/officeDocument/2006/relationships/notesSlide" Target="/ppt/notesSlides/notesSlide20.xml" Id="R27dc6c8ddaf446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221b9e5634c6d" /><Relationship Type="http://schemas.openxmlformats.org/officeDocument/2006/relationships/notesSlide" Target="/ppt/notesSlides/notesSlide21.xml" Id="Rc1b5ec966e7649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c2e2aee2a421d" /><Relationship Type="http://schemas.openxmlformats.org/officeDocument/2006/relationships/notesSlide" Target="/ppt/notesSlides/notesSlide22.xml" Id="Rb657e961c1774a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a412f70f9447c" /><Relationship Type="http://schemas.openxmlformats.org/officeDocument/2006/relationships/notesSlide" Target="/ppt/notesSlides/notesSlide23.xml" Id="Rfcd4faf6243c44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5d913c4cf41aa" /><Relationship Type="http://schemas.openxmlformats.org/officeDocument/2006/relationships/notesSlide" Target="/ppt/notesSlides/notesSlide24.xml" Id="R3e3cb0974b8f42e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0ea9f8fd415a" /><Relationship Type="http://schemas.openxmlformats.org/officeDocument/2006/relationships/notesSlide" Target="/ppt/notesSlides/notesSlide25.xml" Id="R350640467438467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b3f31c00f4ee2" /><Relationship Type="http://schemas.openxmlformats.org/officeDocument/2006/relationships/notesSlide" Target="/ppt/notesSlides/notesSlide26.xml" Id="R2c42890307e043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c80a5c185450c" /><Relationship Type="http://schemas.openxmlformats.org/officeDocument/2006/relationships/notesSlide" Target="/ppt/notesSlides/notesSlide27.xml" Id="Ref97cb4c15354e3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f27669fc04cac" /><Relationship Type="http://schemas.openxmlformats.org/officeDocument/2006/relationships/notesSlide" Target="/ppt/notesSlides/notesSlide28.xml" Id="R1026315e2cc44b5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8dc1c21234d99" /><Relationship Type="http://schemas.openxmlformats.org/officeDocument/2006/relationships/notesSlide" Target="/ppt/notesSlides/notesSlide29.xml" Id="R246e2f387d8849c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05c78ad764911" /><Relationship Type="http://schemas.openxmlformats.org/officeDocument/2006/relationships/notesSlide" Target="/ppt/notesSlides/notesSlide30.xml" Id="Rb949f115955c479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fcd496cce42c3" /><Relationship Type="http://schemas.openxmlformats.org/officeDocument/2006/relationships/notesSlide" Target="/ppt/notesSlides/notesSlide31.xml" Id="Rc3aeaa3796b34c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6aa9ea1c94437" /><Relationship Type="http://schemas.openxmlformats.org/officeDocument/2006/relationships/notesSlide" Target="/ppt/notesSlides/notesSlide32.xml" Id="R45030124bf2c4bc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1d11507364815" /><Relationship Type="http://schemas.openxmlformats.org/officeDocument/2006/relationships/notesSlide" Target="/ppt/notesSlides/notesSlide33.xml" Id="R89352c2fce9e487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001405ddb43ab" /><Relationship Type="http://schemas.openxmlformats.org/officeDocument/2006/relationships/notesSlide" Target="/ppt/notesSlides/notesSlide34.xml" Id="R027175b1492f4af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dab45b68947c1" /><Relationship Type="http://schemas.openxmlformats.org/officeDocument/2006/relationships/notesSlide" Target="/ppt/notesSlides/notesSlide35.xml" Id="R5436ec39376443a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dcb8ad1b46dc" /><Relationship Type="http://schemas.openxmlformats.org/officeDocument/2006/relationships/notesSlide" Target="/ppt/notesSlides/notesSlide36.xml" Id="Rf02a33c7b4eb48e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016ccd315430f" /><Relationship Type="http://schemas.openxmlformats.org/officeDocument/2006/relationships/notesSlide" Target="/ppt/notesSlides/notesSlide37.xml" Id="Rdcacc0f3876143f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aeeccc06c403f" /><Relationship Type="http://schemas.openxmlformats.org/officeDocument/2006/relationships/notesSlide" Target="/ppt/notesSlides/notesSlide38.xml" Id="Re12d826100db4e2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2fb2a75fe4481" /><Relationship Type="http://schemas.openxmlformats.org/officeDocument/2006/relationships/notesSlide" Target="/ppt/notesSlides/notesSlide39.xml" Id="R7784ff6d5ba4472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c304c02ab4b8d" /><Relationship Type="http://schemas.openxmlformats.org/officeDocument/2006/relationships/notesSlide" Target="/ppt/notesSlides/notesSlide40.xml" Id="R36ab62b4a9224a6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b37b1beb44b83" /><Relationship Type="http://schemas.openxmlformats.org/officeDocument/2006/relationships/notesSlide" Target="/ppt/notesSlides/notesSlide41.xml" Id="Rfece5e72693746d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a4d2a19184e49" /><Relationship Type="http://schemas.openxmlformats.org/officeDocument/2006/relationships/notesSlide" Target="/ppt/notesSlides/notesSlide42.xml" Id="Rb87db20c32534a9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9fdb3ec4e47ea" /><Relationship Type="http://schemas.openxmlformats.org/officeDocument/2006/relationships/notesSlide" Target="/ppt/notesSlides/notesSlide43.xml" Id="R8db624cac4b443f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84298ce4447b6" /><Relationship Type="http://schemas.openxmlformats.org/officeDocument/2006/relationships/notesSlide" Target="/ppt/notesSlides/notesSlide44.xml" Id="R7c77f040c5294fc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2cf21726440ad" /><Relationship Type="http://schemas.openxmlformats.org/officeDocument/2006/relationships/notesSlide" Target="/ppt/notesSlides/notesSlide45.xml" Id="Rb593c9deaab847e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2e52f2b374309" /><Relationship Type="http://schemas.openxmlformats.org/officeDocument/2006/relationships/notesSlide" Target="/ppt/notesSlides/notesSlide46.xml" Id="R7127ac26b1c549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728C0108-BACE-4170-96DA-391E996B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2" name="007">
            <a:extLst xmlns:a="http://schemas.openxmlformats.org/drawingml/2006/main">
              <a:ext uri="{FF2B5EF4-FFF2-40B4-BE49-F238E27FC236}">
                <a16:creationId xmlns:a16="http://schemas.microsoft.com/office/drawing/2014/main" id="{7B3F1586-A4D1-4E2F-8101-EF264AA3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47750"/>
            <a:ext cx="1905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007</a:t>
            </a:r>
          </a:p>
        </p:txBody>
      </p:sp>
      <p:sp>
        <p:nvSpPr>
          <p:cNvPr id="3" name="Harness + SSD">
            <a:extLst xmlns:a="http://schemas.openxmlformats.org/drawingml/2006/main">
              <a:ext uri="{FF2B5EF4-FFF2-40B4-BE49-F238E27FC236}">
                <a16:creationId xmlns:a16="http://schemas.microsoft.com/office/drawing/2014/main" id="{E92EC3B9-DCE8-4E85-A68E-E62E2B86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6381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Harness + SSD</a:t>
            </a:r>
          </a:p>
        </p:txBody>
      </p:sp>
      <p:sp>
        <p:nvSpPr>
          <p:cNvPr id="4" name="全栈应用实战">
            <a:extLst xmlns:a="http://schemas.openxmlformats.org/drawingml/2006/main">
              <a:ext uri="{FF2B5EF4-FFF2-40B4-BE49-F238E27FC236}">
                <a16:creationId xmlns:a16="http://schemas.microsoft.com/office/drawing/2014/main" id="{33A8C17A-84AA-4D48-887E-2C564344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全栈应用实战</a:t>
            </a:r>
          </a:p>
        </p:txBody>
      </p:sp>
      <p:sp>
        <p:nvSpPr>
          <p:cNvPr id="5" name="按规格完成一个有前端、后端和数据的应用">
            <a:extLst xmlns:a="http://schemas.openxmlformats.org/drawingml/2006/main">
              <a:ext uri="{FF2B5EF4-FFF2-40B4-BE49-F238E27FC236}">
                <a16:creationId xmlns:a16="http://schemas.microsoft.com/office/drawing/2014/main" id="{655FCDD1-BD8F-48B8-88E1-B47ADCB7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8191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按规格完成一个有前端、后端和数据的应用</a:t>
            </a:r>
          </a:p>
        </p:txBody>
      </p:sp>
      <p:sp>
        <p:nvSpPr>
          <p:cNvPr id="6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5FD0AB13-F512-4C85-AC01-A05526EB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7" name="01 / 46">
            <a:extLst xmlns:a="http://schemas.openxmlformats.org/drawingml/2006/main">
              <a:ext uri="{FF2B5EF4-FFF2-40B4-BE49-F238E27FC236}">
                <a16:creationId xmlns:a16="http://schemas.microsoft.com/office/drawing/2014/main" id="{A0D40934-9B2F-42E0-B4F3-EFC46D2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01 / 46</a:t>
            </a:r>
          </a:p>
        </p:txBody>
      </p:sp>
    </p:spTree>
    <p:extLst>
      <p:ext uri="{BB962C8B-B14F-4D97-AF65-F5344CB8AC3E}">
        <p14:creationId xmlns:p14="http://schemas.microsoft.com/office/powerpoint/2010/main" val="20658966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贯穿教学案例  第一版产品目标">
            <a:extLst xmlns:a="http://schemas.openxmlformats.org/drawingml/2006/main">
              <a:ext uri="{FF2B5EF4-FFF2-40B4-BE49-F238E27FC236}">
                <a16:creationId xmlns:a16="http://schemas.microsoft.com/office/drawing/2014/main" id="{327C4C9A-BCB4-495A-972E-710DDA41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贯穿教学案例  第一版产品目标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8929604-A5FC-4A95-9890-4405759D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本课要完成的课程平台</a:t>
            </a:r>
          </a:p>
        </p:txBody>
      </p:sp>
      <p:sp>
        <p:nvSpPr>
          <p:cNvPr id="3" name="访客">
            <a:extLst xmlns:a="http://schemas.openxmlformats.org/drawingml/2006/main">
              <a:ext uri="{FF2B5EF4-FFF2-40B4-BE49-F238E27FC236}">
                <a16:creationId xmlns:a16="http://schemas.microsoft.com/office/drawing/2014/main" id="{47E879C6-A285-466E-B544-9C8A762F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访客</a:t>
            </a:r>
          </a:p>
        </p:txBody>
      </p:sp>
      <p:sp>
        <p:nvSpPr>
          <p:cNvPr id="4" name="浏览课程列表&#10;查看课程详情&#10;注册或登录">
            <a:extLst xmlns:a="http://schemas.openxmlformats.org/drawingml/2006/main">
              <a:ext uri="{FF2B5EF4-FFF2-40B4-BE49-F238E27FC236}">
                <a16:creationId xmlns:a16="http://schemas.microsoft.com/office/drawing/2014/main" id="{4BB71073-FC5E-4931-AF6B-0906521D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浏览课程列表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查看课程详情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注册或登录</a:t>
            </a:r>
          </a:p>
        </p:txBody>
      </p:sp>
      <p:sp>
        <p:nvSpPr>
          <p:cNvPr id="5" name="学员">
            <a:extLst xmlns:a="http://schemas.openxmlformats.org/drawingml/2006/main">
              <a:ext uri="{FF2B5EF4-FFF2-40B4-BE49-F238E27FC236}">
                <a16:creationId xmlns:a16="http://schemas.microsoft.com/office/drawing/2014/main" id="{0AC0B06F-AE50-48EC-94BB-7A55F38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学员</a:t>
            </a:r>
          </a:p>
        </p:txBody>
      </p:sp>
      <p:sp>
        <p:nvSpPr>
          <p:cNvPr id="6" name="提交课程报名&#10;查看自己的报名&#10;识别失败并重试">
            <a:extLst xmlns:a="http://schemas.openxmlformats.org/drawingml/2006/main">
              <a:ext uri="{FF2B5EF4-FFF2-40B4-BE49-F238E27FC236}">
                <a16:creationId xmlns:a16="http://schemas.microsoft.com/office/drawing/2014/main" id="{AE5E5811-4C19-4492-8802-BFC06F60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提交课程报名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查看自己的报名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识别失败并重试</a:t>
            </a:r>
          </a:p>
        </p:txBody>
      </p:sp>
      <p:sp>
        <p:nvSpPr>
          <p:cNvPr id="7" name="管理员">
            <a:extLst xmlns:a="http://schemas.openxmlformats.org/drawingml/2006/main">
              <a:ext uri="{FF2B5EF4-FFF2-40B4-BE49-F238E27FC236}">
                <a16:creationId xmlns:a16="http://schemas.microsoft.com/office/drawing/2014/main" id="{7CDF9C05-D7F5-4A60-9519-94F46DC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rPr>
              <a:t>管理员</a:t>
            </a:r>
          </a:p>
        </p:txBody>
      </p:sp>
      <p:sp>
        <p:nvSpPr>
          <p:cNvPr id="8" name="编辑与发布课程&#10;查看报名记录&#10;限制后台操作权限">
            <a:extLst xmlns:a="http://schemas.openxmlformats.org/drawingml/2006/main">
              <a:ext uri="{FF2B5EF4-FFF2-40B4-BE49-F238E27FC236}">
                <a16:creationId xmlns:a16="http://schemas.microsoft.com/office/drawing/2014/main" id="{EB27D952-CA46-4223-8A67-5794EF0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编辑与发布课程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查看报名记录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限制后台操作权限</a:t>
            </a:r>
          </a:p>
        </p:txBody>
      </p:sp>
      <p:sp>
        <p:nvSpPr>
          <p:cNvPr id="9" name="页面、业务逻辑和数据库，共同完成一次报名">
            <a:extLst xmlns:a="http://schemas.openxmlformats.org/drawingml/2006/main">
              <a:ext uri="{FF2B5EF4-FFF2-40B4-BE49-F238E27FC236}">
                <a16:creationId xmlns:a16="http://schemas.microsoft.com/office/drawing/2014/main" id="{A6DFF79C-4471-4D4E-A9E7-745AE22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页面、业务逻辑和数据库，共同完成一次报名</a:t>
            </a:r>
          </a:p>
        </p:txBody>
      </p:sp>
      <p:sp>
        <p:nvSpPr>
          <p:cNvPr id="10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3C6DDF2E-1412-4E21-AD4C-CD9ABD32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1" name="02 / 46">
            <a:extLst xmlns:a="http://schemas.openxmlformats.org/drawingml/2006/main">
              <a:ext uri="{FF2B5EF4-FFF2-40B4-BE49-F238E27FC236}">
                <a16:creationId xmlns:a16="http://schemas.microsoft.com/office/drawing/2014/main" id="{50580B3E-4766-4BD0-B15F-5A025832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02 / 46</a:t>
            </a:r>
          </a:p>
        </p:txBody>
      </p:sp>
    </p:spTree>
    <p:extLst>
      <p:ext uri="{BB962C8B-B14F-4D97-AF65-F5344CB8AC3E}">
        <p14:creationId xmlns:p14="http://schemas.microsoft.com/office/powerpoint/2010/main" val="1739433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399A106-B7FC-467D-9B00-DB88877B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Harness 与 SSD 的分工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895975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在全栈开发中解决什么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SSD 规格驱动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写清用户行为、数据、接口和验收条件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Harness 执行约束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规定读取顺序、改动范围、状态和质量门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全栈应用实现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让页面、服务端和数据库按规格协同工作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交付证据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说明哪个版本完成了哪些用户场景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112193F2-E2BB-465C-B878-40DD63F5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4" name="03 / 46">
            <a:extLst xmlns:a="http://schemas.openxmlformats.org/drawingml/2006/main">
              <a:ext uri="{FF2B5EF4-FFF2-40B4-BE49-F238E27FC236}">
                <a16:creationId xmlns:a16="http://schemas.microsoft.com/office/drawing/2014/main" id="{B9ED0D8A-1E68-45E6-9466-9E17776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03 / 46</a:t>
            </a:r>
          </a:p>
        </p:txBody>
      </p:sp>
    </p:spTree>
    <p:extLst>
      <p:ext uri="{BB962C8B-B14F-4D97-AF65-F5344CB8AC3E}">
        <p14:creationId xmlns:p14="http://schemas.microsoft.com/office/powerpoint/2010/main" val="2106278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837B7F3-21D5-4967-A1E1-0DC5A93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全栈应用的开发路线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EF12D20E-9AF7-4A73-949D-D20DA155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产品定义">
            <a:extLst xmlns:a="http://schemas.openxmlformats.org/drawingml/2006/main">
              <a:ext uri="{FF2B5EF4-FFF2-40B4-BE49-F238E27FC236}">
                <a16:creationId xmlns:a16="http://schemas.microsoft.com/office/drawing/2014/main" id="{10F283F1-69BB-4E99-A6EF-987091FF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产品定义</a:t>
            </a:r>
          </a:p>
        </p:txBody>
      </p:sp>
      <p:sp>
        <p:nvSpPr>
          <p:cNvPr id="4" name="P0–P3 内容与蓝图">
            <a:extLst xmlns:a="http://schemas.openxmlformats.org/drawingml/2006/main">
              <a:ext uri="{FF2B5EF4-FFF2-40B4-BE49-F238E27FC236}">
                <a16:creationId xmlns:a16="http://schemas.microsoft.com/office/drawing/2014/main" id="{06A8B561-5622-4596-84BE-1A0593B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P0–P3 内容与蓝图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6F9C749-DA02-41CB-8E18-E8742629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SSD 规格">
            <a:extLst xmlns:a="http://schemas.openxmlformats.org/drawingml/2006/main">
              <a:ext uri="{FF2B5EF4-FFF2-40B4-BE49-F238E27FC236}">
                <a16:creationId xmlns:a16="http://schemas.microsoft.com/office/drawing/2014/main" id="{5CBB2724-62FD-4296-AE51-6C9E21B4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SSD 规格</a:t>
            </a:r>
          </a:p>
        </p:txBody>
      </p:sp>
      <p:sp>
        <p:nvSpPr>
          <p:cNvPr id="7" name="P4 架构与施工计划">
            <a:extLst xmlns:a="http://schemas.openxmlformats.org/drawingml/2006/main">
              <a:ext uri="{FF2B5EF4-FFF2-40B4-BE49-F238E27FC236}">
                <a16:creationId xmlns:a16="http://schemas.microsoft.com/office/drawing/2014/main" id="{3D08021A-85D0-4C43-AFA7-842CB112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P4 架构与施工计划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94DF5671-E448-4639-A64E-FEA705B4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全栈实现">
            <a:extLst xmlns:a="http://schemas.openxmlformats.org/drawingml/2006/main">
              <a:ext uri="{FF2B5EF4-FFF2-40B4-BE49-F238E27FC236}">
                <a16:creationId xmlns:a16="http://schemas.microsoft.com/office/drawing/2014/main" id="{4AFC04A3-E59D-4898-98F6-AEF4350F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全栈实现</a:t>
            </a:r>
          </a:p>
        </p:txBody>
      </p:sp>
      <p:sp>
        <p:nvSpPr>
          <p:cNvPr id="10" name="P5–P6 贯通业务">
            <a:extLst xmlns:a="http://schemas.openxmlformats.org/drawingml/2006/main">
              <a:ext uri="{FF2B5EF4-FFF2-40B4-BE49-F238E27FC236}">
                <a16:creationId xmlns:a16="http://schemas.microsoft.com/office/drawing/2014/main" id="{57BC6086-86E3-4449-B0F6-0E7068ED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P5–P6 贯通业务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E885AF0E-E3BF-4866-9EA0-E3D92D57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2" name="验证上线">
            <a:extLst xmlns:a="http://schemas.openxmlformats.org/drawingml/2006/main">
              <a:ext uri="{FF2B5EF4-FFF2-40B4-BE49-F238E27FC236}">
                <a16:creationId xmlns:a16="http://schemas.microsoft.com/office/drawing/2014/main" id="{2E560B6B-FFEC-4D81-9F21-175A0817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验证上线</a:t>
            </a:r>
          </a:p>
        </p:txBody>
      </p:sp>
      <p:sp>
        <p:nvSpPr>
          <p:cNvPr id="13" name="P7–P8 交付与迭代">
            <a:extLst xmlns:a="http://schemas.openxmlformats.org/drawingml/2006/main">
              <a:ext uri="{FF2B5EF4-FFF2-40B4-BE49-F238E27FC236}">
                <a16:creationId xmlns:a16="http://schemas.microsoft.com/office/drawing/2014/main" id="{6F704C00-4955-433A-BC76-DEA4CEB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P7–P8 交付与迭代</a:t>
            </a:r>
          </a:p>
        </p:txBody>
      </p:sp>
      <p:sp>
        <p:nvSpPr>
          <p:cNvPr id="14" name="每个阶段，都有明确输入、产物和出口条件">
            <a:extLst xmlns:a="http://schemas.openxmlformats.org/drawingml/2006/main">
              <a:ext uri="{FF2B5EF4-FFF2-40B4-BE49-F238E27FC236}">
                <a16:creationId xmlns:a16="http://schemas.microsoft.com/office/drawing/2014/main" id="{C9AEEFAE-A97D-497B-8A0D-7AF308C7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每个阶段，都有明确输入、产物和出口条件</a:t>
            </a:r>
          </a:p>
        </p:txBody>
      </p:sp>
      <p:sp>
        <p:nvSpPr>
          <p:cNvPr id="15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541C82D5-7555-4689-9467-8906CF23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6" name="04 / 46">
            <a:extLst xmlns:a="http://schemas.openxmlformats.org/drawingml/2006/main">
              <a:ext uri="{FF2B5EF4-FFF2-40B4-BE49-F238E27FC236}">
                <a16:creationId xmlns:a16="http://schemas.microsoft.com/office/drawing/2014/main" id="{B2EDA70F-FC03-4EB8-ACED-92A4160B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04 / 46</a:t>
            </a:r>
          </a:p>
        </p:txBody>
      </p:sp>
    </p:spTree>
    <p:extLst>
      <p:ext uri="{BB962C8B-B14F-4D97-AF65-F5344CB8AC3E}">
        <p14:creationId xmlns:p14="http://schemas.microsoft.com/office/powerpoint/2010/main" val="1308902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EE8C786C-D83E-4DA5-89F1-6F60249C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" name="产品定义与页面蓝图">
            <a:extLst xmlns:a="http://schemas.openxmlformats.org/drawingml/2006/main">
              <a:ext uri="{FF2B5EF4-FFF2-40B4-BE49-F238E27FC236}">
                <a16:creationId xmlns:a16="http://schemas.microsoft.com/office/drawing/2014/main" id="{F262F6DB-041C-4D80-882A-A425450E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127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产品定义与页面蓝图</a:t>
            </a:r>
          </a:p>
        </p:txBody>
      </p:sp>
      <p:sp>
        <p:nvSpPr>
          <p:cNvPr id="3" name="先明确用户要完成什么，再确定页面和技术范围">
            <a:extLst xmlns:a="http://schemas.openxmlformats.org/drawingml/2006/main">
              <a:ext uri="{FF2B5EF4-FFF2-40B4-BE49-F238E27FC236}">
                <a16:creationId xmlns:a16="http://schemas.microsoft.com/office/drawing/2014/main" id="{2CA6581F-8546-4292-A84A-B04748A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828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先明确用户要完成什么，再确定页面和技术范围</a:t>
            </a:r>
          </a:p>
        </p:txBody>
      </p:sp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8B03F48A-86D8-41EA-877B-E1A3168C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05 / 46">
            <a:extLst xmlns:a="http://schemas.openxmlformats.org/drawingml/2006/main">
              <a:ext uri="{FF2B5EF4-FFF2-40B4-BE49-F238E27FC236}">
                <a16:creationId xmlns:a16="http://schemas.microsoft.com/office/drawing/2014/main" id="{48A819FE-F58F-4F6F-B22F-BA8653ED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05 / 46</a:t>
            </a:r>
          </a:p>
        </p:txBody>
      </p:sp>
    </p:spTree>
    <p:extLst>
      <p:ext uri="{BB962C8B-B14F-4D97-AF65-F5344CB8AC3E}">
        <p14:creationId xmlns:p14="http://schemas.microsoft.com/office/powerpoint/2010/main" val="1225247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108C351-1BAB-4829-BD95-D4A64243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第一版范围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本期实现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以后扩展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课程列表与详情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推荐、搜索和复杂分类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登录后报名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支付、退款与优惠券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我的报名记录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学习进度与证书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管理员发布课程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复杂审批与运营分析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先让一条业务链真正可用，再扩大功能范围">
            <a:extLst xmlns:a="http://schemas.openxmlformats.org/drawingml/2006/main">
              <a:ext uri="{FF2B5EF4-FFF2-40B4-BE49-F238E27FC236}">
                <a16:creationId xmlns:a16="http://schemas.microsoft.com/office/drawing/2014/main" id="{2B169A8D-EEA7-4283-B871-A149985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先让一条业务链真正可用，再扩大功能范围</a:t>
            </a:r>
          </a:p>
        </p:txBody>
      </p:sp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CD2A781A-8A2B-4921-9F7D-9E5C7C48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06 / 46">
            <a:extLst xmlns:a="http://schemas.openxmlformats.org/drawingml/2006/main">
              <a:ext uri="{FF2B5EF4-FFF2-40B4-BE49-F238E27FC236}">
                <a16:creationId xmlns:a16="http://schemas.microsoft.com/office/drawing/2014/main" id="{6E2D63AD-F382-418E-B597-E73D2202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06 / 46</a:t>
            </a:r>
          </a:p>
        </p:txBody>
      </p:sp>
    </p:spTree>
    <p:extLst>
      <p:ext uri="{BB962C8B-B14F-4D97-AF65-F5344CB8AC3E}">
        <p14:creationId xmlns:p14="http://schemas.microsoft.com/office/powerpoint/2010/main" val="1355145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EC20C71-785D-4CBB-A61C-5020C6DB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一次报名的用户路径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F02C7289-3F46-4461-B321-4CAEA1E6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浏览课程">
            <a:extLst xmlns:a="http://schemas.openxmlformats.org/drawingml/2006/main">
              <a:ext uri="{FF2B5EF4-FFF2-40B4-BE49-F238E27FC236}">
                <a16:creationId xmlns:a16="http://schemas.microsoft.com/office/drawing/2014/main" id="{A3755432-8375-4C95-A8C3-E40C4C0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浏览课程</a:t>
            </a:r>
          </a:p>
        </p:txBody>
      </p:sp>
      <p:sp>
        <p:nvSpPr>
          <p:cNvPr id="4" name="看到可报名的课程">
            <a:extLst xmlns:a="http://schemas.openxmlformats.org/drawingml/2006/main">
              <a:ext uri="{FF2B5EF4-FFF2-40B4-BE49-F238E27FC236}">
                <a16:creationId xmlns:a16="http://schemas.microsoft.com/office/drawing/2014/main" id="{3062A1DA-958E-4241-A7F2-417C9A89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看到可报名的课程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ECC63889-D1AB-44D8-8FE4-39AC7082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确认身份">
            <a:extLst xmlns:a="http://schemas.openxmlformats.org/drawingml/2006/main">
              <a:ext uri="{FF2B5EF4-FFF2-40B4-BE49-F238E27FC236}">
                <a16:creationId xmlns:a16="http://schemas.microsoft.com/office/drawing/2014/main" id="{4F23F296-658D-486B-A04B-0A1264E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确认身份</a:t>
            </a:r>
          </a:p>
        </p:txBody>
      </p:sp>
      <p:sp>
        <p:nvSpPr>
          <p:cNvPr id="7" name="登录后提交报名">
            <a:extLst xmlns:a="http://schemas.openxmlformats.org/drawingml/2006/main">
              <a:ext uri="{FF2B5EF4-FFF2-40B4-BE49-F238E27FC236}">
                <a16:creationId xmlns:a16="http://schemas.microsoft.com/office/drawing/2014/main" id="{CDB34E90-A4ED-4339-B68C-9E7F4F7D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登录后提交报名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74BD6E5D-E4F4-4FA4-B740-0F7CFB9C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服务端保存">
            <a:extLst xmlns:a="http://schemas.openxmlformats.org/drawingml/2006/main">
              <a:ext uri="{FF2B5EF4-FFF2-40B4-BE49-F238E27FC236}">
                <a16:creationId xmlns:a16="http://schemas.microsoft.com/office/drawing/2014/main" id="{882F5434-E8AC-4FE9-BE3B-EF28F53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服务端保存</a:t>
            </a:r>
          </a:p>
        </p:txBody>
      </p:sp>
      <p:sp>
        <p:nvSpPr>
          <p:cNvPr id="10" name="校验后写入数据库">
            <a:extLst xmlns:a="http://schemas.openxmlformats.org/drawingml/2006/main">
              <a:ext uri="{FF2B5EF4-FFF2-40B4-BE49-F238E27FC236}">
                <a16:creationId xmlns:a16="http://schemas.microsoft.com/office/drawing/2014/main" id="{9F41ADDB-3E68-456B-90D7-AD704C2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校验后写入数据库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7FB401E6-AE07-4813-846C-A965D1FD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2" name="查看结果">
            <a:extLst xmlns:a="http://schemas.openxmlformats.org/drawingml/2006/main">
              <a:ext uri="{FF2B5EF4-FFF2-40B4-BE49-F238E27FC236}">
                <a16:creationId xmlns:a16="http://schemas.microsoft.com/office/drawing/2014/main" id="{0FCB03AA-B6CD-4940-9477-687CD8E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查看结果</a:t>
            </a:r>
          </a:p>
        </p:txBody>
      </p:sp>
      <p:sp>
        <p:nvSpPr>
          <p:cNvPr id="13" name="刷新后仍能查到">
            <a:extLst xmlns:a="http://schemas.openxmlformats.org/drawingml/2006/main">
              <a:ext uri="{FF2B5EF4-FFF2-40B4-BE49-F238E27FC236}">
                <a16:creationId xmlns:a16="http://schemas.microsoft.com/office/drawing/2014/main" id="{905C2056-3FF5-40CE-8A49-78C5BF78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刷新后仍能查到</a:t>
            </a:r>
          </a:p>
        </p:txBody>
      </p:sp>
      <p:sp>
        <p:nvSpPr>
          <p:cNvPr id="14" name="刷新后仍然成立，才证明数据已经持久化">
            <a:extLst xmlns:a="http://schemas.openxmlformats.org/drawingml/2006/main">
              <a:ext uri="{FF2B5EF4-FFF2-40B4-BE49-F238E27FC236}">
                <a16:creationId xmlns:a16="http://schemas.microsoft.com/office/drawing/2014/main" id="{52B63F83-9981-44D4-8B62-9D46B7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刷新后仍然成立，才证明数据已经持久化</a:t>
            </a:r>
          </a:p>
        </p:txBody>
      </p:sp>
      <p:sp>
        <p:nvSpPr>
          <p:cNvPr id="15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16957EBE-3415-48BE-B730-E6B42CD8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6" name="07 / 46">
            <a:extLst xmlns:a="http://schemas.openxmlformats.org/drawingml/2006/main">
              <a:ext uri="{FF2B5EF4-FFF2-40B4-BE49-F238E27FC236}">
                <a16:creationId xmlns:a16="http://schemas.microsoft.com/office/drawing/2014/main" id="{7FD4F26C-1129-4523-BD71-B4505553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07 / 46</a:t>
            </a:r>
          </a:p>
        </p:txBody>
      </p:sp>
    </p:spTree>
    <p:extLst>
      <p:ext uri="{BB962C8B-B14F-4D97-AF65-F5344CB8AC3E}">
        <p14:creationId xmlns:p14="http://schemas.microsoft.com/office/powerpoint/2010/main" val="1439174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3C6A753-96B3-4714-A639-40AB9564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P0：产品事实与内容清单</a:t>
            </a:r>
          </a:p>
        </p:txBody>
      </p:sp>
      <p:sp>
        <p:nvSpPr>
          <p:cNvPr id="2" name="用户">
            <a:extLst xmlns:a="http://schemas.openxmlformats.org/drawingml/2006/main">
              <a:ext uri="{FF2B5EF4-FFF2-40B4-BE49-F238E27FC236}">
                <a16:creationId xmlns:a16="http://schemas.microsoft.com/office/drawing/2014/main" id="{594A8054-BBE0-41F8-88E6-DBB7E628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用户</a:t>
            </a:r>
          </a:p>
        </p:txBody>
      </p:sp>
      <p:sp>
        <p:nvSpPr>
          <p:cNvPr id="3" name="访客、学员、管理员分别要完成什么">
            <a:extLst xmlns:a="http://schemas.openxmlformats.org/drawingml/2006/main">
              <a:ext uri="{FF2B5EF4-FFF2-40B4-BE49-F238E27FC236}">
                <a16:creationId xmlns:a16="http://schemas.microsoft.com/office/drawing/2014/main" id="{702003A2-9C4B-412E-840F-D7C9A029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382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访客、学员、管理员分别要完成什么</a:t>
            </a:r>
          </a:p>
        </p:txBody>
      </p:sp>
      <p:sp>
        <p:nvSpPr>
          <p:cNvPr id="4" name="内容">
            <a:extLst xmlns:a="http://schemas.openxmlformats.org/drawingml/2006/main">
              <a:ext uri="{FF2B5EF4-FFF2-40B4-BE49-F238E27FC236}">
                <a16:creationId xmlns:a16="http://schemas.microsoft.com/office/drawing/2014/main" id="{780C24C5-FF73-4192-BBD1-087020F1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内容</a:t>
            </a:r>
          </a:p>
        </p:txBody>
      </p:sp>
      <p:sp>
        <p:nvSpPr>
          <p:cNvPr id="5" name="课程标题、介绍、时间和报名规则">
            <a:extLst xmlns:a="http://schemas.openxmlformats.org/drawingml/2006/main">
              <a:ext uri="{FF2B5EF4-FFF2-40B4-BE49-F238E27FC236}">
                <a16:creationId xmlns:a16="http://schemas.microsoft.com/office/drawing/2014/main" id="{CB31856B-A4E5-4034-A556-8D63BCD4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050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课程标题、介绍、时间和报名规则</a:t>
            </a:r>
          </a:p>
        </p:txBody>
      </p:sp>
      <p:sp>
        <p:nvSpPr>
          <p:cNvPr id="6" name="事实">
            <a:extLst xmlns:a="http://schemas.openxmlformats.org/drawingml/2006/main">
              <a:ext uri="{FF2B5EF4-FFF2-40B4-BE49-F238E27FC236}">
                <a16:creationId xmlns:a16="http://schemas.microsoft.com/office/drawing/2014/main" id="{2B081F2C-9C15-42F8-A55B-790FA671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事实</a:t>
            </a:r>
          </a:p>
        </p:txBody>
      </p:sp>
      <p:sp>
        <p:nvSpPr>
          <p:cNvPr id="7" name="哪些已确认，哪些仍需要负责人决定">
            <a:extLst xmlns:a="http://schemas.openxmlformats.org/drawingml/2006/main">
              <a:ext uri="{FF2B5EF4-FFF2-40B4-BE49-F238E27FC236}">
                <a16:creationId xmlns:a16="http://schemas.microsoft.com/office/drawing/2014/main" id="{4B4D41A4-EDBB-4E50-BD17-02D3975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哪些已确认，哪些仍需要负责人决定</a:t>
            </a:r>
          </a:p>
        </p:txBody>
      </p:sp>
      <p:sp>
        <p:nvSpPr>
          <p:cNvPr id="8" name="边界">
            <a:extLst xmlns:a="http://schemas.openxmlformats.org/drawingml/2006/main">
              <a:ext uri="{FF2B5EF4-FFF2-40B4-BE49-F238E27FC236}">
                <a16:creationId xmlns:a16="http://schemas.microsoft.com/office/drawing/2014/main" id="{2DAA0431-A8A5-4740-BFFD-E3F5D79A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边界</a:t>
            </a:r>
          </a:p>
        </p:txBody>
      </p:sp>
      <p:sp>
        <p:nvSpPr>
          <p:cNvPr id="9" name="免费报名，无名额上限，暂不接支付">
            <a:extLst xmlns:a="http://schemas.openxmlformats.org/drawingml/2006/main">
              <a:ext uri="{FF2B5EF4-FFF2-40B4-BE49-F238E27FC236}">
                <a16:creationId xmlns:a16="http://schemas.microsoft.com/office/drawing/2014/main" id="{19FB5E03-74FF-4B6D-B733-B2EB691E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免费报名，无名额上限，暂不接支付</a:t>
            </a:r>
          </a:p>
        </p:txBody>
      </p:sp>
      <p:sp>
        <p:nvSpPr>
          <p:cNvPr id="10" name="这些决定会进入需求、页面文案和数据模型">
            <a:extLst xmlns:a="http://schemas.openxmlformats.org/drawingml/2006/main">
              <a:ext uri="{FF2B5EF4-FFF2-40B4-BE49-F238E27FC236}">
                <a16:creationId xmlns:a16="http://schemas.microsoft.com/office/drawing/2014/main" id="{658C5992-B130-4E07-913C-751043FE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这些决定会进入需求、页面文案和数据模型</a:t>
            </a:r>
          </a:p>
        </p:txBody>
      </p:sp>
      <p:sp>
        <p:nvSpPr>
          <p:cNvPr id="11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0A78C2C6-21A4-48A5-844F-A0E44AFB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2" name="08 / 46">
            <a:extLst xmlns:a="http://schemas.openxmlformats.org/drawingml/2006/main">
              <a:ext uri="{FF2B5EF4-FFF2-40B4-BE49-F238E27FC236}">
                <a16:creationId xmlns:a16="http://schemas.microsoft.com/office/drawing/2014/main" id="{86520C22-6C16-4A4B-BE0B-85C48703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08 / 46</a:t>
            </a:r>
          </a:p>
        </p:txBody>
      </p:sp>
    </p:spTree>
    <p:extLst>
      <p:ext uri="{BB962C8B-B14F-4D97-AF65-F5344CB8AC3E}">
        <p14:creationId xmlns:p14="http://schemas.microsoft.com/office/powerpoint/2010/main" val="92519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贯穿案例  页面共用一套视觉规则">
            <a:extLst xmlns:a="http://schemas.openxmlformats.org/drawingml/2006/main">
              <a:ext uri="{FF2B5EF4-FFF2-40B4-BE49-F238E27FC236}">
                <a16:creationId xmlns:a16="http://schemas.microsoft.com/office/drawing/2014/main" id="{659E278A-8281-4314-92B5-DB07E9C5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贯穿案例  页面共用一套视觉规则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A42DAC6-C1FD-4A93-8B73-4EA99A6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P1–P2：品牌与设计约束</a:t>
            </a:r>
          </a:p>
        </p:txBody>
      </p:sp>
      <p:sp>
        <p:nvSpPr>
          <p:cNvPr id="3" name="品牌方向">
            <a:extLst xmlns:a="http://schemas.openxmlformats.org/drawingml/2006/main">
              <a:ext uri="{FF2B5EF4-FFF2-40B4-BE49-F238E27FC236}">
                <a16:creationId xmlns:a16="http://schemas.microsoft.com/office/drawing/2014/main" id="{731844E3-202A-4DDC-8EA9-5C0FCD54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590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品牌方向</a:t>
            </a:r>
          </a:p>
        </p:txBody>
      </p:sp>
      <p:sp>
        <p:nvSpPr>
          <p:cNvPr id="4" name="面向学习者的表达、品牌资产与边界">
            <a:extLst xmlns:a="http://schemas.openxmlformats.org/drawingml/2006/main">
              <a:ext uri="{FF2B5EF4-FFF2-40B4-BE49-F238E27FC236}">
                <a16:creationId xmlns:a16="http://schemas.microsoft.com/office/drawing/2014/main" id="{C49986A7-E081-4212-AF95-17DAA827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438275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面向学习者的表达、品牌资产与边界</a:t>
            </a:r>
          </a:p>
        </p:txBody>
      </p:sp>
      <p:sp>
        <p:nvSpPr>
          <p:cNvPr id="5" name="设计 token">
            <a:extLst xmlns:a="http://schemas.openxmlformats.org/drawingml/2006/main">
              <a:ext uri="{FF2B5EF4-FFF2-40B4-BE49-F238E27FC236}">
                <a16:creationId xmlns:a16="http://schemas.microsoft.com/office/drawing/2014/main" id="{E27693FA-F0A7-4BDD-8C50-B4196BD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1590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设计 token</a:t>
            </a:r>
          </a:p>
        </p:txBody>
      </p:sp>
      <p:sp>
        <p:nvSpPr>
          <p:cNvPr id="6" name="颜色、字号、间距采用命名规则">
            <a:extLst xmlns:a="http://schemas.openxmlformats.org/drawingml/2006/main">
              <a:ext uri="{FF2B5EF4-FFF2-40B4-BE49-F238E27FC236}">
                <a16:creationId xmlns:a16="http://schemas.microsoft.com/office/drawing/2014/main" id="{5E7AB5C1-4FDA-4EFB-8916-F14EE89C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276475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颜色、字号、间距采用命名规则</a:t>
            </a:r>
          </a:p>
        </p:txBody>
      </p:sp>
      <p:sp>
        <p:nvSpPr>
          <p:cNvPr id="7" name="共享组件">
            <a:extLst xmlns:a="http://schemas.openxmlformats.org/drawingml/2006/main">
              <a:ext uri="{FF2B5EF4-FFF2-40B4-BE49-F238E27FC236}">
                <a16:creationId xmlns:a16="http://schemas.microsoft.com/office/drawing/2014/main" id="{197D4287-07FD-497E-8556-44C2E9D0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15906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共享组件</a:t>
            </a:r>
          </a:p>
        </p:txBody>
      </p:sp>
      <p:sp>
        <p:nvSpPr>
          <p:cNvPr id="8" name="导航、按钮、表单和状态反馈统一">
            <a:extLst xmlns:a="http://schemas.openxmlformats.org/drawingml/2006/main">
              <a:ext uri="{FF2B5EF4-FFF2-40B4-BE49-F238E27FC236}">
                <a16:creationId xmlns:a16="http://schemas.microsoft.com/office/drawing/2014/main" id="{437B66DB-F850-477B-ADB6-63CEF0F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14675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导航、按钮、表单和状态反馈统一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4e613fde34d9d"/>
          <a:stretch xmlns:a="http://schemas.openxmlformats.org/drawingml/2006/main"/>
        </p:blipFill>
        <p:spPr>
          <a:xfrm xmlns:a="http://schemas.openxmlformats.org/drawingml/2006/main">
            <a:off x="6829425" y="1685925"/>
            <a:ext cx="169545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案例原有品牌资产">
            <a:extLst xmlns:a="http://schemas.openxmlformats.org/drawingml/2006/main">
              <a:ext uri="{FF2B5EF4-FFF2-40B4-BE49-F238E27FC236}">
                <a16:creationId xmlns:a16="http://schemas.microsoft.com/office/drawing/2014/main" id="{A4A1EBAA-D0F0-4BB9-A505-3ABC8493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718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案例原有品牌资产</a:t>
            </a:r>
          </a:p>
        </p:txBody>
      </p:sp>
      <p:sp>
        <p:nvSpPr>
          <p:cNvPr id="11" name="页面的差异来自内容，共同规则来自统一来源">
            <a:extLst xmlns:a="http://schemas.openxmlformats.org/drawingml/2006/main">
              <a:ext uri="{FF2B5EF4-FFF2-40B4-BE49-F238E27FC236}">
                <a16:creationId xmlns:a16="http://schemas.microsoft.com/office/drawing/2014/main" id="{AA6096B8-3729-4BBF-B505-21D01CE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页面的差异来自内容，共同规则来自统一来源</a:t>
            </a:r>
          </a:p>
        </p:txBody>
      </p:sp>
      <p:sp>
        <p:nvSpPr>
          <p:cNvPr id="12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8032715D-3709-440C-A651-54CD9F1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3" name="09 / 46">
            <a:extLst xmlns:a="http://schemas.openxmlformats.org/drawingml/2006/main">
              <a:ext uri="{FF2B5EF4-FFF2-40B4-BE49-F238E27FC236}">
                <a16:creationId xmlns:a16="http://schemas.microsoft.com/office/drawing/2014/main" id="{76C7A57B-414F-43AC-8890-F03FC9F2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09 / 46</a:t>
            </a:r>
          </a:p>
        </p:txBody>
      </p:sp>
    </p:spTree>
    <p:extLst>
      <p:ext uri="{BB962C8B-B14F-4D97-AF65-F5344CB8AC3E}">
        <p14:creationId xmlns:p14="http://schemas.microsoft.com/office/powerpoint/2010/main" val="323319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A1CBAB0-72F4-46FF-AC0D-5D47EE4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P3：关键页面与交互状态</a:t>
            </a:r>
          </a:p>
        </p:txBody>
      </p:sp>
      <p:sp>
        <p:nvSpPr>
          <p:cNvPr id="2" name="公开页面">
            <a:extLst xmlns:a="http://schemas.openxmlformats.org/drawingml/2006/main">
              <a:ext uri="{FF2B5EF4-FFF2-40B4-BE49-F238E27FC236}">
                <a16:creationId xmlns:a16="http://schemas.microsoft.com/office/drawing/2014/main" id="{CB61688D-0A4C-47FD-BC27-AB86B83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公开页面</a:t>
            </a:r>
          </a:p>
        </p:txBody>
      </p:sp>
      <p:sp>
        <p:nvSpPr>
          <p:cNvPr id="3" name="课程列表&#10;课程详情&#10;登录入口">
            <a:extLst xmlns:a="http://schemas.openxmlformats.org/drawingml/2006/main">
              <a:ext uri="{FF2B5EF4-FFF2-40B4-BE49-F238E27FC236}">
                <a16:creationId xmlns:a16="http://schemas.microsoft.com/office/drawing/2014/main" id="{2216A37C-2011-49A2-B050-3F73DC31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课程列表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课程详情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登录入口</a:t>
            </a:r>
          </a:p>
        </p:txBody>
      </p:sp>
      <p:sp>
        <p:nvSpPr>
          <p:cNvPr id="4" name="学员页面">
            <a:extLst xmlns:a="http://schemas.openxmlformats.org/drawingml/2006/main">
              <a:ext uri="{FF2B5EF4-FFF2-40B4-BE49-F238E27FC236}">
                <a16:creationId xmlns:a16="http://schemas.microsoft.com/office/drawing/2014/main" id="{726FC8E4-E5F5-4FB7-A908-7384F13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学员页面</a:t>
            </a:r>
          </a:p>
        </p:txBody>
      </p:sp>
      <p:sp>
        <p:nvSpPr>
          <p:cNvPr id="5" name="未报名与已报名&#10;提交中与提交失败&#10;我的报名空状态">
            <a:extLst xmlns:a="http://schemas.openxmlformats.org/drawingml/2006/main">
              <a:ext uri="{FF2B5EF4-FFF2-40B4-BE49-F238E27FC236}">
                <a16:creationId xmlns:a16="http://schemas.microsoft.com/office/drawing/2014/main" id="{8E6354F3-5F26-4C68-BA95-376B0D00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未报名与已报名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提交中与提交失败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我的报名空状态</a:t>
            </a:r>
          </a:p>
        </p:txBody>
      </p:sp>
      <p:sp>
        <p:nvSpPr>
          <p:cNvPr id="6" name="管理页面">
            <a:extLst xmlns:a="http://schemas.openxmlformats.org/drawingml/2006/main">
              <a:ext uri="{FF2B5EF4-FFF2-40B4-BE49-F238E27FC236}">
                <a16:creationId xmlns:a16="http://schemas.microsoft.com/office/drawing/2014/main" id="{BD88F3ED-BE43-4B47-A56E-892C1718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rPr>
              <a:t>管理页面</a:t>
            </a:r>
          </a:p>
        </p:txBody>
      </p:sp>
      <p:sp>
        <p:nvSpPr>
          <p:cNvPr id="7" name="草稿与已发布&#10;编辑校验失败&#10;无权限访问">
            <a:extLst xmlns:a="http://schemas.openxmlformats.org/drawingml/2006/main">
              <a:ext uri="{FF2B5EF4-FFF2-40B4-BE49-F238E27FC236}">
                <a16:creationId xmlns:a16="http://schemas.microsoft.com/office/drawing/2014/main" id="{B72EBCA1-8579-4DC6-B6DC-5C2DB9C3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草稿与已发布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编辑校验失败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无权限访问</a:t>
            </a:r>
          </a:p>
        </p:txBody>
      </p:sp>
      <p:sp>
        <p:nvSpPr>
          <p:cNvPr id="8" name="蓝图审核同时覆盖页面效果和用户状态">
            <a:extLst xmlns:a="http://schemas.openxmlformats.org/drawingml/2006/main">
              <a:ext uri="{FF2B5EF4-FFF2-40B4-BE49-F238E27FC236}">
                <a16:creationId xmlns:a16="http://schemas.microsoft.com/office/drawing/2014/main" id="{6D453896-1AB8-427E-8E1F-D1A4E0CA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蓝图审核同时覆盖页面效果和用户状态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DCC24F10-510D-4894-A9E7-E9B1A4AF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10 / 46">
            <a:extLst xmlns:a="http://schemas.openxmlformats.org/drawingml/2006/main">
              <a:ext uri="{FF2B5EF4-FFF2-40B4-BE49-F238E27FC236}">
                <a16:creationId xmlns:a16="http://schemas.microsoft.com/office/drawing/2014/main" id="{7CC0CB40-88B2-4594-BFAF-BB698740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10 / 46</a:t>
            </a:r>
          </a:p>
        </p:txBody>
      </p:sp>
    </p:spTree>
    <p:extLst>
      <p:ext uri="{BB962C8B-B14F-4D97-AF65-F5344CB8AC3E}">
        <p14:creationId xmlns:p14="http://schemas.microsoft.com/office/powerpoint/2010/main" val="930740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教学设计  路径可按项目约定调整">
            <a:extLst xmlns:a="http://schemas.openxmlformats.org/drawingml/2006/main">
              <a:ext uri="{FF2B5EF4-FFF2-40B4-BE49-F238E27FC236}">
                <a16:creationId xmlns:a16="http://schemas.microsoft.com/office/drawing/2014/main" id="{1F7CCC85-C273-4CBA-96F9-A0D656B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教学设计  路径可按项目约定调整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7AD4DF2-D596-4E68-B363-79F813F6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页面路由与权限范围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82296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1762125"/>
                <a:gridCol w="3181350"/>
              </a:tblGrid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访问者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数据来源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/courses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所有人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已发布课程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/courses/[id]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所有人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单门已发布课程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/auth/login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未登录用户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账户与会话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/dashboard/enrollments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当前学员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自己的报名记录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/admin/courses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管理员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课程草稿与发布状态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682646DC-636E-41E1-89A5-CE4CB530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11 / 46">
            <a:extLst xmlns:a="http://schemas.openxmlformats.org/drawingml/2006/main">
              <a:ext uri="{FF2B5EF4-FFF2-40B4-BE49-F238E27FC236}">
                <a16:creationId xmlns:a16="http://schemas.microsoft.com/office/drawing/2014/main" id="{551EDBE8-9A5A-4044-A99D-C40CBAE8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11 / 46</a:t>
            </a:r>
          </a:p>
        </p:txBody>
      </p:sp>
    </p:spTree>
    <p:extLst>
      <p:ext uri="{BB962C8B-B14F-4D97-AF65-F5344CB8AC3E}">
        <p14:creationId xmlns:p14="http://schemas.microsoft.com/office/powerpoint/2010/main" val="690892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790FF931-EAA3-4B45-AA2C-BF2E8322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" name="SSD：把应用写成规格">
            <a:extLst xmlns:a="http://schemas.openxmlformats.org/drawingml/2006/main">
              <a:ext uri="{FF2B5EF4-FFF2-40B4-BE49-F238E27FC236}">
                <a16:creationId xmlns:a16="http://schemas.microsoft.com/office/drawing/2014/main" id="{5FD8DBFD-2C9E-4A45-B22D-12932702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127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SSD：把应用写成规格</a:t>
            </a:r>
          </a:p>
        </p:txBody>
      </p:sp>
      <p:sp>
        <p:nvSpPr>
          <p:cNvPr id="3" name="需求、数据、接口与任务，应当互相对应">
            <a:extLst xmlns:a="http://schemas.openxmlformats.org/drawingml/2006/main">
              <a:ext uri="{FF2B5EF4-FFF2-40B4-BE49-F238E27FC236}">
                <a16:creationId xmlns:a16="http://schemas.microsoft.com/office/drawing/2014/main" id="{85F11B3B-E860-48B0-B850-0A230114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828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需求、数据、接口与任务，应当互相对应</a:t>
            </a:r>
          </a:p>
        </p:txBody>
      </p:sp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8933D850-5B48-4428-9BB0-CE3B4512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12 / 46">
            <a:extLst xmlns:a="http://schemas.openxmlformats.org/drawingml/2006/main">
              <a:ext uri="{FF2B5EF4-FFF2-40B4-BE49-F238E27FC236}">
                <a16:creationId xmlns:a16="http://schemas.microsoft.com/office/drawing/2014/main" id="{E108B709-BD21-4661-ACEA-5B9A808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12 / 46</a:t>
            </a:r>
          </a:p>
        </p:txBody>
      </p:sp>
    </p:spTree>
    <p:extLst>
      <p:ext uri="{BB962C8B-B14F-4D97-AF65-F5344CB8AC3E}">
        <p14:creationId xmlns:p14="http://schemas.microsoft.com/office/powerpoint/2010/main" val="15311596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2EA1B8B-5B2C-47B0-A79D-6C1A92FC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一项功能的 SSD 规格包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038725"/>
              </a:tblGrid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文件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课程报名功能的内容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00-discovery.md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现有账户、页面、数据与依赖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01-requirements.md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报名行为、权限和验收标准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02-design.md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数据模型、业务接口与错误处理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03-tasks.md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数据库、后端、页面与测试任务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04-fpf-review.md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反查规格矛盾和遗漏的失败场景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40123A76-8FAB-49B2-8106-63DF051A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4" name="13 / 46">
            <a:extLst xmlns:a="http://schemas.openxmlformats.org/drawingml/2006/main">
              <a:ext uri="{FF2B5EF4-FFF2-40B4-BE49-F238E27FC236}">
                <a16:creationId xmlns:a16="http://schemas.microsoft.com/office/drawing/2014/main" id="{7AD335D1-6854-4585-AA3F-5E75818E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13 / 46</a:t>
            </a:r>
          </a:p>
        </p:txBody>
      </p:sp>
    </p:spTree>
    <p:extLst>
      <p:ext uri="{BB962C8B-B14F-4D97-AF65-F5344CB8AC3E}">
        <p14:creationId xmlns:p14="http://schemas.microsoft.com/office/powerpoint/2010/main" val="21040683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可复用提示词  先明确输入与产物">
            <a:extLst xmlns:a="http://schemas.openxmlformats.org/drawingml/2006/main">
              <a:ext uri="{FF2B5EF4-FFF2-40B4-BE49-F238E27FC236}">
                <a16:creationId xmlns:a16="http://schemas.microsoft.com/office/drawing/2014/main" id="{66B1092D-4B6E-482F-92F8-8D61A6F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可复用提示词  先明确输入与产物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490B3DD-E33F-4EE5-93E8-E38FA00E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给 Agent 的规格任务</a:t>
            </a:r>
          </a:p>
        </p:txBody>
      </p:sp>
      <p:sp>
        <p:nvSpPr>
          <p:cNvPr id="3" name="目标：增加免费课程报名功能。&#10;先读取项目规则、账户与数据模块">
            <a:extLst xmlns:a="http://schemas.openxmlformats.org/drawingml/2006/main">
              <a:ext uri="{FF2B5EF4-FFF2-40B4-BE49-F238E27FC236}">
                <a16:creationId xmlns:a16="http://schemas.microsoft.com/office/drawing/2014/main" id="{346DB482-8661-4E77-8857-14557197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目标：增加免费课程报名功能。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先读取项目规则、账户与数据模块。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使用 spec-dev 形成需求与设计。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写清数据、权限、接口和失败场景。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拆分任务，列出文件与验收条件。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把未决问题和假设单独列出。</a:t>
            </a:r>
          </a:p>
        </p:txBody>
      </p:sp>
      <p:sp>
        <p:nvSpPr>
          <p:cNvPr id="4" name="提供输入">
            <a:extLst xmlns:a="http://schemas.openxmlformats.org/drawingml/2006/main">
              <a:ext uri="{FF2B5EF4-FFF2-40B4-BE49-F238E27FC236}">
                <a16:creationId xmlns:a16="http://schemas.microsoft.com/office/drawing/2014/main" id="{B603C5A1-746E-41C4-81FD-BD7F5101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提供输入</a:t>
            </a:r>
          </a:p>
        </p:txBody>
      </p:sp>
      <p:sp>
        <p:nvSpPr>
          <p:cNvPr id="5" name="产品范围、蓝图与当前代码">
            <a:extLst xmlns:a="http://schemas.openxmlformats.org/drawingml/2006/main">
              <a:ext uri="{FF2B5EF4-FFF2-40B4-BE49-F238E27FC236}">
                <a16:creationId xmlns:a16="http://schemas.microsoft.com/office/drawing/2014/main" id="{D438C739-CC82-4CA4-AA2C-AEEF2532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产品范围、蓝图与当前代码</a:t>
            </a:r>
          </a:p>
        </p:txBody>
      </p:sp>
      <p:sp>
        <p:nvSpPr>
          <p:cNvPr id="6" name="审核产物">
            <a:extLst xmlns:a="http://schemas.openxmlformats.org/drawingml/2006/main">
              <a:ext uri="{FF2B5EF4-FFF2-40B4-BE49-F238E27FC236}">
                <a16:creationId xmlns:a16="http://schemas.microsoft.com/office/drawing/2014/main" id="{98D37023-993D-4488-B7FC-13C2662F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审核产物</a:t>
            </a:r>
          </a:p>
        </p:txBody>
      </p:sp>
      <p:sp>
        <p:nvSpPr>
          <p:cNvPr id="7" name="规格是否覆盖完整用户流程">
            <a:extLst xmlns:a="http://schemas.openxmlformats.org/drawingml/2006/main">
              <a:ext uri="{FF2B5EF4-FFF2-40B4-BE49-F238E27FC236}">
                <a16:creationId xmlns:a16="http://schemas.microsoft.com/office/drawing/2014/main" id="{F3E0DEC7-1C31-456D-A93A-16A03A78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规格是否覆盖完整用户流程</a:t>
            </a:r>
          </a:p>
        </p:txBody>
      </p:sp>
      <p:sp>
        <p:nvSpPr>
          <p:cNvPr id="8" name="把需求与边界讲清楚，Agent 才能形成可实施的计划">
            <a:extLst xmlns:a="http://schemas.openxmlformats.org/drawingml/2006/main">
              <a:ext uri="{FF2B5EF4-FFF2-40B4-BE49-F238E27FC236}">
                <a16:creationId xmlns:a16="http://schemas.microsoft.com/office/drawing/2014/main" id="{6B53EC2C-F104-4970-96A5-FC78C91C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把需求与边界讲清楚，Agent 才能形成可实施的计划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3E556279-CBBB-4D77-8DCC-5BC6EE12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14 / 46">
            <a:extLst xmlns:a="http://schemas.openxmlformats.org/drawingml/2006/main">
              <a:ext uri="{FF2B5EF4-FFF2-40B4-BE49-F238E27FC236}">
                <a16:creationId xmlns:a16="http://schemas.microsoft.com/office/drawing/2014/main" id="{A4E1BA88-1D67-4152-AA9B-FC56BA9A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14 / 46</a:t>
            </a:r>
          </a:p>
        </p:txBody>
      </p:sp>
    </p:spTree>
    <p:extLst>
      <p:ext uri="{BB962C8B-B14F-4D97-AF65-F5344CB8AC3E}">
        <p14:creationId xmlns:p14="http://schemas.microsoft.com/office/powerpoint/2010/main" val="438304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教学示例  EARS 写法">
            <a:extLst xmlns:a="http://schemas.openxmlformats.org/drawingml/2006/main">
              <a:ext uri="{FF2B5EF4-FFF2-40B4-BE49-F238E27FC236}">
                <a16:creationId xmlns:a16="http://schemas.microsoft.com/office/drawing/2014/main" id="{D392A6E5-F08D-43FB-9FD6-273D8F25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教学示例  EARS 写法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2BF3C11-DE3B-44F4-9ACA-8BBB749A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一条可测试的报名需求</a:t>
            </a:r>
          </a:p>
        </p:txBody>
      </p:sp>
      <p:sp>
        <p:nvSpPr>
          <p:cNvPr id="3" name="WHEN 已登录学员提交课程报名&#10;THE 系统 SHALL ">
            <a:extLst xmlns:a="http://schemas.openxmlformats.org/drawingml/2006/main">
              <a:ext uri="{FF2B5EF4-FFF2-40B4-BE49-F238E27FC236}">
                <a16:creationId xmlns:a16="http://schemas.microsoft.com/office/drawing/2014/main" id="{21F4EC76-E685-4452-9CD4-E3F5FC21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WHEN 已登录学员提交课程报名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THE 系统 SHALL 校验课程可报名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AND 保存当前用户的报名记录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IF 已存在报名记录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THEN 返回已有结果，不重复新增</a:t>
            </a:r>
          </a:p>
        </p:txBody>
      </p:sp>
      <p:sp>
        <p:nvSpPr>
          <p:cNvPr id="4" name="成功路径">
            <a:extLst xmlns:a="http://schemas.openxmlformats.org/drawingml/2006/main">
              <a:ext uri="{FF2B5EF4-FFF2-40B4-BE49-F238E27FC236}">
                <a16:creationId xmlns:a16="http://schemas.microsoft.com/office/drawing/2014/main" id="{73B334CD-45C2-4F91-9B0D-14F113EE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成功路径</a:t>
            </a:r>
          </a:p>
        </p:txBody>
      </p:sp>
      <p:sp>
        <p:nvSpPr>
          <p:cNvPr id="5" name="报名后刷新，仍可查到">
            <a:extLst xmlns:a="http://schemas.openxmlformats.org/drawingml/2006/main">
              <a:ext uri="{FF2B5EF4-FFF2-40B4-BE49-F238E27FC236}">
                <a16:creationId xmlns:a16="http://schemas.microsoft.com/office/drawing/2014/main" id="{ED5CF716-52FB-4E79-A49E-9E1AA804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报名后刷新，仍可查到</a:t>
            </a:r>
          </a:p>
        </p:txBody>
      </p:sp>
      <p:sp>
        <p:nvSpPr>
          <p:cNvPr id="6" name="失败路径">
            <a:extLst xmlns:a="http://schemas.openxmlformats.org/drawingml/2006/main">
              <a:ext uri="{FF2B5EF4-FFF2-40B4-BE49-F238E27FC236}">
                <a16:creationId xmlns:a16="http://schemas.microsoft.com/office/drawing/2014/main" id="{6FE425FC-A1E9-4C24-9CA7-0FE8386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失败路径</a:t>
            </a:r>
          </a:p>
        </p:txBody>
      </p:sp>
      <p:sp>
        <p:nvSpPr>
          <p:cNvPr id="7" name="未登录、课程下架、写入失败">
            <a:extLst xmlns:a="http://schemas.openxmlformats.org/drawingml/2006/main">
              <a:ext uri="{FF2B5EF4-FFF2-40B4-BE49-F238E27FC236}">
                <a16:creationId xmlns:a16="http://schemas.microsoft.com/office/drawing/2014/main" id="{72EEF30D-4947-4778-BD63-1C33DCC4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未登录、课程下架、写入失败</a:t>
            </a:r>
          </a:p>
        </p:txBody>
      </p:sp>
      <p:sp>
        <p:nvSpPr>
          <p:cNvPr id="8" name="一句“做个报名功能”，需要展开成条件与结果">
            <a:extLst xmlns:a="http://schemas.openxmlformats.org/drawingml/2006/main">
              <a:ext uri="{FF2B5EF4-FFF2-40B4-BE49-F238E27FC236}">
                <a16:creationId xmlns:a16="http://schemas.microsoft.com/office/drawing/2014/main" id="{93ABD586-FFC9-4882-A4CD-C6781E8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一句“做个报名功能”，需要展开成条件与结果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2C496066-7083-4EF1-ADA8-8BD6B13C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15 / 46">
            <a:extLst xmlns:a="http://schemas.openxmlformats.org/drawingml/2006/main">
              <a:ext uri="{FF2B5EF4-FFF2-40B4-BE49-F238E27FC236}">
                <a16:creationId xmlns:a16="http://schemas.microsoft.com/office/drawing/2014/main" id="{718CC295-1FB4-437B-9551-15FF0040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15 / 46</a:t>
            </a:r>
          </a:p>
        </p:txBody>
      </p:sp>
    </p:spTree>
    <p:extLst>
      <p:ext uri="{BB962C8B-B14F-4D97-AF65-F5344CB8AC3E}">
        <p14:creationId xmlns:p14="http://schemas.microsoft.com/office/powerpoint/2010/main" val="8052768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教学设计  user 可复用，业务实体新增">
            <a:extLst xmlns:a="http://schemas.openxmlformats.org/drawingml/2006/main">
              <a:ext uri="{FF2B5EF4-FFF2-40B4-BE49-F238E27FC236}">
                <a16:creationId xmlns:a16="http://schemas.microsoft.com/office/drawing/2014/main" id="{64F8124F-D69C-460D-9C4D-7381C353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教学设计  user 可复用，业务实体新增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36A54C6-437E-4676-B8D5-7BB0C103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数据模型与约束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8229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333750"/>
                <a:gridCol w="3371850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实体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核心字段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重要约束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user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id、账户与角色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复用现有身份体系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course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id、标题、状态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草稿与发布状态明确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enrollment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userId、courseId、时间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用户与课程组合唯一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关联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报名关联用户与课程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外键与删除策略明确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4" name="业务规则应落到服务端和数据库约束中">
            <a:extLst xmlns:a="http://schemas.openxmlformats.org/drawingml/2006/main">
              <a:ext uri="{FF2B5EF4-FFF2-40B4-BE49-F238E27FC236}">
                <a16:creationId xmlns:a16="http://schemas.microsoft.com/office/drawing/2014/main" id="{9A49553D-00E4-45FD-A322-78C688AB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业务规则应落到服务端和数据库约束中</a:t>
            </a:r>
          </a:p>
        </p:txBody>
      </p:sp>
      <p:sp>
        <p:nvSpPr>
          <p:cNvPr id="5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4628D9D8-B43B-47CD-947D-0947375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6" name="16 / 46">
            <a:extLst xmlns:a="http://schemas.openxmlformats.org/drawingml/2006/main">
              <a:ext uri="{FF2B5EF4-FFF2-40B4-BE49-F238E27FC236}">
                <a16:creationId xmlns:a16="http://schemas.microsoft.com/office/drawing/2014/main" id="{6992173D-8EC8-476D-8903-6B6553C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16 / 46</a:t>
            </a:r>
          </a:p>
        </p:txBody>
      </p:sp>
    </p:spTree>
    <p:extLst>
      <p:ext uri="{BB962C8B-B14F-4D97-AF65-F5344CB8AC3E}">
        <p14:creationId xmlns:p14="http://schemas.microsoft.com/office/powerpoint/2010/main" val="21028289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D80930D-F04C-4FC5-8898-2FF8D66B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权限矩阵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428750"/>
                <a:gridCol w="2095500"/>
                <a:gridCol w="2324100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操作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访客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学员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管理员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查看已发布课程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提交报名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需登录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以本人身份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按已定义角色规则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查看报名记录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仅自己的记录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按管理职责授权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编辑和发布课程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允许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B5FF8A3F-F771-4A76-8C2C-CB590A2A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4" name="17 / 46">
            <a:extLst xmlns:a="http://schemas.openxmlformats.org/drawingml/2006/main">
              <a:ext uri="{FF2B5EF4-FFF2-40B4-BE49-F238E27FC236}">
                <a16:creationId xmlns:a16="http://schemas.microsoft.com/office/drawing/2014/main" id="{17B39FA3-508A-4D07-A402-6DAA877B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17 / 46</a:t>
            </a:r>
          </a:p>
        </p:txBody>
      </p:sp>
    </p:spTree>
    <p:extLst>
      <p:ext uri="{BB962C8B-B14F-4D97-AF65-F5344CB8AC3E}">
        <p14:creationId xmlns:p14="http://schemas.microsoft.com/office/powerpoint/2010/main" val="11332910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教学契约  适用于 Server Action 或 API">
            <a:extLst xmlns:a="http://schemas.openxmlformats.org/drawingml/2006/main">
              <a:ext uri="{FF2B5EF4-FFF2-40B4-BE49-F238E27FC236}">
                <a16:creationId xmlns:a16="http://schemas.microsoft.com/office/drawing/2014/main" id="{544AD614-27C0-40EE-B225-465B34E1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教学契约  适用于 Server Action 或 API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E46D758-4296-4E9C-A48B-E1B25F7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报名接口的输入与输出</a:t>
            </a:r>
          </a:p>
        </p:txBody>
      </p:sp>
      <p:sp>
        <p:nvSpPr>
          <p:cNvPr id="3" name="输入：courseId&#10;身份：服务端 session.use">
            <a:extLst xmlns:a="http://schemas.openxmlformats.org/drawingml/2006/main">
              <a:ext uri="{FF2B5EF4-FFF2-40B4-BE49-F238E27FC236}">
                <a16:creationId xmlns:a16="http://schemas.microsoft.com/office/drawing/2014/main" id="{604BEC70-C492-471B-8EFD-7C00C6D3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输入：courseId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身份：服务端 session.user.id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成功：enrollmentId + 已报名状态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重复：返回原有报名结果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失败：未登录 / 不可报名 / 保存失败</a:t>
            </a:r>
          </a:p>
        </p:txBody>
      </p:sp>
      <p:sp>
        <p:nvSpPr>
          <p:cNvPr id="4" name="前端负责">
            <a:extLst xmlns:a="http://schemas.openxmlformats.org/drawingml/2006/main">
              <a:ext uri="{FF2B5EF4-FFF2-40B4-BE49-F238E27FC236}">
                <a16:creationId xmlns:a16="http://schemas.microsoft.com/office/drawing/2014/main" id="{680C3AB4-54C6-4B77-BEFA-9192DD12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前端负责</a:t>
            </a:r>
          </a:p>
        </p:txBody>
      </p:sp>
      <p:sp>
        <p:nvSpPr>
          <p:cNvPr id="5" name="提交参数与展示结果&#10;失败后支持重试">
            <a:extLst xmlns:a="http://schemas.openxmlformats.org/drawingml/2006/main">
              <a:ext uri="{FF2B5EF4-FFF2-40B4-BE49-F238E27FC236}">
                <a16:creationId xmlns:a16="http://schemas.microsoft.com/office/drawing/2014/main" id="{CB42A1C9-D4E3-4BDF-B4EA-ECB004BB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提交参数与展示结果</a:t>
            </a:r>
          </a:p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失败后支持重试</a:t>
            </a:r>
          </a:p>
        </p:txBody>
      </p:sp>
      <p:sp>
        <p:nvSpPr>
          <p:cNvPr id="6" name="服务端负责">
            <a:extLst xmlns:a="http://schemas.openxmlformats.org/drawingml/2006/main">
              <a:ext uri="{FF2B5EF4-FFF2-40B4-BE49-F238E27FC236}">
                <a16:creationId xmlns:a16="http://schemas.microsoft.com/office/drawing/2014/main" id="{B8EDCEAC-5E34-432F-A366-00EFA4D6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服务端负责</a:t>
            </a:r>
          </a:p>
        </p:txBody>
      </p:sp>
      <p:sp>
        <p:nvSpPr>
          <p:cNvPr id="7" name="校验身份与业务&#10;执行真实写入">
            <a:extLst xmlns:a="http://schemas.openxmlformats.org/drawingml/2006/main">
              <a:ext uri="{FF2B5EF4-FFF2-40B4-BE49-F238E27FC236}">
                <a16:creationId xmlns:a16="http://schemas.microsoft.com/office/drawing/2014/main" id="{B2BAD3FA-6EA1-4C03-A38F-29833FE2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校验身份与业务</a:t>
            </a:r>
          </a:p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执行真实写入</a:t>
            </a:r>
          </a:p>
        </p:txBody>
      </p:sp>
      <p:sp>
        <p:nvSpPr>
          <p:cNvPr id="8" name="接口契约明确后，前后端才能独立实现">
            <a:extLst xmlns:a="http://schemas.openxmlformats.org/drawingml/2006/main">
              <a:ext uri="{FF2B5EF4-FFF2-40B4-BE49-F238E27FC236}">
                <a16:creationId xmlns:a16="http://schemas.microsoft.com/office/drawing/2014/main" id="{038EFB83-106B-4C07-944E-25F5582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接口契约明确后，前后端才能独立实现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844B681A-C205-448D-B8F8-71E50762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18 / 46">
            <a:extLst xmlns:a="http://schemas.openxmlformats.org/drawingml/2006/main">
              <a:ext uri="{FF2B5EF4-FFF2-40B4-BE49-F238E27FC236}">
                <a16:creationId xmlns:a16="http://schemas.microsoft.com/office/drawing/2014/main" id="{97DCA76A-2287-4B3F-BF72-3DB8080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18 / 46</a:t>
            </a:r>
          </a:p>
        </p:txBody>
      </p:sp>
    </p:spTree>
    <p:extLst>
      <p:ext uri="{BB962C8B-B14F-4D97-AF65-F5344CB8AC3E}">
        <p14:creationId xmlns:p14="http://schemas.microsoft.com/office/powerpoint/2010/main" val="7537252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04E70E8-4DEC-4EFE-BF12-D4FE458E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全栈架构的三个实现位置</a:t>
            </a:r>
          </a:p>
        </p:txBody>
      </p:sp>
      <p:sp>
        <p:nvSpPr>
          <p:cNvPr id="2" name="页面与组件">
            <a:extLst xmlns:a="http://schemas.openxmlformats.org/drawingml/2006/main">
              <a:ext uri="{FF2B5EF4-FFF2-40B4-BE49-F238E27FC236}">
                <a16:creationId xmlns:a16="http://schemas.microsoft.com/office/drawing/2014/main" id="{683D7801-CA71-4FE5-8400-4329A034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页面与组件</a:t>
            </a:r>
          </a:p>
        </p:txBody>
      </p:sp>
      <p:sp>
        <p:nvSpPr>
          <p:cNvPr id="3" name="src/app/&#10;src/components/&#10;用户输入与">
            <a:extLst xmlns:a="http://schemas.openxmlformats.org/drawingml/2006/main">
              <a:ext uri="{FF2B5EF4-FFF2-40B4-BE49-F238E27FC236}">
                <a16:creationId xmlns:a16="http://schemas.microsoft.com/office/drawing/2014/main" id="{B0A2F63D-7B1D-484A-86C0-89F76D7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src/app/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src/components/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用户输入与状态反馈</a:t>
            </a:r>
          </a:p>
        </p:txBody>
      </p:sp>
      <p:sp>
        <p:nvSpPr>
          <p:cNvPr id="4" name="服务端业务">
            <a:extLst xmlns:a="http://schemas.openxmlformats.org/drawingml/2006/main">
              <a:ext uri="{FF2B5EF4-FFF2-40B4-BE49-F238E27FC236}">
                <a16:creationId xmlns:a16="http://schemas.microsoft.com/office/drawing/2014/main" id="{BE5EDFDA-D44F-4750-AC57-8907FAE7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服务端业务</a:t>
            </a:r>
          </a:p>
        </p:txBody>
      </p:sp>
      <p:sp>
        <p:nvSpPr>
          <p:cNvPr id="5" name="src/actions/&#10;src/lib/&#10;会话、校验与业务">
            <a:extLst xmlns:a="http://schemas.openxmlformats.org/drawingml/2006/main">
              <a:ext uri="{FF2B5EF4-FFF2-40B4-BE49-F238E27FC236}">
                <a16:creationId xmlns:a16="http://schemas.microsoft.com/office/drawing/2014/main" id="{A9BB59CF-2BDF-45E2-8212-C38E3DAB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src/actions/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src/lib/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会话、校验与业务规则</a:t>
            </a:r>
          </a:p>
        </p:txBody>
      </p:sp>
      <p:sp>
        <p:nvSpPr>
          <p:cNvPr id="6" name="数据与集成">
            <a:extLst xmlns:a="http://schemas.openxmlformats.org/drawingml/2006/main">
              <a:ext uri="{FF2B5EF4-FFF2-40B4-BE49-F238E27FC236}">
                <a16:creationId xmlns:a16="http://schemas.microsoft.com/office/drawing/2014/main" id="{BD097D3E-558D-476F-A136-41D74AC9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rPr>
              <a:t>数据与集成</a:t>
            </a:r>
          </a:p>
        </p:txBody>
      </p:sp>
      <p:sp>
        <p:nvSpPr>
          <p:cNvPr id="7" name="src/db/&#10;src/mail/、payment/&#10;持久化">
            <a:extLst xmlns:a="http://schemas.openxmlformats.org/drawingml/2006/main">
              <a:ext uri="{FF2B5EF4-FFF2-40B4-BE49-F238E27FC236}">
                <a16:creationId xmlns:a16="http://schemas.microsoft.com/office/drawing/2014/main" id="{35F55AAB-07DA-467D-9FAE-87E6BF5B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src/db/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src/mail/、payment/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持久化与外部服务</a:t>
            </a:r>
          </a:p>
        </p:txBody>
      </p:sp>
      <p:sp>
        <p:nvSpPr>
          <p:cNvPr id="8" name="先贯通业务调用，再决定是否需要拆分更多层">
            <a:extLst xmlns:a="http://schemas.openxmlformats.org/drawingml/2006/main">
              <a:ext uri="{FF2B5EF4-FFF2-40B4-BE49-F238E27FC236}">
                <a16:creationId xmlns:a16="http://schemas.microsoft.com/office/drawing/2014/main" id="{9204A20D-AD4F-4FAF-8558-8345A15E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先贯通业务调用，再决定是否需要拆分更多层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0B30C83C-3895-4824-BDE9-7C143036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19 / 46">
            <a:extLst xmlns:a="http://schemas.openxmlformats.org/drawingml/2006/main">
              <a:ext uri="{FF2B5EF4-FFF2-40B4-BE49-F238E27FC236}">
                <a16:creationId xmlns:a16="http://schemas.microsoft.com/office/drawing/2014/main" id="{C820C4E6-0BBB-4AB6-A032-D2F2452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19 / 46</a:t>
            </a:r>
          </a:p>
        </p:txBody>
      </p:sp>
    </p:spTree>
    <p:extLst>
      <p:ext uri="{BB962C8B-B14F-4D97-AF65-F5344CB8AC3E}">
        <p14:creationId xmlns:p14="http://schemas.microsoft.com/office/powerpoint/2010/main" val="7420629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4536D40-B617-4E4D-8730-581CF008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任务按依赖顺序拆分</a:t>
            </a:r>
          </a:p>
        </p:txBody>
      </p:sp>
      <p:sp>
        <p:nvSpPr>
          <p:cNvPr id="2" name="T-01 数据">
            <a:extLst xmlns:a="http://schemas.openxmlformats.org/drawingml/2006/main">
              <a:ext uri="{FF2B5EF4-FFF2-40B4-BE49-F238E27FC236}">
                <a16:creationId xmlns:a16="http://schemas.microsoft.com/office/drawing/2014/main" id="{D44D0062-C80D-4781-AC44-8C43183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T-01 数据</a:t>
            </a:r>
          </a:p>
        </p:txBody>
      </p:sp>
      <p:sp>
        <p:nvSpPr>
          <p:cNvPr id="3" name="定义 course、enrollment 与迁移">
            <a:extLst xmlns:a="http://schemas.openxmlformats.org/drawingml/2006/main">
              <a:ext uri="{FF2B5EF4-FFF2-40B4-BE49-F238E27FC236}">
                <a16:creationId xmlns:a16="http://schemas.microsoft.com/office/drawing/2014/main" id="{E0C39887-09F4-467D-8028-7B3E16A8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382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定义 course、enrollment 与迁移</a:t>
            </a:r>
          </a:p>
        </p:txBody>
      </p:sp>
      <p:sp>
        <p:nvSpPr>
          <p:cNvPr id="4" name="T-02 业务">
            <a:extLst xmlns:a="http://schemas.openxmlformats.org/drawingml/2006/main">
              <a:ext uri="{FF2B5EF4-FFF2-40B4-BE49-F238E27FC236}">
                <a16:creationId xmlns:a16="http://schemas.microsoft.com/office/drawing/2014/main" id="{34CE0823-E9FB-4E29-8D41-7CF17B14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T-02 业务</a:t>
            </a:r>
          </a:p>
        </p:txBody>
      </p:sp>
      <p:sp>
        <p:nvSpPr>
          <p:cNvPr id="5" name="实现身份、课程状态和重复报名处理">
            <a:extLst xmlns:a="http://schemas.openxmlformats.org/drawingml/2006/main">
              <a:ext uri="{FF2B5EF4-FFF2-40B4-BE49-F238E27FC236}">
                <a16:creationId xmlns:a16="http://schemas.microsoft.com/office/drawing/2014/main" id="{511DC439-FE74-4789-91A1-4003BB6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050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实现身份、课程状态和重复报名处理</a:t>
            </a:r>
          </a:p>
        </p:txBody>
      </p:sp>
      <p:sp>
        <p:nvSpPr>
          <p:cNvPr id="6" name="T-03 页面">
            <a:extLst xmlns:a="http://schemas.openxmlformats.org/drawingml/2006/main">
              <a:ext uri="{FF2B5EF4-FFF2-40B4-BE49-F238E27FC236}">
                <a16:creationId xmlns:a16="http://schemas.microsoft.com/office/drawing/2014/main" id="{5BA99AA5-B7EA-40E8-8BE3-B2B6A406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T-03 页面</a:t>
            </a:r>
          </a:p>
        </p:txBody>
      </p:sp>
      <p:sp>
        <p:nvSpPr>
          <p:cNvPr id="7" name="接入报名动作和报名记录查询">
            <a:extLst xmlns:a="http://schemas.openxmlformats.org/drawingml/2006/main">
              <a:ext uri="{FF2B5EF4-FFF2-40B4-BE49-F238E27FC236}">
                <a16:creationId xmlns:a16="http://schemas.microsoft.com/office/drawing/2014/main" id="{C9F246CE-D5EB-4341-85BE-B34AC198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接入报名动作和报名记录查询</a:t>
            </a:r>
          </a:p>
        </p:txBody>
      </p:sp>
      <p:sp>
        <p:nvSpPr>
          <p:cNvPr id="8" name="T-04 验证">
            <a:extLst xmlns:a="http://schemas.openxmlformats.org/drawingml/2006/main">
              <a:ext uri="{FF2B5EF4-FFF2-40B4-BE49-F238E27FC236}">
                <a16:creationId xmlns:a16="http://schemas.microsoft.com/office/drawing/2014/main" id="{6A2EF2B8-36F1-42D0-B5D9-6D2222CC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T-04 验证</a:t>
            </a:r>
          </a:p>
        </p:txBody>
      </p:sp>
      <p:sp>
        <p:nvSpPr>
          <p:cNvPr id="9" name="覆盖成功、失败、权限和重复请求">
            <a:extLst xmlns:a="http://schemas.openxmlformats.org/drawingml/2006/main">
              <a:ext uri="{FF2B5EF4-FFF2-40B4-BE49-F238E27FC236}">
                <a16:creationId xmlns:a16="http://schemas.microsoft.com/office/drawing/2014/main" id="{A8B429FC-1D58-4F63-8870-8889EBFD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覆盖成功、失败、权限和重复请求</a:t>
            </a:r>
          </a:p>
        </p:txBody>
      </p:sp>
      <p:sp>
        <p:nvSpPr>
          <p:cNvPr id="10" name="每张任务卡都标明文件、验收标准和依赖">
            <a:extLst xmlns:a="http://schemas.openxmlformats.org/drawingml/2006/main">
              <a:ext uri="{FF2B5EF4-FFF2-40B4-BE49-F238E27FC236}">
                <a16:creationId xmlns:a16="http://schemas.microsoft.com/office/drawing/2014/main" id="{F43437C9-DE57-4C4E-B01E-59C4823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每张任务卡都标明文件、验收标准和依赖</a:t>
            </a:r>
          </a:p>
        </p:txBody>
      </p:sp>
      <p:sp>
        <p:nvSpPr>
          <p:cNvPr id="11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41015406-4F08-4802-A7CA-F97C55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2" name="20 / 46">
            <a:extLst xmlns:a="http://schemas.openxmlformats.org/drawingml/2006/main">
              <a:ext uri="{FF2B5EF4-FFF2-40B4-BE49-F238E27FC236}">
                <a16:creationId xmlns:a16="http://schemas.microsoft.com/office/drawing/2014/main" id="{CE8EE332-7099-4772-9705-BC0F5DC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20 / 46</a:t>
            </a:r>
          </a:p>
        </p:txBody>
      </p:sp>
    </p:spTree>
    <p:extLst>
      <p:ext uri="{BB962C8B-B14F-4D97-AF65-F5344CB8AC3E}">
        <p14:creationId xmlns:p14="http://schemas.microsoft.com/office/powerpoint/2010/main" val="11021495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A9F2DF0-7A8B-4412-BECC-51B9D51E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四套 Skill 在开发中的使用时机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3143250"/>
                <a:gridCol w="2276475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遇到的任务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使用的 Skill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产物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接手底座，盘点差距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blindspot-audit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现状与缺口证据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把缺口转成开发计划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requirements-matrix-generator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需求矩阵与依赖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设计并实施一项功能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spec-dev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规格、任务、验证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连续完成多项已定义任务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loop-prompt-generator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执行契约与恢复规则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372A3256-03AF-4314-AE24-8599B45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4" name="21 / 46">
            <a:extLst xmlns:a="http://schemas.openxmlformats.org/drawingml/2006/main">
              <a:ext uri="{FF2B5EF4-FFF2-40B4-BE49-F238E27FC236}">
                <a16:creationId xmlns:a16="http://schemas.microsoft.com/office/drawing/2014/main" id="{78DE81D1-C8CB-49D2-A226-AF5B2DE4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21 / 46</a:t>
            </a:r>
          </a:p>
        </p:txBody>
      </p:sp>
    </p:spTree>
    <p:extLst>
      <p:ext uri="{BB962C8B-B14F-4D97-AF65-F5344CB8AC3E}">
        <p14:creationId xmlns:p14="http://schemas.microsoft.com/office/powerpoint/2010/main" val="17307581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93376247-0902-49E6-92FD-E344C842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" name="贯通前端、后端与数据库">
            <a:extLst xmlns:a="http://schemas.openxmlformats.org/drawingml/2006/main">
              <a:ext uri="{FF2B5EF4-FFF2-40B4-BE49-F238E27FC236}">
                <a16:creationId xmlns:a16="http://schemas.microsoft.com/office/drawing/2014/main" id="{A84318FF-5694-40D5-B179-5E36AC4B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127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贯通前端、后端与数据库</a:t>
            </a:r>
          </a:p>
        </p:txBody>
      </p:sp>
      <p:sp>
        <p:nvSpPr>
          <p:cNvPr id="3" name="先完成一条报名链，再扩展页面和功能">
            <a:extLst xmlns:a="http://schemas.openxmlformats.org/drawingml/2006/main">
              <a:ext uri="{FF2B5EF4-FFF2-40B4-BE49-F238E27FC236}">
                <a16:creationId xmlns:a16="http://schemas.microsoft.com/office/drawing/2014/main" id="{3A961521-0012-4086-80E5-15422DBD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828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先完成一条报名链，再扩展页面和功能</a:t>
            </a:r>
          </a:p>
        </p:txBody>
      </p:sp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27478AF2-0D1A-4122-B814-4F2CE41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22 / 46">
            <a:extLst xmlns:a="http://schemas.openxmlformats.org/drawingml/2006/main">
              <a:ext uri="{FF2B5EF4-FFF2-40B4-BE49-F238E27FC236}">
                <a16:creationId xmlns:a16="http://schemas.microsoft.com/office/drawing/2014/main" id="{412706AE-4E89-4A32-8325-2E739EFA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22 / 46</a:t>
            </a:r>
          </a:p>
        </p:txBody>
      </p:sp>
    </p:spTree>
    <p:extLst>
      <p:ext uri="{BB962C8B-B14F-4D97-AF65-F5344CB8AC3E}">
        <p14:creationId xmlns:p14="http://schemas.microsoft.com/office/powerpoint/2010/main" val="7829762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当前 007 本地资料中的实际路径">
            <a:extLst xmlns:a="http://schemas.openxmlformats.org/drawingml/2006/main">
              <a:ext uri="{FF2B5EF4-FFF2-40B4-BE49-F238E27FC236}">
                <a16:creationId xmlns:a16="http://schemas.microsoft.com/office/drawing/2014/main" id="{2B37BF2B-49D2-403B-9BE9-5B7A8A71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当前 007 本地资料中的实际路径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F3063FA-7ED1-448A-A257-FE04E87D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底座的目录地图</a:t>
            </a:r>
          </a:p>
        </p:txBody>
      </p:sp>
      <p:sp>
        <p:nvSpPr>
          <p:cNvPr id="3" name="src/app/          页面与路由&#10;src/ac">
            <a:extLst xmlns:a="http://schemas.openxmlformats.org/drawingml/2006/main">
              <a:ext uri="{FF2B5EF4-FFF2-40B4-BE49-F238E27FC236}">
                <a16:creationId xmlns:a16="http://schemas.microsoft.com/office/drawing/2014/main" id="{D1CFE00A-E4D3-4BEE-9B39-33035B5B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src/app/          页面与路由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src/actions/      服务端动作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src/lib/          会话与通用能力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src/db/           数据模型与迁移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src/components/   共享界面组件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messages/         国际化词条</a:t>
            </a:r>
          </a:p>
        </p:txBody>
      </p:sp>
      <p:sp>
        <p:nvSpPr>
          <p:cNvPr id="4" name="先确认可复用部分">
            <a:extLst xmlns:a="http://schemas.openxmlformats.org/drawingml/2006/main">
              <a:ext uri="{FF2B5EF4-FFF2-40B4-BE49-F238E27FC236}">
                <a16:creationId xmlns:a16="http://schemas.microsoft.com/office/drawing/2014/main" id="{4A6BB01D-E206-4B9B-BB58-D5DDACA9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先确认可复用部分</a:t>
            </a:r>
          </a:p>
        </p:txBody>
      </p:sp>
      <p:sp>
        <p:nvSpPr>
          <p:cNvPr id="5" name="账户、会话、组件、数据连接">
            <a:extLst xmlns:a="http://schemas.openxmlformats.org/drawingml/2006/main">
              <a:ext uri="{FF2B5EF4-FFF2-40B4-BE49-F238E27FC236}">
                <a16:creationId xmlns:a16="http://schemas.microsoft.com/office/drawing/2014/main" id="{C3799BD3-AF6A-453F-B04C-69868F4C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账户、会话、组件、数据连接</a:t>
            </a:r>
          </a:p>
        </p:txBody>
      </p:sp>
      <p:sp>
        <p:nvSpPr>
          <p:cNvPr id="6" name="再登记新增部分">
            <a:extLst xmlns:a="http://schemas.openxmlformats.org/drawingml/2006/main">
              <a:ext uri="{FF2B5EF4-FFF2-40B4-BE49-F238E27FC236}">
                <a16:creationId xmlns:a16="http://schemas.microsoft.com/office/drawing/2014/main" id="{8C8A7413-7668-4B13-AAF7-FF785DE4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再登记新增部分</a:t>
            </a:r>
          </a:p>
        </p:txBody>
      </p:sp>
      <p:sp>
        <p:nvSpPr>
          <p:cNvPr id="7" name="课程、报名和管理页面">
            <a:extLst xmlns:a="http://schemas.openxmlformats.org/drawingml/2006/main">
              <a:ext uri="{FF2B5EF4-FFF2-40B4-BE49-F238E27FC236}">
                <a16:creationId xmlns:a16="http://schemas.microsoft.com/office/drawing/2014/main" id="{25F41971-20FE-47FD-BA3D-AB51C295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课程、报名和管理页面</a:t>
            </a:r>
          </a:p>
        </p:txBody>
      </p:sp>
      <p:sp>
        <p:nvSpPr>
          <p:cNvPr id="8" name="模板提供通用能力，业务仍需按自己的规格实现">
            <a:extLst xmlns:a="http://schemas.openxmlformats.org/drawingml/2006/main">
              <a:ext uri="{FF2B5EF4-FFF2-40B4-BE49-F238E27FC236}">
                <a16:creationId xmlns:a16="http://schemas.microsoft.com/office/drawing/2014/main" id="{A1FC6AF8-E842-4405-8442-118FA4F6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模板提供通用能力，业务仍需按自己的规格实现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8288FD55-DF7F-4CE2-9C12-97959E61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23 / 46">
            <a:extLst xmlns:a="http://schemas.openxmlformats.org/drawingml/2006/main">
              <a:ext uri="{FF2B5EF4-FFF2-40B4-BE49-F238E27FC236}">
                <a16:creationId xmlns:a16="http://schemas.microsoft.com/office/drawing/2014/main" id="{CA432604-0773-4651-8E8A-57A6CF56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23 / 46</a:t>
            </a:r>
          </a:p>
        </p:txBody>
      </p:sp>
    </p:spTree>
    <p:extLst>
      <p:ext uri="{BB962C8B-B14F-4D97-AF65-F5344CB8AC3E}">
        <p14:creationId xmlns:p14="http://schemas.microsoft.com/office/powerpoint/2010/main" val="1230539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针对已合法取得的底座或自有工程">
            <a:extLst xmlns:a="http://schemas.openxmlformats.org/drawingml/2006/main">
              <a:ext uri="{FF2B5EF4-FFF2-40B4-BE49-F238E27FC236}">
                <a16:creationId xmlns:a16="http://schemas.microsoft.com/office/drawing/2014/main" id="{195AF674-2BEC-40B9-B4DA-433A6B1B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针对已合法取得的底座或自有工程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75B8060-54E4-4B8B-B1B4-0DD2F6E8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本地开发的启动基线</a:t>
            </a:r>
          </a:p>
        </p:txBody>
      </p:sp>
      <p:sp>
        <p:nvSpPr>
          <p:cNvPr id="3" name="cd template&#10;cp env.example .en">
            <a:extLst xmlns:a="http://schemas.openxmlformats.org/drawingml/2006/main">
              <a:ext uri="{FF2B5EF4-FFF2-40B4-BE49-F238E27FC236}">
                <a16:creationId xmlns:a16="http://schemas.microsoft.com/office/drawing/2014/main" id="{2A68D69A-35E9-4A12-B4FD-73AB343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cd template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cp env.example .env.local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pnpm install --frozen-lockfile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# 填写开发环境配置并准备数据库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pnpm dev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pnpm gate:check</a:t>
            </a:r>
          </a:p>
        </p:txBody>
      </p:sp>
      <p:sp>
        <p:nvSpPr>
          <p:cNvPr id="4" name="先验证底座">
            <a:extLst xmlns:a="http://schemas.openxmlformats.org/drawingml/2006/main">
              <a:ext uri="{FF2B5EF4-FFF2-40B4-BE49-F238E27FC236}">
                <a16:creationId xmlns:a16="http://schemas.microsoft.com/office/drawing/2014/main" id="{A6512EC2-A2ED-4BE4-A605-A95C5445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先验证底座</a:t>
            </a:r>
          </a:p>
        </p:txBody>
      </p:sp>
      <p:sp>
        <p:nvSpPr>
          <p:cNvPr id="5" name="记录启动结果和已有问题">
            <a:extLst xmlns:a="http://schemas.openxmlformats.org/drawingml/2006/main">
              <a:ext uri="{FF2B5EF4-FFF2-40B4-BE49-F238E27FC236}">
                <a16:creationId xmlns:a16="http://schemas.microsoft.com/office/drawing/2014/main" id="{E60A43F2-3B52-4C47-BEBB-72F1C305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记录启动结果和已有问题</a:t>
            </a:r>
          </a:p>
        </p:txBody>
      </p:sp>
      <p:sp>
        <p:nvSpPr>
          <p:cNvPr id="6" name="再开始业务改动">
            <a:extLst xmlns:a="http://schemas.openxmlformats.org/drawingml/2006/main">
              <a:ext uri="{FF2B5EF4-FFF2-40B4-BE49-F238E27FC236}">
                <a16:creationId xmlns:a16="http://schemas.microsoft.com/office/drawing/2014/main" id="{121A8F69-90A6-4E9B-A409-34392933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再开始业务改动</a:t>
            </a:r>
          </a:p>
        </p:txBody>
      </p:sp>
      <p:sp>
        <p:nvSpPr>
          <p:cNvPr id="7" name="保存基线，区分新旧问题">
            <a:extLst xmlns:a="http://schemas.openxmlformats.org/drawingml/2006/main">
              <a:ext uri="{FF2B5EF4-FFF2-40B4-BE49-F238E27FC236}">
                <a16:creationId xmlns:a16="http://schemas.microsoft.com/office/drawing/2014/main" id="{9436A269-882B-4277-81D9-3C2B1004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保存基线，区分新旧问题</a:t>
            </a:r>
          </a:p>
        </p:txBody>
      </p:sp>
      <p:sp>
        <p:nvSpPr>
          <p:cNvPr id="8" name="页面打开、账户可用、数据库可连，基线才清楚">
            <a:extLst xmlns:a="http://schemas.openxmlformats.org/drawingml/2006/main">
              <a:ext uri="{FF2B5EF4-FFF2-40B4-BE49-F238E27FC236}">
                <a16:creationId xmlns:a16="http://schemas.microsoft.com/office/drawing/2014/main" id="{01A3E6E7-4E06-4CCF-B4E9-495D5A6E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页面打开、账户可用、数据库可连，基线才清楚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07EF7CEA-F085-4BBD-B243-19E059E7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24 / 46">
            <a:extLst xmlns:a="http://schemas.openxmlformats.org/drawingml/2006/main">
              <a:ext uri="{FF2B5EF4-FFF2-40B4-BE49-F238E27FC236}">
                <a16:creationId xmlns:a16="http://schemas.microsoft.com/office/drawing/2014/main" id="{A356B4FE-4CB2-489E-A087-770CF0EE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24 / 46</a:t>
            </a:r>
          </a:p>
        </p:txBody>
      </p:sp>
    </p:spTree>
    <p:extLst>
      <p:ext uri="{BB962C8B-B14F-4D97-AF65-F5344CB8AC3E}">
        <p14:creationId xmlns:p14="http://schemas.microsoft.com/office/powerpoint/2010/main" val="11643028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6D3E100-2334-4456-938F-4E0A726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环境配置与数据库迁移</a:t>
            </a:r>
          </a:p>
        </p:txBody>
      </p:sp>
      <p:sp>
        <p:nvSpPr>
          <p:cNvPr id="2" name="开发环境">
            <a:extLst xmlns:a="http://schemas.openxmlformats.org/drawingml/2006/main">
              <a:ext uri="{FF2B5EF4-FFF2-40B4-BE49-F238E27FC236}">
                <a16:creationId xmlns:a16="http://schemas.microsoft.com/office/drawing/2014/main" id="{74C53E12-0D0E-4B7C-9BAA-322FC7A5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开发环境</a:t>
            </a:r>
          </a:p>
        </p:txBody>
      </p:sp>
      <p:sp>
        <p:nvSpPr>
          <p:cNvPr id="3" name="使用独立数据库和测试服务配置">
            <a:extLst xmlns:a="http://schemas.openxmlformats.org/drawingml/2006/main">
              <a:ext uri="{FF2B5EF4-FFF2-40B4-BE49-F238E27FC236}">
                <a16:creationId xmlns:a16="http://schemas.microsoft.com/office/drawing/2014/main" id="{B459AA01-EDA3-4693-9E4F-1232E588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382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使用独立数据库和测试服务配置</a:t>
            </a:r>
          </a:p>
        </p:txBody>
      </p:sp>
      <p:sp>
        <p:nvSpPr>
          <p:cNvPr id="4" name="迁移文件">
            <a:extLst xmlns:a="http://schemas.openxmlformats.org/drawingml/2006/main">
              <a:ext uri="{FF2B5EF4-FFF2-40B4-BE49-F238E27FC236}">
                <a16:creationId xmlns:a16="http://schemas.microsoft.com/office/drawing/2014/main" id="{AFA2012A-DF95-482B-AA21-4FCD0354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迁移文件</a:t>
            </a:r>
          </a:p>
        </p:txBody>
      </p:sp>
      <p:sp>
        <p:nvSpPr>
          <p:cNvPr id="5" name="新增实体后生成迁移并审查 SQL">
            <a:extLst xmlns:a="http://schemas.openxmlformats.org/drawingml/2006/main">
              <a:ext uri="{FF2B5EF4-FFF2-40B4-BE49-F238E27FC236}">
                <a16:creationId xmlns:a16="http://schemas.microsoft.com/office/drawing/2014/main" id="{77025334-10D0-4370-B04A-A6C266D5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050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新增实体后生成迁移并审查 SQL</a:t>
            </a:r>
          </a:p>
        </p:txBody>
      </p:sp>
      <p:sp>
        <p:nvSpPr>
          <p:cNvPr id="6" name="应用迁移">
            <a:extLst xmlns:a="http://schemas.openxmlformats.org/drawingml/2006/main">
              <a:ext uri="{FF2B5EF4-FFF2-40B4-BE49-F238E27FC236}">
                <a16:creationId xmlns:a16="http://schemas.microsoft.com/office/drawing/2014/main" id="{24F29F5D-6E95-4845-8996-461C26EB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应用迁移</a:t>
            </a:r>
          </a:p>
        </p:txBody>
      </p:sp>
      <p:sp>
        <p:nvSpPr>
          <p:cNvPr id="7" name="确认目标环境，再执行相应迁移">
            <a:extLst xmlns:a="http://schemas.openxmlformats.org/drawingml/2006/main">
              <a:ext uri="{FF2B5EF4-FFF2-40B4-BE49-F238E27FC236}">
                <a16:creationId xmlns:a16="http://schemas.microsoft.com/office/drawing/2014/main" id="{FC0993BF-595D-4579-A081-9417D0B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确认目标环境，再执行相应迁移</a:t>
            </a:r>
          </a:p>
        </p:txBody>
      </p:sp>
      <p:sp>
        <p:nvSpPr>
          <p:cNvPr id="8" name="恢复准备">
            <a:extLst xmlns:a="http://schemas.openxmlformats.org/drawingml/2006/main">
              <a:ext uri="{FF2B5EF4-FFF2-40B4-BE49-F238E27FC236}">
                <a16:creationId xmlns:a16="http://schemas.microsoft.com/office/drawing/2014/main" id="{45DBE7D5-6367-4C28-B5FD-B85A591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恢复准备</a:t>
            </a:r>
          </a:p>
        </p:txBody>
      </p:sp>
      <p:sp>
        <p:nvSpPr>
          <p:cNvPr id="9" name="记录版本、影响和数据恢复方式">
            <a:extLst xmlns:a="http://schemas.openxmlformats.org/drawingml/2006/main">
              <a:ext uri="{FF2B5EF4-FFF2-40B4-BE49-F238E27FC236}">
                <a16:creationId xmlns:a16="http://schemas.microsoft.com/office/drawing/2014/main" id="{D8556FDF-76F3-4D2A-A5F9-EA9A34A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记录版本、影响和数据恢复方式</a:t>
            </a:r>
          </a:p>
        </p:txBody>
      </p:sp>
      <p:sp>
        <p:nvSpPr>
          <p:cNvPr id="10" name="数据库结构变化需要独立审查，不能只看页面效果">
            <a:extLst xmlns:a="http://schemas.openxmlformats.org/drawingml/2006/main">
              <a:ext uri="{FF2B5EF4-FFF2-40B4-BE49-F238E27FC236}">
                <a16:creationId xmlns:a16="http://schemas.microsoft.com/office/drawing/2014/main" id="{FE72D8A7-CB46-41E5-BCA3-87540C0E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数据库结构变化需要独立审查，不能只看页面效果</a:t>
            </a:r>
          </a:p>
        </p:txBody>
      </p:sp>
      <p:sp>
        <p:nvSpPr>
          <p:cNvPr id="11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9A82A6B9-A8AB-4A88-B6EB-10D1CDB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2" name="25 / 46">
            <a:extLst xmlns:a="http://schemas.openxmlformats.org/drawingml/2006/main">
              <a:ext uri="{FF2B5EF4-FFF2-40B4-BE49-F238E27FC236}">
                <a16:creationId xmlns:a16="http://schemas.microsoft.com/office/drawing/2014/main" id="{C7C41532-B90A-4ADC-9403-00B31DDF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25 / 46</a:t>
            </a:r>
          </a:p>
        </p:txBody>
      </p:sp>
    </p:spTree>
    <p:extLst>
      <p:ext uri="{BB962C8B-B14F-4D97-AF65-F5344CB8AC3E}">
        <p14:creationId xmlns:p14="http://schemas.microsoft.com/office/powerpoint/2010/main" val="9494509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F38190A-0138-46B7-BC36-602A937D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第一个贯通的业务功能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FC08049E-998D-4D5D-9E03-58498C6C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页面输入">
            <a:extLst xmlns:a="http://schemas.openxmlformats.org/drawingml/2006/main">
              <a:ext uri="{FF2B5EF4-FFF2-40B4-BE49-F238E27FC236}">
                <a16:creationId xmlns:a16="http://schemas.microsoft.com/office/drawing/2014/main" id="{47DE92B3-5A6A-4B25-827D-8D8A175B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页面输入</a:t>
            </a:r>
          </a:p>
        </p:txBody>
      </p:sp>
      <p:sp>
        <p:nvSpPr>
          <p:cNvPr id="4" name="提交课程 ID">
            <a:extLst xmlns:a="http://schemas.openxmlformats.org/drawingml/2006/main">
              <a:ext uri="{FF2B5EF4-FFF2-40B4-BE49-F238E27FC236}">
                <a16:creationId xmlns:a16="http://schemas.microsoft.com/office/drawing/2014/main" id="{33C97AFF-B0AB-4360-A6DA-EFCBFC98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提交课程 ID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A8F6285-C9EB-42E5-8FD7-17AF67A1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服务端校验">
            <a:extLst xmlns:a="http://schemas.openxmlformats.org/drawingml/2006/main">
              <a:ext uri="{FF2B5EF4-FFF2-40B4-BE49-F238E27FC236}">
                <a16:creationId xmlns:a16="http://schemas.microsoft.com/office/drawing/2014/main" id="{D9ED9A80-9D72-44AE-8B85-737B5D1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服务端校验</a:t>
            </a:r>
          </a:p>
        </p:txBody>
      </p:sp>
      <p:sp>
        <p:nvSpPr>
          <p:cNvPr id="7" name="确认会话与课程状态">
            <a:extLst xmlns:a="http://schemas.openxmlformats.org/drawingml/2006/main">
              <a:ext uri="{FF2B5EF4-FFF2-40B4-BE49-F238E27FC236}">
                <a16:creationId xmlns:a16="http://schemas.microsoft.com/office/drawing/2014/main" id="{2020662A-7196-4417-BA32-9F35D757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确认会话与课程状态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6AA22B4E-8B1F-4D5E-B659-BF5FF29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数据库写入">
            <a:extLst xmlns:a="http://schemas.openxmlformats.org/drawingml/2006/main">
              <a:ext uri="{FF2B5EF4-FFF2-40B4-BE49-F238E27FC236}">
                <a16:creationId xmlns:a16="http://schemas.microsoft.com/office/drawing/2014/main" id="{9ACF0886-1153-4AFA-8657-FF06693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数据库写入</a:t>
            </a:r>
          </a:p>
        </p:txBody>
      </p:sp>
      <p:sp>
        <p:nvSpPr>
          <p:cNvPr id="10" name="唯一约束防止重复">
            <a:extLst xmlns:a="http://schemas.openxmlformats.org/drawingml/2006/main">
              <a:ext uri="{FF2B5EF4-FFF2-40B4-BE49-F238E27FC236}">
                <a16:creationId xmlns:a16="http://schemas.microsoft.com/office/drawing/2014/main" id="{0973C777-E6EA-4A31-8060-01E0DEE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唯一约束防止重复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2902F30C-5D57-45DF-A7BB-7E1372C9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2" name="重新查询">
            <a:extLst xmlns:a="http://schemas.openxmlformats.org/drawingml/2006/main">
              <a:ext uri="{FF2B5EF4-FFF2-40B4-BE49-F238E27FC236}">
                <a16:creationId xmlns:a16="http://schemas.microsoft.com/office/drawing/2014/main" id="{F0721C7B-6F7C-4B9A-8BBB-48C9D939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重新查询</a:t>
            </a:r>
          </a:p>
        </p:txBody>
      </p:sp>
      <p:sp>
        <p:nvSpPr>
          <p:cNvPr id="13" name="显示真实报名记录">
            <a:extLst xmlns:a="http://schemas.openxmlformats.org/drawingml/2006/main">
              <a:ext uri="{FF2B5EF4-FFF2-40B4-BE49-F238E27FC236}">
                <a16:creationId xmlns:a16="http://schemas.microsoft.com/office/drawing/2014/main" id="{3AADE9B7-58E1-4350-B24F-5A45F547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显示真实报名记录</a:t>
            </a:r>
          </a:p>
        </p:txBody>
      </p:sp>
      <p:sp>
        <p:nvSpPr>
          <p:cNvPr id="14" name="同一条验收标准贯穿四个位置">
            <a:extLst xmlns:a="http://schemas.openxmlformats.org/drawingml/2006/main">
              <a:ext uri="{FF2B5EF4-FFF2-40B4-BE49-F238E27FC236}">
                <a16:creationId xmlns:a16="http://schemas.microsoft.com/office/drawing/2014/main" id="{066503CC-EB1C-47BC-89DC-CF55D22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同一条验收标准贯穿四个位置</a:t>
            </a:r>
          </a:p>
        </p:txBody>
      </p:sp>
      <p:sp>
        <p:nvSpPr>
          <p:cNvPr id="15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0D7537F8-1729-42C0-8023-920779D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6" name="26 / 46">
            <a:extLst xmlns:a="http://schemas.openxmlformats.org/drawingml/2006/main">
              <a:ext uri="{FF2B5EF4-FFF2-40B4-BE49-F238E27FC236}">
                <a16:creationId xmlns:a16="http://schemas.microsoft.com/office/drawing/2014/main" id="{0E47D58D-6918-421C-8CC1-41204672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26 / 46</a:t>
            </a:r>
          </a:p>
        </p:txBody>
      </p:sp>
    </p:spTree>
    <p:extLst>
      <p:ext uri="{BB962C8B-B14F-4D97-AF65-F5344CB8AC3E}">
        <p14:creationId xmlns:p14="http://schemas.microsoft.com/office/powerpoint/2010/main" val="19474058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E9E4B70-8632-4FFF-99BA-23048B79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数据库实现的检查点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762250"/>
                <a:gridCol w="2895600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设计决定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实现位置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验收方式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课程有发布状态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course 模型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草稿不可报名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用户与课程组合唯一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enrollment 唯一约束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并发重复只保留一条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关系有效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外键与查询条件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无效课程无法写入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迁移可应用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迁移 SQL 与版本记录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开发库迁移后可读写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5C595134-5B21-4CF8-9023-38D6D12D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4" name="27 / 46">
            <a:extLst xmlns:a="http://schemas.openxmlformats.org/drawingml/2006/main">
              <a:ext uri="{FF2B5EF4-FFF2-40B4-BE49-F238E27FC236}">
                <a16:creationId xmlns:a16="http://schemas.microsoft.com/office/drawing/2014/main" id="{C8B2A093-328A-4743-B2F6-629D7286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27 / 46</a:t>
            </a:r>
          </a:p>
        </p:txBody>
      </p:sp>
    </p:spTree>
    <p:extLst>
      <p:ext uri="{BB962C8B-B14F-4D97-AF65-F5344CB8AC3E}">
        <p14:creationId xmlns:p14="http://schemas.microsoft.com/office/powerpoint/2010/main" val="210439613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教学伪代码  展示执行顺序">
            <a:extLst xmlns:a="http://schemas.openxmlformats.org/drawingml/2006/main">
              <a:ext uri="{FF2B5EF4-FFF2-40B4-BE49-F238E27FC236}">
                <a16:creationId xmlns:a16="http://schemas.microsoft.com/office/drawing/2014/main" id="{B726A36A-7C4E-4D9F-853B-1E2B5747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教学伪代码  展示执行顺序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DCB39F5-D8C8-4950-9AE7-139DB810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服务端报名逻辑</a:t>
            </a:r>
          </a:p>
        </p:txBody>
      </p:sp>
      <p:sp>
        <p:nvSpPr>
          <p:cNvPr id="3" name="user = requireSession()&#10;input ">
            <a:extLst xmlns:a="http://schemas.openxmlformats.org/drawingml/2006/main">
              <a:ext uri="{FF2B5EF4-FFF2-40B4-BE49-F238E27FC236}">
                <a16:creationId xmlns:a16="http://schemas.microsoft.com/office/drawing/2014/main" id="{F29D427B-AB20-4E3C-84E4-E231466B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user = requireSession()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input = validate(courseId)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course = requirePublishedCourse(input)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result = enrollOnce(user.id, course.id)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return enrollmentResult(result)</a:t>
            </a:r>
          </a:p>
        </p:txBody>
      </p:sp>
      <p:sp>
        <p:nvSpPr>
          <p:cNvPr id="4" name="身份可信">
            <a:extLst xmlns:a="http://schemas.openxmlformats.org/drawingml/2006/main">
              <a:ext uri="{FF2B5EF4-FFF2-40B4-BE49-F238E27FC236}">
                <a16:creationId xmlns:a16="http://schemas.microsoft.com/office/drawing/2014/main" id="{ADC1EF41-333D-4ED4-869F-5A7F1D00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身份可信</a:t>
            </a:r>
          </a:p>
        </p:txBody>
      </p:sp>
      <p:sp>
        <p:nvSpPr>
          <p:cNvPr id="5" name="userId 来自服务端会话">
            <a:extLst xmlns:a="http://schemas.openxmlformats.org/drawingml/2006/main">
              <a:ext uri="{FF2B5EF4-FFF2-40B4-BE49-F238E27FC236}">
                <a16:creationId xmlns:a16="http://schemas.microsoft.com/office/drawing/2014/main" id="{B5BA3C75-15EE-4AF7-B226-30CE9131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userId 来自服务端会话</a:t>
            </a:r>
          </a:p>
        </p:txBody>
      </p:sp>
      <p:sp>
        <p:nvSpPr>
          <p:cNvPr id="6" name="结果可信">
            <a:extLst xmlns:a="http://schemas.openxmlformats.org/drawingml/2006/main">
              <a:ext uri="{FF2B5EF4-FFF2-40B4-BE49-F238E27FC236}">
                <a16:creationId xmlns:a16="http://schemas.microsoft.com/office/drawing/2014/main" id="{96FF9620-FB37-469D-A721-9B274DA8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结果可信</a:t>
            </a:r>
          </a:p>
        </p:txBody>
      </p:sp>
      <p:sp>
        <p:nvSpPr>
          <p:cNvPr id="7" name="保存失败应明确返回失败">
            <a:extLst xmlns:a="http://schemas.openxmlformats.org/drawingml/2006/main">
              <a:ext uri="{FF2B5EF4-FFF2-40B4-BE49-F238E27FC236}">
                <a16:creationId xmlns:a16="http://schemas.microsoft.com/office/drawing/2014/main" id="{A34BFD4E-A4E1-4AC6-A5B8-A8B0921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保存失败应明确返回失败</a:t>
            </a:r>
          </a:p>
        </p:txBody>
      </p:sp>
      <p:sp>
        <p:nvSpPr>
          <p:cNvPr id="8" name="参数校验、身份校验和业务校验，分别负责不同问题">
            <a:extLst xmlns:a="http://schemas.openxmlformats.org/drawingml/2006/main">
              <a:ext uri="{FF2B5EF4-FFF2-40B4-BE49-F238E27FC236}">
                <a16:creationId xmlns:a16="http://schemas.microsoft.com/office/drawing/2014/main" id="{3AED512C-D7DC-401B-BFBE-F549E0DF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参数校验、身份校验和业务校验，分别负责不同问题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42775884-180E-48B4-9FB1-459D592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28 / 46">
            <a:extLst xmlns:a="http://schemas.openxmlformats.org/drawingml/2006/main">
              <a:ext uri="{FF2B5EF4-FFF2-40B4-BE49-F238E27FC236}">
                <a16:creationId xmlns:a16="http://schemas.microsoft.com/office/drawing/2014/main" id="{25EC99E4-761A-45F8-BEB0-321AC095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28 / 46</a:t>
            </a:r>
          </a:p>
        </p:txBody>
      </p:sp>
    </p:spTree>
    <p:extLst>
      <p:ext uri="{BB962C8B-B14F-4D97-AF65-F5344CB8AC3E}">
        <p14:creationId xmlns:p14="http://schemas.microsoft.com/office/powerpoint/2010/main" val="13305975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DE28CDC-AA40-4815-8D73-5D964BE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前端接入的状态设计</a:t>
            </a:r>
          </a:p>
        </p:txBody>
      </p:sp>
      <p:sp>
        <p:nvSpPr>
          <p:cNvPr id="2" name="可提交">
            <a:extLst xmlns:a="http://schemas.openxmlformats.org/drawingml/2006/main">
              <a:ext uri="{FF2B5EF4-FFF2-40B4-BE49-F238E27FC236}">
                <a16:creationId xmlns:a16="http://schemas.microsoft.com/office/drawing/2014/main" id="{83820251-F3AB-4A07-9B8C-49EC19C5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可提交</a:t>
            </a:r>
          </a:p>
        </p:txBody>
      </p:sp>
      <p:sp>
        <p:nvSpPr>
          <p:cNvPr id="3" name="显示课程与报名条件&#10;按钮状态明确&#10;登录后继续操作">
            <a:extLst xmlns:a="http://schemas.openxmlformats.org/drawingml/2006/main">
              <a:ext uri="{FF2B5EF4-FFF2-40B4-BE49-F238E27FC236}">
                <a16:creationId xmlns:a16="http://schemas.microsoft.com/office/drawing/2014/main" id="{AE69B5C6-49BB-4E2A-B750-2D7A72B0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显示课程与报名条件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按钮状态明确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登录后继续操作</a:t>
            </a:r>
          </a:p>
        </p:txBody>
      </p:sp>
      <p:sp>
        <p:nvSpPr>
          <p:cNvPr id="4" name="提交中">
            <a:extLst xmlns:a="http://schemas.openxmlformats.org/drawingml/2006/main">
              <a:ext uri="{FF2B5EF4-FFF2-40B4-BE49-F238E27FC236}">
                <a16:creationId xmlns:a16="http://schemas.microsoft.com/office/drawing/2014/main" id="{7CB96C80-A1C9-4DA8-A86E-2D346CC6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提交中</a:t>
            </a:r>
          </a:p>
        </p:txBody>
      </p:sp>
      <p:sp>
        <p:nvSpPr>
          <p:cNvPr id="5" name="防止重复触发&#10;保留用户操作上下文&#10;等待真实返回结果">
            <a:extLst xmlns:a="http://schemas.openxmlformats.org/drawingml/2006/main">
              <a:ext uri="{FF2B5EF4-FFF2-40B4-BE49-F238E27FC236}">
                <a16:creationId xmlns:a16="http://schemas.microsoft.com/office/drawing/2014/main" id="{106FDC92-1E5E-463A-9829-56155EE0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防止重复触发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保留用户操作上下文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等待真实返回结果</a:t>
            </a:r>
          </a:p>
        </p:txBody>
      </p:sp>
      <p:sp>
        <p:nvSpPr>
          <p:cNvPr id="6" name="结果反馈">
            <a:extLst xmlns:a="http://schemas.openxmlformats.org/drawingml/2006/main">
              <a:ext uri="{FF2B5EF4-FFF2-40B4-BE49-F238E27FC236}">
                <a16:creationId xmlns:a16="http://schemas.microsoft.com/office/drawing/2014/main" id="{4657A6FE-2BD0-4A7A-851C-8894BF5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rPr>
              <a:t>结果反馈</a:t>
            </a:r>
          </a:p>
        </p:txBody>
      </p:sp>
      <p:sp>
        <p:nvSpPr>
          <p:cNvPr id="7" name="成功后显示报名记录&#10;失败给出可操作提示&#10;允许重试或重新登录">
            <a:extLst xmlns:a="http://schemas.openxmlformats.org/drawingml/2006/main">
              <a:ext uri="{FF2B5EF4-FFF2-40B4-BE49-F238E27FC236}">
                <a16:creationId xmlns:a16="http://schemas.microsoft.com/office/drawing/2014/main" id="{50C4D274-0955-4800-A526-8CC123B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成功后显示报名记录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失败给出可操作提示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允许重试或重新登录</a:t>
            </a:r>
          </a:p>
        </p:txBody>
      </p:sp>
      <p:sp>
        <p:nvSpPr>
          <p:cNvPr id="8" name="服务端防重复仍然必要，禁用按钮只是交互措施">
            <a:extLst xmlns:a="http://schemas.openxmlformats.org/drawingml/2006/main">
              <a:ext uri="{FF2B5EF4-FFF2-40B4-BE49-F238E27FC236}">
                <a16:creationId xmlns:a16="http://schemas.microsoft.com/office/drawing/2014/main" id="{EFA67B37-F994-4A9A-AB41-5573E7A5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服务端防重复仍然必要，禁用按钮只是交互措施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10A8C1E6-B7DF-4328-AFF7-96645110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29 / 46">
            <a:extLst xmlns:a="http://schemas.openxmlformats.org/drawingml/2006/main">
              <a:ext uri="{FF2B5EF4-FFF2-40B4-BE49-F238E27FC236}">
                <a16:creationId xmlns:a16="http://schemas.microsoft.com/office/drawing/2014/main" id="{D92661BC-E91D-4F26-BF1C-ED3C4C32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29 / 46</a:t>
            </a:r>
          </a:p>
        </p:txBody>
      </p:sp>
    </p:spTree>
    <p:extLst>
      <p:ext uri="{BB962C8B-B14F-4D97-AF65-F5344CB8AC3E}">
        <p14:creationId xmlns:p14="http://schemas.microsoft.com/office/powerpoint/2010/main" val="21306308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7BB3BFA-3485-409D-8D3F-967F4656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“我的报名”页面的数据边界</a:t>
            </a:r>
          </a:p>
        </p:txBody>
      </p:sp>
      <p:sp>
        <p:nvSpPr>
          <p:cNvPr id="2" name="查询身份">
            <a:extLst xmlns:a="http://schemas.openxmlformats.org/drawingml/2006/main">
              <a:ext uri="{FF2B5EF4-FFF2-40B4-BE49-F238E27FC236}">
                <a16:creationId xmlns:a16="http://schemas.microsoft.com/office/drawing/2014/main" id="{4F170751-E746-48E3-9B8C-90593DB4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查询身份</a:t>
            </a:r>
          </a:p>
        </p:txBody>
      </p:sp>
      <p:sp>
        <p:nvSpPr>
          <p:cNvPr id="3" name="服务端从当前会话取得用户">
            <a:extLst xmlns:a="http://schemas.openxmlformats.org/drawingml/2006/main">
              <a:ext uri="{FF2B5EF4-FFF2-40B4-BE49-F238E27FC236}">
                <a16:creationId xmlns:a16="http://schemas.microsoft.com/office/drawing/2014/main" id="{8936C687-E17A-4C6E-8C86-B0DBFEF7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382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服务端从当前会话取得用户</a:t>
            </a:r>
          </a:p>
        </p:txBody>
      </p:sp>
      <p:sp>
        <p:nvSpPr>
          <p:cNvPr id="4" name="过滤范围">
            <a:extLst xmlns:a="http://schemas.openxmlformats.org/drawingml/2006/main">
              <a:ext uri="{FF2B5EF4-FFF2-40B4-BE49-F238E27FC236}">
                <a16:creationId xmlns:a16="http://schemas.microsoft.com/office/drawing/2014/main" id="{CE62653D-0B85-4E5D-BC2A-E7A29CF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过滤范围</a:t>
            </a:r>
          </a:p>
        </p:txBody>
      </p:sp>
      <p:sp>
        <p:nvSpPr>
          <p:cNvPr id="5" name="查询条件包含当前用户 ID">
            <a:extLst xmlns:a="http://schemas.openxmlformats.org/drawingml/2006/main">
              <a:ext uri="{FF2B5EF4-FFF2-40B4-BE49-F238E27FC236}">
                <a16:creationId xmlns:a16="http://schemas.microsoft.com/office/drawing/2014/main" id="{1DFB40AC-915F-4235-B467-6C4D062A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050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查询条件包含当前用户 ID</a:t>
            </a:r>
          </a:p>
        </p:txBody>
      </p:sp>
      <p:sp>
        <p:nvSpPr>
          <p:cNvPr id="6" name="返回内容">
            <a:extLst xmlns:a="http://schemas.openxmlformats.org/drawingml/2006/main">
              <a:ext uri="{FF2B5EF4-FFF2-40B4-BE49-F238E27FC236}">
                <a16:creationId xmlns:a16="http://schemas.microsoft.com/office/drawing/2014/main" id="{80EC43F1-D425-486E-A25C-3E680DE5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返回内容</a:t>
            </a:r>
          </a:p>
        </p:txBody>
      </p:sp>
      <p:sp>
        <p:nvSpPr>
          <p:cNvPr id="7" name="只返回页面需要的字段">
            <a:extLst xmlns:a="http://schemas.openxmlformats.org/drawingml/2006/main">
              <a:ext uri="{FF2B5EF4-FFF2-40B4-BE49-F238E27FC236}">
                <a16:creationId xmlns:a16="http://schemas.microsoft.com/office/drawing/2014/main" id="{2960EE0A-ECD1-4707-A923-189658DB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只返回页面需要的字段</a:t>
            </a:r>
          </a:p>
        </p:txBody>
      </p:sp>
      <p:sp>
        <p:nvSpPr>
          <p:cNvPr id="8" name="验证方法">
            <a:extLst xmlns:a="http://schemas.openxmlformats.org/drawingml/2006/main">
              <a:ext uri="{FF2B5EF4-FFF2-40B4-BE49-F238E27FC236}">
                <a16:creationId xmlns:a16="http://schemas.microsoft.com/office/drawing/2014/main" id="{14CD6996-0753-4162-ABD3-E64CDF73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验证方法</a:t>
            </a:r>
          </a:p>
        </p:txBody>
      </p:sp>
      <p:sp>
        <p:nvSpPr>
          <p:cNvPr id="9" name="换一个账户，不能读到别人的记录">
            <a:extLst xmlns:a="http://schemas.openxmlformats.org/drawingml/2006/main">
              <a:ext uri="{FF2B5EF4-FFF2-40B4-BE49-F238E27FC236}">
                <a16:creationId xmlns:a16="http://schemas.microsoft.com/office/drawing/2014/main" id="{89A7FE9E-FF77-4D1E-A785-1482CE0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换一个账户，不能读到别人的记录</a:t>
            </a:r>
          </a:p>
        </p:txBody>
      </p:sp>
      <p:sp>
        <p:nvSpPr>
          <p:cNvPr id="10" name="页面隐藏和路由保护之外，还要检查数据访问范围">
            <a:extLst xmlns:a="http://schemas.openxmlformats.org/drawingml/2006/main">
              <a:ext uri="{FF2B5EF4-FFF2-40B4-BE49-F238E27FC236}">
                <a16:creationId xmlns:a16="http://schemas.microsoft.com/office/drawing/2014/main" id="{0C417D77-DF22-4119-930C-AA7B8174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页面隐藏和路由保护之外，还要检查数据访问范围</a:t>
            </a:r>
          </a:p>
        </p:txBody>
      </p:sp>
      <p:sp>
        <p:nvSpPr>
          <p:cNvPr id="11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AA5011B5-8BD1-47F9-9236-D965069E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2" name="30 / 46">
            <a:extLst xmlns:a="http://schemas.openxmlformats.org/drawingml/2006/main">
              <a:ext uri="{FF2B5EF4-FFF2-40B4-BE49-F238E27FC236}">
                <a16:creationId xmlns:a16="http://schemas.microsoft.com/office/drawing/2014/main" id="{CDC13FAC-DA72-4FA9-9856-E4FA5DD3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30 / 46</a:t>
            </a:r>
          </a:p>
        </p:txBody>
      </p:sp>
    </p:spTree>
    <p:extLst>
      <p:ext uri="{BB962C8B-B14F-4D97-AF65-F5344CB8AC3E}">
        <p14:creationId xmlns:p14="http://schemas.microsoft.com/office/powerpoint/2010/main" val="2935383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86A848A-5ED2-46C9-A835-42039D81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管理员发布课程</a:t>
            </a:r>
          </a:p>
        </p:txBody>
      </p:sp>
      <p:sp>
        <p:nvSpPr>
          <p:cNvPr id="2" name="入口">
            <a:extLst xmlns:a="http://schemas.openxmlformats.org/drawingml/2006/main">
              <a:ext uri="{FF2B5EF4-FFF2-40B4-BE49-F238E27FC236}">
                <a16:creationId xmlns:a16="http://schemas.microsoft.com/office/drawing/2014/main" id="{B6AE64EB-D7D1-4945-8480-2A1D3522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入口</a:t>
            </a:r>
          </a:p>
        </p:txBody>
      </p:sp>
      <p:sp>
        <p:nvSpPr>
          <p:cNvPr id="3" name="后台页面检查登录与管理角色">
            <a:extLst xmlns:a="http://schemas.openxmlformats.org/drawingml/2006/main">
              <a:ext uri="{FF2B5EF4-FFF2-40B4-BE49-F238E27FC236}">
                <a16:creationId xmlns:a16="http://schemas.microsoft.com/office/drawing/2014/main" id="{0F218282-D612-44FD-8D73-B5B7ED96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382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后台页面检查登录与管理角色</a:t>
            </a:r>
          </a:p>
        </p:txBody>
      </p:sp>
      <p:sp>
        <p:nvSpPr>
          <p:cNvPr id="4" name="动作">
            <a:extLst xmlns:a="http://schemas.openxmlformats.org/drawingml/2006/main">
              <a:ext uri="{FF2B5EF4-FFF2-40B4-BE49-F238E27FC236}">
                <a16:creationId xmlns:a16="http://schemas.microsoft.com/office/drawing/2014/main" id="{A5DDFDCE-6C03-4E26-AF01-094C9E77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动作</a:t>
            </a:r>
          </a:p>
        </p:txBody>
      </p:sp>
      <p:sp>
        <p:nvSpPr>
          <p:cNvPr id="5" name="服务端再次检查发布权限">
            <a:extLst xmlns:a="http://schemas.openxmlformats.org/drawingml/2006/main">
              <a:ext uri="{FF2B5EF4-FFF2-40B4-BE49-F238E27FC236}">
                <a16:creationId xmlns:a16="http://schemas.microsoft.com/office/drawing/2014/main" id="{5055C1E6-E3B6-41F7-93E8-2843582B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050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服务端再次检查发布权限</a:t>
            </a:r>
          </a:p>
        </p:txBody>
      </p:sp>
      <p:sp>
        <p:nvSpPr>
          <p:cNvPr id="6" name="规则">
            <a:extLst xmlns:a="http://schemas.openxmlformats.org/drawingml/2006/main">
              <a:ext uri="{FF2B5EF4-FFF2-40B4-BE49-F238E27FC236}">
                <a16:creationId xmlns:a16="http://schemas.microsoft.com/office/drawing/2014/main" id="{BBD81655-02ED-4C45-9BCF-2507ED63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规则</a:t>
            </a:r>
          </a:p>
        </p:txBody>
      </p:sp>
      <p:sp>
        <p:nvSpPr>
          <p:cNvPr id="7" name="发布前校验必填内容和有效状态">
            <a:extLst xmlns:a="http://schemas.openxmlformats.org/drawingml/2006/main">
              <a:ext uri="{FF2B5EF4-FFF2-40B4-BE49-F238E27FC236}">
                <a16:creationId xmlns:a16="http://schemas.microsoft.com/office/drawing/2014/main" id="{66B68FF1-B711-443F-A485-77CA2EE2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发布前校验必填内容和有效状态</a:t>
            </a:r>
          </a:p>
        </p:txBody>
      </p:sp>
      <p:sp>
        <p:nvSpPr>
          <p:cNvPr id="8" name="结果">
            <a:extLst xmlns:a="http://schemas.openxmlformats.org/drawingml/2006/main">
              <a:ext uri="{FF2B5EF4-FFF2-40B4-BE49-F238E27FC236}">
                <a16:creationId xmlns:a16="http://schemas.microsoft.com/office/drawing/2014/main" id="{BD3AC44C-8FAE-403F-AC22-3A65A49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结果</a:t>
            </a:r>
          </a:p>
        </p:txBody>
      </p:sp>
      <p:sp>
        <p:nvSpPr>
          <p:cNvPr id="9" name="公开页可见，草稿仍保持不可报名">
            <a:extLst xmlns:a="http://schemas.openxmlformats.org/drawingml/2006/main">
              <a:ext uri="{FF2B5EF4-FFF2-40B4-BE49-F238E27FC236}">
                <a16:creationId xmlns:a16="http://schemas.microsoft.com/office/drawing/2014/main" id="{C998557C-1F1E-4D78-AE8A-D7702F21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公开页可见，草稿仍保持不可报名</a:t>
            </a:r>
          </a:p>
        </p:txBody>
      </p:sp>
      <p:sp>
        <p:nvSpPr>
          <p:cNvPr id="10" name="发布是一项业务操作，需要自己的规格与回归用例">
            <a:extLst xmlns:a="http://schemas.openxmlformats.org/drawingml/2006/main">
              <a:ext uri="{FF2B5EF4-FFF2-40B4-BE49-F238E27FC236}">
                <a16:creationId xmlns:a16="http://schemas.microsoft.com/office/drawing/2014/main" id="{9822067D-83DF-43E5-B287-9FB8F58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发布是一项业务操作，需要自己的规格与回归用例</a:t>
            </a:r>
          </a:p>
        </p:txBody>
      </p:sp>
      <p:sp>
        <p:nvSpPr>
          <p:cNvPr id="11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B1A0B22D-E637-4D41-9107-6470F82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2" name="31 / 46">
            <a:extLst xmlns:a="http://schemas.openxmlformats.org/drawingml/2006/main">
              <a:ext uri="{FF2B5EF4-FFF2-40B4-BE49-F238E27FC236}">
                <a16:creationId xmlns:a16="http://schemas.microsoft.com/office/drawing/2014/main" id="{C56D5ACA-A99F-4448-B660-D62A8EBB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31 / 46</a:t>
            </a:r>
          </a:p>
        </p:txBody>
      </p:sp>
    </p:spTree>
    <p:extLst>
      <p:ext uri="{BB962C8B-B14F-4D97-AF65-F5344CB8AC3E}">
        <p14:creationId xmlns:p14="http://schemas.microsoft.com/office/powerpoint/2010/main" val="6553767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04B2497-C865-4329-9BAF-9D368A7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邮件与支付的扩展接入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14750"/>
                <a:gridCol w="2990850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接入前补充的规格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关键验证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报名邮件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发送失败、重试与重复发送规则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业务成功与送达分别记录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付费报名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订单、支付回调、权益与退款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可信回调与幂等处理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文件存储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资源权限、大小和访问范围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上传与下载权限一致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外部服务接通后，还要验证完整业务结果">
            <a:extLst xmlns:a="http://schemas.openxmlformats.org/drawingml/2006/main">
              <a:ext uri="{FF2B5EF4-FFF2-40B4-BE49-F238E27FC236}">
                <a16:creationId xmlns:a16="http://schemas.microsoft.com/office/drawing/2014/main" id="{2D411EAB-9C96-489A-82AD-25F1F1D3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外部服务接通后，还要验证完整业务结果</a:t>
            </a:r>
          </a:p>
        </p:txBody>
      </p:sp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72CE1622-5DC9-452A-BD86-F5F2FC6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32 / 46">
            <a:extLst xmlns:a="http://schemas.openxmlformats.org/drawingml/2006/main">
              <a:ext uri="{FF2B5EF4-FFF2-40B4-BE49-F238E27FC236}">
                <a16:creationId xmlns:a16="http://schemas.microsoft.com/office/drawing/2014/main" id="{2204569E-8DE7-4ECE-982C-BC558892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32 / 46</a:t>
            </a:r>
          </a:p>
        </p:txBody>
      </p:sp>
    </p:spTree>
    <p:extLst>
      <p:ext uri="{BB962C8B-B14F-4D97-AF65-F5344CB8AC3E}">
        <p14:creationId xmlns:p14="http://schemas.microsoft.com/office/powerpoint/2010/main" val="21975128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A7633E9-A37A-42A8-AB69-D3567C8E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P6：多语言与 SEO 同步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190875"/>
                <a:gridCol w="2800350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应用部分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实现方式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验证重点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公开课程页面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词条、路由与页面元数据对应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语言内容与链接正确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私有报名与后台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权限控制，按规则设置索引策略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匿名访问不能读取私有数据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全站配置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统一维护导航、域名与页面信息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元数据与实际页面一致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1EEBE2EB-CA52-4FCC-9323-57354B7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4" name="33 / 46">
            <a:extLst xmlns:a="http://schemas.openxmlformats.org/drawingml/2006/main">
              <a:ext uri="{FF2B5EF4-FFF2-40B4-BE49-F238E27FC236}">
                <a16:creationId xmlns:a16="http://schemas.microsoft.com/office/drawing/2014/main" id="{BF570F37-4130-4636-9678-596EEA14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33 / 46</a:t>
            </a:r>
          </a:p>
        </p:txBody>
      </p:sp>
    </p:spTree>
    <p:extLst>
      <p:ext uri="{BB962C8B-B14F-4D97-AF65-F5344CB8AC3E}">
        <p14:creationId xmlns:p14="http://schemas.microsoft.com/office/powerpoint/2010/main" val="16434863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5BAB35B-F389-4FBA-8975-095170C9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Harness 如何约束这一轮开发</a:t>
            </a:r>
          </a:p>
        </p:txBody>
      </p:sp>
      <p:sp>
        <p:nvSpPr>
          <p:cNvPr id="2" name="开工前">
            <a:extLst xmlns:a="http://schemas.openxmlformats.org/drawingml/2006/main">
              <a:ext uri="{FF2B5EF4-FFF2-40B4-BE49-F238E27FC236}">
                <a16:creationId xmlns:a16="http://schemas.microsoft.com/office/drawing/2014/main" id="{44BD510D-3C96-4DAD-979B-2266A2B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开工前</a:t>
            </a:r>
          </a:p>
        </p:txBody>
      </p:sp>
      <p:sp>
        <p:nvSpPr>
          <p:cNvPr id="3" name="读取当前规格与基线&#10;确认文件和接口边界&#10;确认依赖已经满足">
            <a:extLst xmlns:a="http://schemas.openxmlformats.org/drawingml/2006/main">
              <a:ext uri="{FF2B5EF4-FFF2-40B4-BE49-F238E27FC236}">
                <a16:creationId xmlns:a16="http://schemas.microsoft.com/office/drawing/2014/main" id="{88F1E15B-FDBD-49EF-B9E5-CE4F5E9E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读取当前规格与基线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确认文件和接口边界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确认依赖已经满足</a:t>
            </a:r>
          </a:p>
        </p:txBody>
      </p:sp>
      <p:sp>
        <p:nvSpPr>
          <p:cNvPr id="4" name="执行中">
            <a:extLst xmlns:a="http://schemas.openxmlformats.org/drawingml/2006/main">
              <a:ext uri="{FF2B5EF4-FFF2-40B4-BE49-F238E27FC236}">
                <a16:creationId xmlns:a16="http://schemas.microsoft.com/office/drawing/2014/main" id="{00F9C93B-902C-4E96-85B1-0E9F468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执行中</a:t>
            </a:r>
          </a:p>
        </p:txBody>
      </p:sp>
      <p:sp>
        <p:nvSpPr>
          <p:cNvPr id="5" name="按任务更新代码&#10;发现差异记录到规格&#10;多人共享变更先协调">
            <a:extLst xmlns:a="http://schemas.openxmlformats.org/drawingml/2006/main">
              <a:ext uri="{FF2B5EF4-FFF2-40B4-BE49-F238E27FC236}">
                <a16:creationId xmlns:a16="http://schemas.microsoft.com/office/drawing/2014/main" id="{9BADB2CF-0A4E-4AEB-B1CE-718BCAE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按任务更新代码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发现差异记录到规格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多人共享变更先协调</a:t>
            </a:r>
          </a:p>
        </p:txBody>
      </p:sp>
      <p:sp>
        <p:nvSpPr>
          <p:cNvPr id="6" name="结束时">
            <a:extLst xmlns:a="http://schemas.openxmlformats.org/drawingml/2006/main">
              <a:ext uri="{FF2B5EF4-FFF2-40B4-BE49-F238E27FC236}">
                <a16:creationId xmlns:a16="http://schemas.microsoft.com/office/drawing/2014/main" id="{65AC03CF-349A-45D1-B1AA-231B2982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81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D166"/>
                </a:solidFill>
                <a:latin typeface="Arial Unicode MS"/>
                <a:ea typeface="Arial Unicode MS"/>
                <a:cs typeface="Arial Unicode MS"/>
              </a:rPr>
              <a:t>结束时</a:t>
            </a:r>
          </a:p>
        </p:txBody>
      </p:sp>
      <p:sp>
        <p:nvSpPr>
          <p:cNvPr id="7" name="验证对应用户场景&#10;记录证据和代码版本&#10;回填任务状态与索引">
            <a:extLst xmlns:a="http://schemas.openxmlformats.org/drawingml/2006/main">
              <a:ext uri="{FF2B5EF4-FFF2-40B4-BE49-F238E27FC236}">
                <a16:creationId xmlns:a16="http://schemas.microsoft.com/office/drawing/2014/main" id="{45D5D9E2-72D5-408F-BDE5-D30FA3C0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19325"/>
            <a:ext cx="2571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验证对应用户场景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记录证据和代码版本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回填任务状态与索引</a:t>
            </a:r>
          </a:p>
        </p:txBody>
      </p:sp>
      <p:sp>
        <p:nvSpPr>
          <p:cNvPr id="8" name="中断后从任务文件和当前代码恢复">
            <a:extLst xmlns:a="http://schemas.openxmlformats.org/drawingml/2006/main">
              <a:ext uri="{FF2B5EF4-FFF2-40B4-BE49-F238E27FC236}">
                <a16:creationId xmlns:a16="http://schemas.microsoft.com/office/drawing/2014/main" id="{9058CF15-7E67-4F2A-92D2-A8B16589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中断后从任务文件和当前代码恢复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558F333E-8A38-463A-9A4F-BA4A85BD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34 / 46">
            <a:extLst xmlns:a="http://schemas.openxmlformats.org/drawingml/2006/main">
              <a:ext uri="{FF2B5EF4-FFF2-40B4-BE49-F238E27FC236}">
                <a16:creationId xmlns:a16="http://schemas.microsoft.com/office/drawing/2014/main" id="{A9845E24-A850-417D-8AA4-AB5DB4E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34 / 46</a:t>
            </a:r>
          </a:p>
        </p:txBody>
      </p:sp>
    </p:spTree>
    <p:extLst>
      <p:ext uri="{BB962C8B-B14F-4D97-AF65-F5344CB8AC3E}">
        <p14:creationId xmlns:p14="http://schemas.microsoft.com/office/powerpoint/2010/main" val="18862492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可复用提示词  按批准的任务逐项完成">
            <a:extLst xmlns:a="http://schemas.openxmlformats.org/drawingml/2006/main">
              <a:ext uri="{FF2B5EF4-FFF2-40B4-BE49-F238E27FC236}">
                <a16:creationId xmlns:a16="http://schemas.microsoft.com/office/drawing/2014/main" id="{C47BF9BC-95A5-4006-AF1A-3467842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可复用提示词  按批准的任务逐项完成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D528467-044E-494C-900C-F6013C14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给 Agent 的实施任务</a:t>
            </a:r>
          </a:p>
        </p:txBody>
      </p:sp>
      <p:sp>
        <p:nvSpPr>
          <p:cNvPr id="3" name="读取当前规格、任务卡与代码版本。&#10;完成报名功能对应的下一项任">
            <a:extLst xmlns:a="http://schemas.openxmlformats.org/drawingml/2006/main">
              <a:ext uri="{FF2B5EF4-FFF2-40B4-BE49-F238E27FC236}">
                <a16:creationId xmlns:a16="http://schemas.microsoft.com/office/drawing/2014/main" id="{633880D6-A838-4699-851B-3FC5F524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读取当前规格、任务卡与代码版本。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完成报名功能对应的下一项任务。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只修改任务涉及的文件和必要依赖。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按验收标准验证成功与失败路径。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记录命令、结果、证据和遗留项。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回写任务状态；阻塞时说明原因。</a:t>
            </a:r>
          </a:p>
        </p:txBody>
      </p:sp>
      <p:sp>
        <p:nvSpPr>
          <p:cNvPr id="4" name="指定范围">
            <a:extLst xmlns:a="http://schemas.openxmlformats.org/drawingml/2006/main">
              <a:ext uri="{FF2B5EF4-FFF2-40B4-BE49-F238E27FC236}">
                <a16:creationId xmlns:a16="http://schemas.microsoft.com/office/drawing/2014/main" id="{BF2B6286-56B6-4269-8FC1-C068DF58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指定范围</a:t>
            </a:r>
          </a:p>
        </p:txBody>
      </p:sp>
      <p:sp>
        <p:nvSpPr>
          <p:cNvPr id="5" name="用任务 ID 关联规格和文件">
            <a:extLst xmlns:a="http://schemas.openxmlformats.org/drawingml/2006/main">
              <a:ext uri="{FF2B5EF4-FFF2-40B4-BE49-F238E27FC236}">
                <a16:creationId xmlns:a16="http://schemas.microsoft.com/office/drawing/2014/main" id="{86573D3B-90C8-4DD9-87C8-4936DCBE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用任务 ID 关联规格和文件</a:t>
            </a:r>
          </a:p>
        </p:txBody>
      </p:sp>
      <p:sp>
        <p:nvSpPr>
          <p:cNvPr id="6" name="审阅结果">
            <a:extLst xmlns:a="http://schemas.openxmlformats.org/drawingml/2006/main">
              <a:ext uri="{FF2B5EF4-FFF2-40B4-BE49-F238E27FC236}">
                <a16:creationId xmlns:a16="http://schemas.microsoft.com/office/drawing/2014/main" id="{D235BD2F-FA19-4112-956D-7B7D13D9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审阅结果</a:t>
            </a:r>
          </a:p>
        </p:txBody>
      </p:sp>
      <p:sp>
        <p:nvSpPr>
          <p:cNvPr id="7" name="检查代码、行为与验证证据">
            <a:extLst xmlns:a="http://schemas.openxmlformats.org/drawingml/2006/main">
              <a:ext uri="{FF2B5EF4-FFF2-40B4-BE49-F238E27FC236}">
                <a16:creationId xmlns:a16="http://schemas.microsoft.com/office/drawing/2014/main" id="{1E7DD9E5-5906-4EAE-8DBE-B78107D4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检查代码、行为与验证证据</a:t>
            </a:r>
          </a:p>
        </p:txBody>
      </p:sp>
      <p:sp>
        <p:nvSpPr>
          <p:cNvPr id="8" name="任务状态、实际代码与验证结果需要一致">
            <a:extLst xmlns:a="http://schemas.openxmlformats.org/drawingml/2006/main">
              <a:ext uri="{FF2B5EF4-FFF2-40B4-BE49-F238E27FC236}">
                <a16:creationId xmlns:a16="http://schemas.microsoft.com/office/drawing/2014/main" id="{140B70B2-5166-44DF-81AE-1FA6D273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任务状态、实际代码与验证结果需要一致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F8115F10-2FF8-4FCE-9DE9-BF7DA350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35 / 46">
            <a:extLst xmlns:a="http://schemas.openxmlformats.org/drawingml/2006/main">
              <a:ext uri="{FF2B5EF4-FFF2-40B4-BE49-F238E27FC236}">
                <a16:creationId xmlns:a16="http://schemas.microsoft.com/office/drawing/2014/main" id="{D505BA06-582D-4CDB-A02F-398B2D1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35 / 46</a:t>
            </a:r>
          </a:p>
        </p:txBody>
      </p:sp>
    </p:spTree>
    <p:extLst>
      <p:ext uri="{BB962C8B-B14F-4D97-AF65-F5344CB8AC3E}">
        <p14:creationId xmlns:p14="http://schemas.microsoft.com/office/powerpoint/2010/main" val="1142920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4">
            <a:extLst xmlns:a="http://schemas.openxmlformats.org/drawingml/2006/main">
              <a:ext uri="{FF2B5EF4-FFF2-40B4-BE49-F238E27FC236}">
                <a16:creationId xmlns:a16="http://schemas.microsoft.com/office/drawing/2014/main" id="{CF67CF56-5899-4C6A-AED5-460814E1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0625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" name="验证、部署与持续迭代">
            <a:extLst xmlns:a="http://schemas.openxmlformats.org/drawingml/2006/main">
              <a:ext uri="{FF2B5EF4-FFF2-40B4-BE49-F238E27FC236}">
                <a16:creationId xmlns:a16="http://schemas.microsoft.com/office/drawing/2014/main" id="{AD6CBE6C-C5B0-4436-976C-652E6A18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8127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525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验证、部署与持续迭代</a:t>
            </a:r>
          </a:p>
        </p:txBody>
      </p:sp>
      <p:sp>
        <p:nvSpPr>
          <p:cNvPr id="3" name="交付的是目标版本中能够工作的用户流程">
            <a:extLst xmlns:a="http://schemas.openxmlformats.org/drawingml/2006/main">
              <a:ext uri="{FF2B5EF4-FFF2-40B4-BE49-F238E27FC236}">
                <a16:creationId xmlns:a16="http://schemas.microsoft.com/office/drawing/2014/main" id="{C97AF974-42BC-4AD3-A77E-1C723E7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828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交付的是目标版本中能够工作的用户流程</a:t>
            </a:r>
          </a:p>
        </p:txBody>
      </p:sp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AF562F13-0FC2-49F4-B42A-EDC68ACD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36 / 46">
            <a:extLst xmlns:a="http://schemas.openxmlformats.org/drawingml/2006/main">
              <a:ext uri="{FF2B5EF4-FFF2-40B4-BE49-F238E27FC236}">
                <a16:creationId xmlns:a16="http://schemas.microsoft.com/office/drawing/2014/main" id="{EC566885-4900-4A5A-A22E-D7284AB3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36 / 46</a:t>
            </a:r>
          </a:p>
        </p:txBody>
      </p:sp>
    </p:spTree>
    <p:extLst>
      <p:ext uri="{BB962C8B-B14F-4D97-AF65-F5344CB8AC3E}">
        <p14:creationId xmlns:p14="http://schemas.microsoft.com/office/powerpoint/2010/main" val="36596346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975ECEE-76AA-435B-84F4-0BB906C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报名功能的验收矩阵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857500"/>
                <a:gridCol w="2705100"/>
              </a:tblGrid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场景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预期结果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观察位置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正常报名后刷新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记录仍在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页面与数据库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未登录直接请求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拒绝写入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服务端与数据库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重复或并发报名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只有一条有效记录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数据库与返回结果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存储写入失败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明确失败，可重试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接口与界面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457200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课程变成草稿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按规格拒绝新报名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业务逻辑与数据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66C65559-3DB0-42E1-88EC-A121C0A1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4" name="37 / 46">
            <a:extLst xmlns:a="http://schemas.openxmlformats.org/drawingml/2006/main">
              <a:ext uri="{FF2B5EF4-FFF2-40B4-BE49-F238E27FC236}">
                <a16:creationId xmlns:a16="http://schemas.microsoft.com/office/drawing/2014/main" id="{6E9B8092-B907-4AF8-9F9B-F752FF5A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37 / 46</a:t>
            </a:r>
          </a:p>
        </p:txBody>
      </p:sp>
    </p:spTree>
    <p:extLst>
      <p:ext uri="{BB962C8B-B14F-4D97-AF65-F5344CB8AC3E}">
        <p14:creationId xmlns:p14="http://schemas.microsoft.com/office/powerpoint/2010/main" val="4772121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命令须与当前 package.json 对齐">
            <a:extLst xmlns:a="http://schemas.openxmlformats.org/drawingml/2006/main">
              <a:ext uri="{FF2B5EF4-FFF2-40B4-BE49-F238E27FC236}">
                <a16:creationId xmlns:a16="http://schemas.microsoft.com/office/drawing/2014/main" id="{A4C9D779-3CAE-4C9D-BC50-1405C031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命令须与当前 package.json 对齐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09F40EAE-39C4-4092-80EA-1901A9EB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本地质量门与业务测试</a:t>
            </a:r>
          </a:p>
        </p:txBody>
      </p:sp>
      <p:sp>
        <p:nvSpPr>
          <p:cNvPr id="3" name="pnpm gate:check&#10;pnpm exec tsc ">
            <a:extLst xmlns:a="http://schemas.openxmlformats.org/drawingml/2006/main">
              <a:ext uri="{FF2B5EF4-FFF2-40B4-BE49-F238E27FC236}">
                <a16:creationId xmlns:a16="http://schemas.microsoft.com/office/drawing/2014/main" id="{270658D8-120B-4903-BA35-4FB1D5A8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57325"/>
            <a:ext cx="5143500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80975" tIns="180975" rIns="180975" bIns="180975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pnpm gate:check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pnpm exec tsc --noEmit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pnpm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# 再运行项目新增的报名业务测试</a:t>
            </a:r>
          </a:p>
          <a:p xmlns:a="http://schemas.openxmlformats.org/drawingml/2006/main">
            <a:pPr>
              <a:def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# 记录命令、结果与 commit SHA</a:t>
            </a:r>
          </a:p>
        </p:txBody>
      </p:sp>
      <p:sp>
        <p:nvSpPr>
          <p:cNvPr id="4" name="静态门">
            <a:extLst xmlns:a="http://schemas.openxmlformats.org/drawingml/2006/main">
              <a:ext uri="{FF2B5EF4-FFF2-40B4-BE49-F238E27FC236}">
                <a16:creationId xmlns:a16="http://schemas.microsoft.com/office/drawing/2014/main" id="{8070610C-5F0F-4D85-A87F-AE7AFEC4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4305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静态门</a:t>
            </a:r>
          </a:p>
        </p:txBody>
      </p:sp>
      <p:sp>
        <p:nvSpPr>
          <p:cNvPr id="5" name="代码和配置能否通过检查">
            <a:extLst xmlns:a="http://schemas.openxmlformats.org/drawingml/2006/main">
              <a:ext uri="{FF2B5EF4-FFF2-40B4-BE49-F238E27FC236}">
                <a16:creationId xmlns:a16="http://schemas.microsoft.com/office/drawing/2014/main" id="{DA8A4887-2968-4DEF-9F2F-F32DF41B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81200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代码和配置能否通过检查</a:t>
            </a:r>
          </a:p>
        </p:txBody>
      </p:sp>
      <p:sp>
        <p:nvSpPr>
          <p:cNvPr id="6" name="业务门">
            <a:extLst xmlns:a="http://schemas.openxmlformats.org/drawingml/2006/main">
              <a:ext uri="{FF2B5EF4-FFF2-40B4-BE49-F238E27FC236}">
                <a16:creationId xmlns:a16="http://schemas.microsoft.com/office/drawing/2014/main" id="{C1506EEE-E854-4D8F-8386-9BE9C671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业务门</a:t>
            </a:r>
          </a:p>
        </p:txBody>
      </p:sp>
      <p:sp>
        <p:nvSpPr>
          <p:cNvPr id="7" name="报名和权限行为是否符合规格">
            <a:extLst xmlns:a="http://schemas.openxmlformats.org/drawingml/2006/main">
              <a:ext uri="{FF2B5EF4-FFF2-40B4-BE49-F238E27FC236}">
                <a16:creationId xmlns:a16="http://schemas.microsoft.com/office/drawing/2014/main" id="{6AC815B9-6F6C-4DE0-A9A2-5CA9E7D4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714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报名和权限行为是否符合规格</a:t>
            </a:r>
          </a:p>
        </p:txBody>
      </p:sp>
      <p:sp>
        <p:nvSpPr>
          <p:cNvPr id="8" name="检查项目实际提供的命令，再写入执行契约">
            <a:extLst xmlns:a="http://schemas.openxmlformats.org/drawingml/2006/main">
              <a:ext uri="{FF2B5EF4-FFF2-40B4-BE49-F238E27FC236}">
                <a16:creationId xmlns:a16="http://schemas.microsoft.com/office/drawing/2014/main" id="{F23F7F26-69BF-45E2-993E-9EA5871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检查项目实际提供的命令，再写入执行契约</a:t>
            </a:r>
          </a:p>
        </p:txBody>
      </p:sp>
      <p:sp>
        <p:nvSpPr>
          <p:cNvPr id="9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C62B2B92-90E9-4284-B891-A298448E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0" name="38 / 46">
            <a:extLst xmlns:a="http://schemas.openxmlformats.org/drawingml/2006/main">
              <a:ext uri="{FF2B5EF4-FFF2-40B4-BE49-F238E27FC236}">
                <a16:creationId xmlns:a16="http://schemas.microsoft.com/office/drawing/2014/main" id="{37A945B1-7A79-4DE5-8C41-8E12DEC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38 / 46</a:t>
            </a:r>
          </a:p>
        </p:txBody>
      </p:sp>
    </p:spTree>
    <p:extLst>
      <p:ext uri="{BB962C8B-B14F-4D97-AF65-F5344CB8AC3E}">
        <p14:creationId xmlns:p14="http://schemas.microsoft.com/office/powerpoint/2010/main" val="18453815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当前 007 检查脚本的实例">
            <a:extLst xmlns:a="http://schemas.openxmlformats.org/drawingml/2006/main">
              <a:ext uri="{FF2B5EF4-FFF2-40B4-BE49-F238E27FC236}">
                <a16:creationId xmlns:a16="http://schemas.microsoft.com/office/drawing/2014/main" id="{D0FFB779-18AA-46C7-B854-5F27B81F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当前 007 检查脚本的实例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BFD3D92-2169-4E1B-B07C-E94678A0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门禁的覆盖范围要说清楚</a:t>
            </a:r>
          </a:p>
        </p:txBody>
      </p:sp>
      <p:sp>
        <p:nvSpPr>
          <p:cNvPr id="3" name="现有检查">
            <a:extLst xmlns:a="http://schemas.openxmlformats.org/drawingml/2006/main">
              <a:ext uri="{FF2B5EF4-FFF2-40B4-BE49-F238E27FC236}">
                <a16:creationId xmlns:a16="http://schemas.microsoft.com/office/drawing/2014/main" id="{1CE1F0C9-D57D-4F92-BE13-3DBAAD70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7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7B63"/>
                </a:solidFill>
                <a:latin typeface="Arial Unicode MS"/>
                <a:ea typeface="Arial Unicode MS"/>
                <a:cs typeface="Arial Unicode MS"/>
              </a:rPr>
              <a:t>现有检查</a:t>
            </a:r>
          </a:p>
        </p:txBody>
      </p:sp>
      <p:sp>
        <p:nvSpPr>
          <p:cNvPr id="4" name="核心配置文件存在&#10;部分代码模式检查&#10;依赖数量与语言文件存在">
            <a:extLst xmlns:a="http://schemas.openxmlformats.org/drawingml/2006/main">
              <a:ext uri="{FF2B5EF4-FFF2-40B4-BE49-F238E27FC236}">
                <a16:creationId xmlns:a16="http://schemas.microsoft.com/office/drawing/2014/main" id="{B9B9C893-2603-4216-9118-09590274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91477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核心配置文件存在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部分代码模式检查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依赖数量与语言文件存在</a:t>
            </a:r>
          </a:p>
        </p:txBody>
      </p:sp>
      <p:sp>
        <p:nvSpPr>
          <p:cNvPr id="5" name="仍需补充">
            <a:extLst xmlns:a="http://schemas.openxmlformats.org/drawingml/2006/main">
              <a:ext uri="{FF2B5EF4-FFF2-40B4-BE49-F238E27FC236}">
                <a16:creationId xmlns:a16="http://schemas.microsoft.com/office/drawing/2014/main" id="{F8841D8C-68D0-4BAF-908F-F2AF061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495425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仍需补充</a:t>
            </a:r>
          </a:p>
        </p:txBody>
      </p:sp>
      <p:sp>
        <p:nvSpPr>
          <p:cNvPr id="6" name="业务成功和失败场景&#10;用户数据与管理权限&#10;语言完整性与集成回归">
            <a:extLst xmlns:a="http://schemas.openxmlformats.org/drawingml/2006/main">
              <a:ext uri="{FF2B5EF4-FFF2-40B4-BE49-F238E27FC236}">
                <a16:creationId xmlns:a16="http://schemas.microsoft.com/office/drawing/2014/main" id="{513DEA1E-AE99-435E-8329-071E161C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43125"/>
            <a:ext cx="391477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业务成功和失败场景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用户数据与管理权限</a:t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语言完整性与集成回归</a:t>
            </a:r>
          </a:p>
        </p:txBody>
      </p:sp>
      <p:sp>
        <p:nvSpPr>
          <p:cNvPr id="7" name="给检查器输入已知错误，确认它会阻止通过">
            <a:extLst xmlns:a="http://schemas.openxmlformats.org/drawingml/2006/main">
              <a:ext uri="{FF2B5EF4-FFF2-40B4-BE49-F238E27FC236}">
                <a16:creationId xmlns:a16="http://schemas.microsoft.com/office/drawing/2014/main" id="{FC39EC10-B83C-4131-96F2-98C92BF7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给检查器输入已知错误，确认它会阻止通过</a:t>
            </a:r>
          </a:p>
        </p:txBody>
      </p:sp>
      <p:sp>
        <p:nvSpPr>
          <p:cNvPr id="8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4D5EF37F-CC54-445B-967C-A47F11C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9" name="39 / 46">
            <a:extLst xmlns:a="http://schemas.openxmlformats.org/drawingml/2006/main">
              <a:ext uri="{FF2B5EF4-FFF2-40B4-BE49-F238E27FC236}">
                <a16:creationId xmlns:a16="http://schemas.microsoft.com/office/drawing/2014/main" id="{D7C1B5C3-B7A4-4D05-A2CF-E86B9C38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39 / 46</a:t>
            </a:r>
          </a:p>
        </p:txBody>
      </p:sp>
    </p:spTree>
    <p:extLst>
      <p:ext uri="{BB962C8B-B14F-4D97-AF65-F5344CB8AC3E}">
        <p14:creationId xmlns:p14="http://schemas.microsoft.com/office/powerpoint/2010/main" val="18074104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983CE7E-E2C0-4C4C-A35E-D00262DE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P7：目标环境的发布流程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369D930A-D7E9-4E1E-8D4D-DC5DC22E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集成版本">
            <a:extLst xmlns:a="http://schemas.openxmlformats.org/drawingml/2006/main">
              <a:ext uri="{FF2B5EF4-FFF2-40B4-BE49-F238E27FC236}">
                <a16:creationId xmlns:a16="http://schemas.microsoft.com/office/drawing/2014/main" id="{9E4D258E-B24C-44D5-8345-7DB98E95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集成版本</a:t>
            </a:r>
          </a:p>
        </p:txBody>
      </p:sp>
      <p:sp>
        <p:nvSpPr>
          <p:cNvPr id="4" name="合并并验证目标提交">
            <a:extLst xmlns:a="http://schemas.openxmlformats.org/drawingml/2006/main">
              <a:ext uri="{FF2B5EF4-FFF2-40B4-BE49-F238E27FC236}">
                <a16:creationId xmlns:a16="http://schemas.microsoft.com/office/drawing/2014/main" id="{C4179519-1D01-43BB-AB1A-961396ED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合并并验证目标提交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86BCFE3-F85B-4E75-B522-6B957359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环境配置">
            <a:extLst xmlns:a="http://schemas.openxmlformats.org/drawingml/2006/main">
              <a:ext uri="{FF2B5EF4-FFF2-40B4-BE49-F238E27FC236}">
                <a16:creationId xmlns:a16="http://schemas.microsoft.com/office/drawing/2014/main" id="{68D71256-82B2-4EC5-A34B-F086F2D8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环境配置</a:t>
            </a:r>
          </a:p>
        </p:txBody>
      </p:sp>
      <p:sp>
        <p:nvSpPr>
          <p:cNvPr id="7" name="核对数据库与服务">
            <a:extLst xmlns:a="http://schemas.openxmlformats.org/drawingml/2006/main">
              <a:ext uri="{FF2B5EF4-FFF2-40B4-BE49-F238E27FC236}">
                <a16:creationId xmlns:a16="http://schemas.microsoft.com/office/drawing/2014/main" id="{C5EFA459-CDBF-4DB2-BEA5-F2727A50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核对数据库与服务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4CA8E85C-D93E-4F74-8390-770216DD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执行发布">
            <a:extLst xmlns:a="http://schemas.openxmlformats.org/drawingml/2006/main">
              <a:ext uri="{FF2B5EF4-FFF2-40B4-BE49-F238E27FC236}">
                <a16:creationId xmlns:a16="http://schemas.microsoft.com/office/drawing/2014/main" id="{F698D619-D14D-4AC0-B83D-B8ABF83A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执行发布</a:t>
            </a:r>
          </a:p>
        </p:txBody>
      </p:sp>
      <p:sp>
        <p:nvSpPr>
          <p:cNvPr id="10" name="等待目标部署可用">
            <a:extLst xmlns:a="http://schemas.openxmlformats.org/drawingml/2006/main">
              <a:ext uri="{FF2B5EF4-FFF2-40B4-BE49-F238E27FC236}">
                <a16:creationId xmlns:a16="http://schemas.microsoft.com/office/drawing/2014/main" id="{D7A5AE4A-2BED-4E02-9527-AF93A3F0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等待目标部署可用</a:t>
            </a:r>
          </a:p>
        </p:txBody>
      </p:sp>
      <p:sp>
        <p:nvSpPr>
          <p:cNvPr id="11" name="04">
            <a:extLst xmlns:a="http://schemas.openxmlformats.org/drawingml/2006/main">
              <a:ext uri="{FF2B5EF4-FFF2-40B4-BE49-F238E27FC236}">
                <a16:creationId xmlns:a16="http://schemas.microsoft.com/office/drawing/2014/main" id="{A4A16E53-C04A-410F-AD1F-ADC7251F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97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2" name="线上验收">
            <a:extLst xmlns:a="http://schemas.openxmlformats.org/drawingml/2006/main">
              <a:ext uri="{FF2B5EF4-FFF2-40B4-BE49-F238E27FC236}">
                <a16:creationId xmlns:a16="http://schemas.microsoft.com/office/drawing/2014/main" id="{AA6AA62E-D76C-4C4B-BC79-DCC414EA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1943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线上验收</a:t>
            </a:r>
          </a:p>
        </p:txBody>
      </p:sp>
      <p:sp>
        <p:nvSpPr>
          <p:cNvPr id="13" name="复查业务并记录版本">
            <a:extLst xmlns:a="http://schemas.openxmlformats.org/drawingml/2006/main">
              <a:ext uri="{FF2B5EF4-FFF2-40B4-BE49-F238E27FC236}">
                <a16:creationId xmlns:a16="http://schemas.microsoft.com/office/drawing/2014/main" id="{9F42FE5B-7EEB-4D31-848F-BE348DE1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194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复查业务并记录版本</a:t>
            </a:r>
          </a:p>
        </p:txBody>
      </p:sp>
      <p:sp>
        <p:nvSpPr>
          <p:cNvPr id="14" name="发布记录关联部署地址、commit SHA 和回滚方案">
            <a:extLst xmlns:a="http://schemas.openxmlformats.org/drawingml/2006/main">
              <a:ext uri="{FF2B5EF4-FFF2-40B4-BE49-F238E27FC236}">
                <a16:creationId xmlns:a16="http://schemas.microsoft.com/office/drawing/2014/main" id="{FB6C50F6-0587-4719-97F6-1C68660B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发布记录关联部署地址、commit SHA 和回滚方案</a:t>
            </a:r>
          </a:p>
        </p:txBody>
      </p:sp>
      <p:sp>
        <p:nvSpPr>
          <p:cNvPr id="15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50B8F439-A1FF-4213-A389-9DCF53C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6" name="40 / 46">
            <a:extLst xmlns:a="http://schemas.openxmlformats.org/drawingml/2006/main">
              <a:ext uri="{FF2B5EF4-FFF2-40B4-BE49-F238E27FC236}">
                <a16:creationId xmlns:a16="http://schemas.microsoft.com/office/drawing/2014/main" id="{55286938-C9E2-4EDB-AE33-BF5AFFF9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40 / 46</a:t>
            </a:r>
          </a:p>
        </p:txBody>
      </p:sp>
    </p:spTree>
    <p:extLst>
      <p:ext uri="{BB962C8B-B14F-4D97-AF65-F5344CB8AC3E}">
        <p14:creationId xmlns:p14="http://schemas.microsoft.com/office/powerpoint/2010/main" val="11787846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资料中的跨工作区发布事故">
            <a:extLst xmlns:a="http://schemas.openxmlformats.org/drawingml/2006/main">
              <a:ext uri="{FF2B5EF4-FFF2-40B4-BE49-F238E27FC236}">
                <a16:creationId xmlns:a16="http://schemas.microsoft.com/office/drawing/2014/main" id="{025EED9F-60DE-4550-8A06-5EDAA40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资料中的跨工作区发布事故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49FA75A-93B9-4A83-B612-21FE966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多分支成果需要共同验收</a:t>
            </a:r>
          </a:p>
        </p:txBody>
      </p:sp>
      <p:sp>
        <p:nvSpPr>
          <p:cNvPr id="3" name="各自发布的后果">
            <a:extLst xmlns:a="http://schemas.openxmlformats.org/drawingml/2006/main">
              <a:ext uri="{FF2B5EF4-FFF2-40B4-BE49-F238E27FC236}">
                <a16:creationId xmlns:a16="http://schemas.microsoft.com/office/drawing/2014/main" id="{163B9C5D-03C1-4F43-BDF1-1134DBC4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7B6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7B63"/>
                </a:solidFill>
                <a:latin typeface="Arial Unicode MS"/>
                <a:ea typeface="Arial Unicode MS"/>
                <a:cs typeface="Arial Unicode MS"/>
              </a:rPr>
              <a:t>各自发布的后果</a:t>
            </a:r>
          </a:p>
        </p:txBody>
      </p:sp>
      <p:sp>
        <p:nvSpPr>
          <p:cNvPr id="4" name="A 分支有 SEO，缺双语&#10;&#10;B 分支有双语，缺 SEO&#10;&#10;">
            <a:extLst xmlns:a="http://schemas.openxmlformats.org/drawingml/2006/main">
              <a:ext uri="{FF2B5EF4-FFF2-40B4-BE49-F238E27FC236}">
                <a16:creationId xmlns:a16="http://schemas.microsoft.com/office/drawing/2014/main" id="{CE3E7D4B-D25D-4EA5-85A3-BD0C380A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91477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A 分支有 SEO，缺双语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B 分支有双语，缺 SEO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先后上线造成互相覆盖</a:t>
            </a:r>
          </a:p>
        </p:txBody>
      </p:sp>
      <p:sp>
        <p:nvSpPr>
          <p:cNvPr id="5" name="全栈交付的做法">
            <a:extLst xmlns:a="http://schemas.openxmlformats.org/drawingml/2006/main">
              <a:ext uri="{FF2B5EF4-FFF2-40B4-BE49-F238E27FC236}">
                <a16:creationId xmlns:a16="http://schemas.microsoft.com/office/drawing/2014/main" id="{B479515A-9A47-4A14-A3BC-CCA943DE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495425"/>
            <a:ext cx="3914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全栈交付的做法</a:t>
            </a:r>
          </a:p>
        </p:txBody>
      </p:sp>
      <p:sp>
        <p:nvSpPr>
          <p:cNvPr id="6" name="把需要的变更集成到同一版本&#10;&#10;对这个版本运行完整回归&#10;&#10;上线">
            <a:extLst xmlns:a="http://schemas.openxmlformats.org/drawingml/2006/main">
              <a:ext uri="{FF2B5EF4-FFF2-40B4-BE49-F238E27FC236}">
                <a16:creationId xmlns:a16="http://schemas.microsoft.com/office/drawing/2014/main" id="{28626FF0-F6AD-43DB-A543-DA45B0EB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43125"/>
            <a:ext cx="391477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把需要的变更集成到同一版本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对这个版本运行完整回归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上线后复核两项功能</a:t>
            </a:r>
          </a:p>
        </p:txBody>
      </p:sp>
      <p:sp>
        <p:nvSpPr>
          <p:cNvPr id="7" name="课程页、报名接口和数据库，也要按同一版本交付">
            <a:extLst xmlns:a="http://schemas.openxmlformats.org/drawingml/2006/main">
              <a:ext uri="{FF2B5EF4-FFF2-40B4-BE49-F238E27FC236}">
                <a16:creationId xmlns:a16="http://schemas.microsoft.com/office/drawing/2014/main" id="{76F45DFE-A22D-499B-BF87-AD181DF8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课程页、报名接口和数据库，也要按同一版本交付</a:t>
            </a:r>
          </a:p>
        </p:txBody>
      </p:sp>
      <p:sp>
        <p:nvSpPr>
          <p:cNvPr id="8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C657EC9C-43C1-4130-9E00-08AB888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9" name="41 / 46">
            <a:extLst xmlns:a="http://schemas.openxmlformats.org/drawingml/2006/main">
              <a:ext uri="{FF2B5EF4-FFF2-40B4-BE49-F238E27FC236}">
                <a16:creationId xmlns:a16="http://schemas.microsoft.com/office/drawing/2014/main" id="{90E252F0-8257-4815-AD36-E0CFCDC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41 / 46</a:t>
            </a:r>
          </a:p>
        </p:txBody>
      </p:sp>
    </p:spTree>
    <p:extLst>
      <p:ext uri="{BB962C8B-B14F-4D97-AF65-F5344CB8AC3E}">
        <p14:creationId xmlns:p14="http://schemas.microsoft.com/office/powerpoint/2010/main" val="95143786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5EBD3E8-3758-4E4D-BEED-3E49A955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P8：让下一轮开发更可靠</a:t>
            </a:r>
          </a:p>
        </p:txBody>
      </p:sp>
      <p:sp>
        <p:nvSpPr>
          <p:cNvPr id="2" name="观测">
            <a:extLst xmlns:a="http://schemas.openxmlformats.org/drawingml/2006/main">
              <a:ext uri="{FF2B5EF4-FFF2-40B4-BE49-F238E27FC236}">
                <a16:creationId xmlns:a16="http://schemas.microsoft.com/office/drawing/2014/main" id="{03C2CEF4-8D51-4B66-8594-AEBAE49E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观测</a:t>
            </a:r>
          </a:p>
        </p:txBody>
      </p:sp>
      <p:sp>
        <p:nvSpPr>
          <p:cNvPr id="3" name="记录报名失败、接口错误和关键业务状态">
            <a:extLst xmlns:a="http://schemas.openxmlformats.org/drawingml/2006/main">
              <a:ext uri="{FF2B5EF4-FFF2-40B4-BE49-F238E27FC236}">
                <a16:creationId xmlns:a16="http://schemas.microsoft.com/office/drawing/2014/main" id="{5047E88A-6D59-4AD0-80D8-4B0ADFE3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382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记录报名失败、接口错误和关键业务状态</a:t>
            </a:r>
          </a:p>
        </p:txBody>
      </p:sp>
      <p:sp>
        <p:nvSpPr>
          <p:cNvPr id="4" name="复盘">
            <a:extLst xmlns:a="http://schemas.openxmlformats.org/drawingml/2006/main">
              <a:ext uri="{FF2B5EF4-FFF2-40B4-BE49-F238E27FC236}">
                <a16:creationId xmlns:a16="http://schemas.microsoft.com/office/drawing/2014/main" id="{19F95638-8586-47B8-9268-D4431B5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复盘</a:t>
            </a:r>
          </a:p>
        </p:txBody>
      </p:sp>
      <p:sp>
        <p:nvSpPr>
          <p:cNvPr id="5" name="把触发条件、根因与修复方法写清楚">
            <a:extLst xmlns:a="http://schemas.openxmlformats.org/drawingml/2006/main">
              <a:ext uri="{FF2B5EF4-FFF2-40B4-BE49-F238E27FC236}">
                <a16:creationId xmlns:a16="http://schemas.microsoft.com/office/drawing/2014/main" id="{783AB5A6-0212-443E-80DF-47CB015D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1050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把触发条件、根因与修复方法写清楚</a:t>
            </a:r>
          </a:p>
        </p:txBody>
      </p:sp>
      <p:sp>
        <p:nvSpPr>
          <p:cNvPr id="6" name="回写">
            <a:extLst xmlns:a="http://schemas.openxmlformats.org/drawingml/2006/main">
              <a:ext uri="{FF2B5EF4-FFF2-40B4-BE49-F238E27FC236}">
                <a16:creationId xmlns:a16="http://schemas.microsoft.com/office/drawing/2014/main" id="{CF6CB661-6978-42C8-9C1B-80AEC96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回写</a:t>
            </a:r>
          </a:p>
        </p:txBody>
      </p:sp>
      <p:sp>
        <p:nvSpPr>
          <p:cNvPr id="7" name="更新对应规格、项目规则和导航索引">
            <a:extLst xmlns:a="http://schemas.openxmlformats.org/drawingml/2006/main">
              <a:ext uri="{FF2B5EF4-FFF2-40B4-BE49-F238E27FC236}">
                <a16:creationId xmlns:a16="http://schemas.microsoft.com/office/drawing/2014/main" id="{DAB4984B-F43E-4483-A07F-397E878C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77177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更新对应规格、项目规则和导航索引</a:t>
            </a:r>
          </a:p>
        </p:txBody>
      </p:sp>
      <p:sp>
        <p:nvSpPr>
          <p:cNvPr id="8" name="回归">
            <a:extLst xmlns:a="http://schemas.openxmlformats.org/drawingml/2006/main">
              <a:ext uri="{FF2B5EF4-FFF2-40B4-BE49-F238E27FC236}">
                <a16:creationId xmlns:a16="http://schemas.microsoft.com/office/drawing/2014/main" id="{0BA0CC15-1543-4EF0-83E2-EE1DDF93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4DA3FF"/>
                </a:solidFill>
                <a:latin typeface="Arial Unicode MS"/>
                <a:ea typeface="Arial Unicode MS"/>
                <a:cs typeface="Arial Unicode MS"/>
              </a:rPr>
              <a:t>回归</a:t>
            </a:r>
          </a:p>
        </p:txBody>
      </p:sp>
      <p:sp>
        <p:nvSpPr>
          <p:cNvPr id="9" name="把旧问题变成下一轮能发现的测试">
            <a:extLst xmlns:a="http://schemas.openxmlformats.org/drawingml/2006/main">
              <a:ext uri="{FF2B5EF4-FFF2-40B4-BE49-F238E27FC236}">
                <a16:creationId xmlns:a16="http://schemas.microsoft.com/office/drawing/2014/main" id="{6120A0C9-B8D8-4A04-A627-EE975457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438525"/>
            <a:ext cx="6400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把旧问题变成下一轮能发现的测试</a:t>
            </a:r>
          </a:p>
        </p:txBody>
      </p:sp>
      <p:sp>
        <p:nvSpPr>
          <p:cNvPr id="10" name="新需求继续进入规格、实施和验证的循环">
            <a:extLst xmlns:a="http://schemas.openxmlformats.org/drawingml/2006/main">
              <a:ext uri="{FF2B5EF4-FFF2-40B4-BE49-F238E27FC236}">
                <a16:creationId xmlns:a16="http://schemas.microsoft.com/office/drawing/2014/main" id="{CF977317-EE2A-413E-9DA7-6502258F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新需求继续进入规格、实施和验证的循环</a:t>
            </a:r>
          </a:p>
        </p:txBody>
      </p:sp>
      <p:sp>
        <p:nvSpPr>
          <p:cNvPr id="11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0638347C-88F9-4F27-83F3-1A19415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2" name="42 / 46">
            <a:extLst xmlns:a="http://schemas.openxmlformats.org/drawingml/2006/main">
              <a:ext uri="{FF2B5EF4-FFF2-40B4-BE49-F238E27FC236}">
                <a16:creationId xmlns:a16="http://schemas.microsoft.com/office/drawing/2014/main" id="{4BC8A9C8-1080-438E-AB56-871C8C01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42 / 46</a:t>
            </a:r>
          </a:p>
        </p:txBody>
      </p:sp>
    </p:spTree>
    <p:extLst>
      <p:ext uri="{BB962C8B-B14F-4D97-AF65-F5344CB8AC3E}">
        <p14:creationId xmlns:p14="http://schemas.microsoft.com/office/powerpoint/2010/main" val="129833328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建议 30 分钟  已有可运行底座时开展">
            <a:extLst xmlns:a="http://schemas.openxmlformats.org/drawingml/2006/main">
              <a:ext uri="{FF2B5EF4-FFF2-40B4-BE49-F238E27FC236}">
                <a16:creationId xmlns:a16="http://schemas.microsoft.com/office/drawing/2014/main" id="{1EA92BD0-C103-4E5F-9D76-01E3D25E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822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建议 30 分钟  已有可运行底座时开展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37D835D-9F22-4C7E-8CAE-791FE031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课堂练习：课程报名功能</a:t>
            </a:r>
          </a:p>
        </p:txBody>
      </p:sp>
      <p:sp>
        <p:nvSpPr>
          <p:cNvPr id="3" name="前 10 分钟">
            <a:extLst xmlns:a="http://schemas.openxmlformats.org/drawingml/2006/main">
              <a:ext uri="{FF2B5EF4-FFF2-40B4-BE49-F238E27FC236}">
                <a16:creationId xmlns:a16="http://schemas.microsoft.com/office/drawing/2014/main" id="{341A6577-CB25-4018-AA6B-9819437D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前 10 分钟</a:t>
            </a:r>
          </a:p>
        </p:txBody>
      </p:sp>
      <p:sp>
        <p:nvSpPr>
          <p:cNvPr id="4" name="写出需求、数据约束与接口契约">
            <a:extLst xmlns:a="http://schemas.openxmlformats.org/drawingml/2006/main">
              <a:ext uri="{FF2B5EF4-FFF2-40B4-BE49-F238E27FC236}">
                <a16:creationId xmlns:a16="http://schemas.microsoft.com/office/drawing/2014/main" id="{357A6893-33A0-4B52-A944-1877AD36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14475"/>
            <a:ext cx="6429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写出需求、数据约束与接口契约</a:t>
            </a:r>
          </a:p>
        </p:txBody>
      </p:sp>
      <p:sp>
        <p:nvSpPr>
          <p:cNvPr id="5" name="中 15 分钟">
            <a:extLst xmlns:a="http://schemas.openxmlformats.org/drawingml/2006/main">
              <a:ext uri="{FF2B5EF4-FFF2-40B4-BE49-F238E27FC236}">
                <a16:creationId xmlns:a16="http://schemas.microsoft.com/office/drawing/2014/main" id="{0B3BEC05-08B2-4EEB-8D03-D4617F49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中 15 分钟</a:t>
            </a:r>
          </a:p>
        </p:txBody>
      </p:sp>
      <p:sp>
        <p:nvSpPr>
          <p:cNvPr id="6" name="完成最小实现，或形成逐文件施工计划">
            <a:extLst xmlns:a="http://schemas.openxmlformats.org/drawingml/2006/main">
              <a:ext uri="{FF2B5EF4-FFF2-40B4-BE49-F238E27FC236}">
                <a16:creationId xmlns:a16="http://schemas.microsoft.com/office/drawing/2014/main" id="{05F9095F-81CC-47E6-B20A-AB2D5CC6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52675"/>
            <a:ext cx="6429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完成最小实现，或形成逐文件施工计划</a:t>
            </a:r>
          </a:p>
        </p:txBody>
      </p:sp>
      <p:sp>
        <p:nvSpPr>
          <p:cNvPr id="7" name="后 5 分钟">
            <a:extLst xmlns:a="http://schemas.openxmlformats.org/drawingml/2006/main">
              <a:ext uri="{FF2B5EF4-FFF2-40B4-BE49-F238E27FC236}">
                <a16:creationId xmlns:a16="http://schemas.microsoft.com/office/drawing/2014/main" id="{13D374CC-D7D7-489E-B5AD-8DAB10C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157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后 5 分钟</a:t>
            </a:r>
          </a:p>
        </p:txBody>
      </p:sp>
      <p:sp>
        <p:nvSpPr>
          <p:cNvPr id="8" name="复查成功、失败、权限和重复请求">
            <a:extLst xmlns:a="http://schemas.openxmlformats.org/drawingml/2006/main">
              <a:ext uri="{FF2B5EF4-FFF2-40B4-BE49-F238E27FC236}">
                <a16:creationId xmlns:a16="http://schemas.microsoft.com/office/drawing/2014/main" id="{6FE691DA-0B31-4168-AD50-6F938AA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90875"/>
            <a:ext cx="6429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复查成功、失败、权限和重复请求</a:t>
            </a:r>
          </a:p>
        </p:txBody>
      </p:sp>
      <p:sp>
        <p:nvSpPr>
          <p:cNvPr id="9" name="未运行的代码和测试，明确标为未验证">
            <a:extLst xmlns:a="http://schemas.openxmlformats.org/drawingml/2006/main">
              <a:ext uri="{FF2B5EF4-FFF2-40B4-BE49-F238E27FC236}">
                <a16:creationId xmlns:a16="http://schemas.microsoft.com/office/drawing/2014/main" id="{565BA22F-C4F9-463B-86DB-D3FC20B8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未运行的代码和测试，明确标为未验证</a:t>
            </a:r>
          </a:p>
        </p:txBody>
      </p:sp>
      <p:sp>
        <p:nvSpPr>
          <p:cNvPr id="10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8F3AA664-59BC-4BBC-978B-A6A031CA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1" name="43 / 46">
            <a:extLst xmlns:a="http://schemas.openxmlformats.org/drawingml/2006/main">
              <a:ext uri="{FF2B5EF4-FFF2-40B4-BE49-F238E27FC236}">
                <a16:creationId xmlns:a16="http://schemas.microsoft.com/office/drawing/2014/main" id="{A6AA75FF-98F5-4C9A-972A-A1E4AEF5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43 / 46</a:t>
            </a:r>
          </a:p>
        </p:txBody>
      </p:sp>
    </p:spTree>
    <p:extLst>
      <p:ext uri="{BB962C8B-B14F-4D97-AF65-F5344CB8AC3E}">
        <p14:creationId xmlns:p14="http://schemas.microsoft.com/office/powerpoint/2010/main" val="229250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EBD12F0-4312-4C1C-9813-63B49B4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一次全栈交付留下什么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457200" y="1285875"/>
          <a:ext xmlns:a="http://schemas.openxmlformats.org/drawingml/2006/main" cx="82296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5705475"/>
              </a:tblGrid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交付物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D6FF3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他人如何复查</a:t>
                      </a:r>
                    </a:p>
                  </a:txBody>
                  <a:tcPr marL="114300" marR="95250" marT="76200" marB="57150" anchor="ctr">
                    <a:solidFill>
                      <a:srgbClr val="15203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应用规格与任务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知道做什么、范围和遗留项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代码与数据迁移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能够定位实现和版本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验证证据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能够复现关键用户场景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  <a:tr h="542925"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运行与发布说明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  <a:tc>
                  <a:txBody>
                    <a:bodyPr lIns="114300" tIns="66675" rIns="95250" bIns="47625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EEF2F8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能够启动、配置、部署和恢复</a:t>
                      </a:r>
                    </a:p>
                  </a:txBody>
                  <a:tcPr marL="114300" marR="95250" marT="76200" marB="57150" anchor="ctr">
                    <a:solidFill>
                      <a:srgbClr val="0E1626"/>
                    </a:solidFill>
                  </a:tcPr>
                </a:tc>
              </a:tr>
            </a:tbl>
          </a:graphicData>
        </a:graphic>
      </p:graphicFrame>
      <p:sp>
        <p:nvSpPr>
          <p:cNvPr id="3" name="另一位协作者能够接手，是交付的一部分">
            <a:extLst xmlns:a="http://schemas.openxmlformats.org/drawingml/2006/main">
              <a:ext uri="{FF2B5EF4-FFF2-40B4-BE49-F238E27FC236}">
                <a16:creationId xmlns:a16="http://schemas.microsoft.com/office/drawing/2014/main" id="{1078D99B-B4A4-4F0B-BBA4-341C374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另一位协作者能够接手，是交付的一部分</a:t>
            </a:r>
          </a:p>
        </p:txBody>
      </p:sp>
      <p:sp>
        <p:nvSpPr>
          <p:cNvPr id="4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EDB2C6EA-0830-4630-BC4D-AD0B4C69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5" name="44 / 46">
            <a:extLst xmlns:a="http://schemas.openxmlformats.org/drawingml/2006/main">
              <a:ext uri="{FF2B5EF4-FFF2-40B4-BE49-F238E27FC236}">
                <a16:creationId xmlns:a16="http://schemas.microsoft.com/office/drawing/2014/main" id="{BB8CFA94-6571-47D5-B934-9FD9E125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44 / 46</a:t>
            </a:r>
          </a:p>
        </p:txBody>
      </p:sp>
    </p:spTree>
    <p:extLst>
      <p:ext uri="{BB962C8B-B14F-4D97-AF65-F5344CB8AC3E}">
        <p14:creationId xmlns:p14="http://schemas.microsoft.com/office/powerpoint/2010/main" val="60622945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17C557-74F0-44AB-A076-B130EEC8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8229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007 资料怎样配合这条主线</a:t>
            </a:r>
          </a:p>
        </p:txBody>
      </p:sp>
      <p:sp>
        <p:nvSpPr>
          <p:cNvPr id="2" name="项目流程">
            <a:extLst xmlns:a="http://schemas.openxmlformats.org/drawingml/2006/main">
              <a:ext uri="{FF2B5EF4-FFF2-40B4-BE49-F238E27FC236}">
                <a16:creationId xmlns:a16="http://schemas.microsoft.com/office/drawing/2014/main" id="{97B10975-7D6B-4C9A-BBA3-5956CB2F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项目流程</a:t>
            </a:r>
          </a:p>
        </p:txBody>
      </p:sp>
      <p:sp>
        <p:nvSpPr>
          <p:cNvPr id="3" name="pipeline-spec/ 与 design-system">
            <a:extLst xmlns:a="http://schemas.openxmlformats.org/drawingml/2006/main">
              <a:ext uri="{FF2B5EF4-FFF2-40B4-BE49-F238E27FC236}">
                <a16:creationId xmlns:a16="http://schemas.microsoft.com/office/drawing/2014/main" id="{42845FBF-F160-453C-A073-172F25FC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621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pipeline-spec/ 与 design-system/</a:t>
            </a:r>
          </a:p>
        </p:txBody>
      </p:sp>
      <p:sp>
        <p:nvSpPr>
          <p:cNvPr id="4" name="规格与实施">
            <a:extLst xmlns:a="http://schemas.openxmlformats.org/drawingml/2006/main">
              <a:ext uri="{FF2B5EF4-FFF2-40B4-BE49-F238E27FC236}">
                <a16:creationId xmlns:a16="http://schemas.microsoft.com/office/drawing/2014/main" id="{EDD98693-C2E9-4BD6-9CB7-A71FB696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规格与实施</a:t>
            </a:r>
          </a:p>
        </p:txBody>
      </p:sp>
      <p:sp>
        <p:nvSpPr>
          <p:cNvPr id="5" name="skills/ 与 harness-engineering/">
            <a:extLst xmlns:a="http://schemas.openxmlformats.org/drawingml/2006/main">
              <a:ext uri="{FF2B5EF4-FFF2-40B4-BE49-F238E27FC236}">
                <a16:creationId xmlns:a16="http://schemas.microsoft.com/office/drawing/2014/main" id="{12353421-DBD7-41A1-BBCE-7E648D88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05025"/>
            <a:ext cx="621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skills/ 与 harness-engineering/</a:t>
            </a:r>
          </a:p>
        </p:txBody>
      </p:sp>
      <p:sp>
        <p:nvSpPr>
          <p:cNvPr id="6" name="应用底座">
            <a:extLst xmlns:a="http://schemas.openxmlformats.org/drawingml/2006/main">
              <a:ext uri="{FF2B5EF4-FFF2-40B4-BE49-F238E27FC236}">
                <a16:creationId xmlns:a16="http://schemas.microsoft.com/office/drawing/2014/main" id="{6A066F06-F790-4BD6-BC63-9A4AAE61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应用底座</a:t>
            </a:r>
          </a:p>
        </p:txBody>
      </p:sp>
      <p:sp>
        <p:nvSpPr>
          <p:cNvPr id="7" name="template/，以自身许可为准">
            <a:extLst xmlns:a="http://schemas.openxmlformats.org/drawingml/2006/main">
              <a:ext uri="{FF2B5EF4-FFF2-40B4-BE49-F238E27FC236}">
                <a16:creationId xmlns:a16="http://schemas.microsoft.com/office/drawing/2014/main" id="{130D62A9-4838-4487-BF9A-3A26018C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71775"/>
            <a:ext cx="621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template/，以自身许可为准</a:t>
            </a:r>
          </a:p>
        </p:txBody>
      </p:sp>
      <p:sp>
        <p:nvSpPr>
          <p:cNvPr id="8" name="发布与复盘">
            <a:extLst xmlns:a="http://schemas.openxmlformats.org/drawingml/2006/main">
              <a:ext uri="{FF2B5EF4-FFF2-40B4-BE49-F238E27FC236}">
                <a16:creationId xmlns:a16="http://schemas.microsoft.com/office/drawing/2014/main" id="{7B6B919F-E478-4BCB-B35B-742AAC50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发布与复盘</a:t>
            </a:r>
          </a:p>
        </p:txBody>
      </p:sp>
      <p:sp>
        <p:nvSpPr>
          <p:cNvPr id="9" name="operations/ 与 article/">
            <a:extLst xmlns:a="http://schemas.openxmlformats.org/drawingml/2006/main">
              <a:ext uri="{FF2B5EF4-FFF2-40B4-BE49-F238E27FC236}">
                <a16:creationId xmlns:a16="http://schemas.microsoft.com/office/drawing/2014/main" id="{2F4BF57A-6E32-4FFE-B75B-7C57A066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38525"/>
            <a:ext cx="621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operations/ 与 article/</a:t>
            </a:r>
          </a:p>
        </p:txBody>
      </p:sp>
      <p:sp>
        <p:nvSpPr>
          <p:cNvPr id="10" name="从一个业务功能开始，把整条开发流程跑通">
            <a:extLst xmlns:a="http://schemas.openxmlformats.org/drawingml/2006/main">
              <a:ext uri="{FF2B5EF4-FFF2-40B4-BE49-F238E27FC236}">
                <a16:creationId xmlns:a16="http://schemas.microsoft.com/office/drawing/2014/main" id="{81328B64-C3F1-4949-BC96-167D7AE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从一个业务功能开始，把整条开发流程跑通</a:t>
            </a:r>
          </a:p>
        </p:txBody>
      </p:sp>
      <p:sp>
        <p:nvSpPr>
          <p:cNvPr id="11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B0B10320-6AB7-4BD1-9690-300D732B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12" name="45 / 46">
            <a:extLst xmlns:a="http://schemas.openxmlformats.org/drawingml/2006/main">
              <a:ext uri="{FF2B5EF4-FFF2-40B4-BE49-F238E27FC236}">
                <a16:creationId xmlns:a16="http://schemas.microsoft.com/office/drawing/2014/main" id="{5F9FA353-3552-4E69-BCE3-D3E4FCD0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45 / 46</a:t>
            </a:r>
          </a:p>
        </p:txBody>
      </p:sp>
    </p:spTree>
    <p:extLst>
      <p:ext uri="{BB962C8B-B14F-4D97-AF65-F5344CB8AC3E}">
        <p14:creationId xmlns:p14="http://schemas.microsoft.com/office/powerpoint/2010/main" val="76063617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E16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本期回顾">
            <a:extLst xmlns:a="http://schemas.openxmlformats.org/drawingml/2006/main">
              <a:ext uri="{FF2B5EF4-FFF2-40B4-BE49-F238E27FC236}">
                <a16:creationId xmlns:a16="http://schemas.microsoft.com/office/drawing/2014/main" id="{FAF837CD-0931-45BB-8D23-370B897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本期回顾</a:t>
            </a:r>
          </a:p>
        </p:txBody>
      </p:sp>
      <p:sp>
        <p:nvSpPr>
          <p:cNvPr id="2" name="按规格完成&#10;一个全栈应用">
            <a:extLst xmlns:a="http://schemas.openxmlformats.org/drawingml/2006/main">
              <a:ext uri="{FF2B5EF4-FFF2-40B4-BE49-F238E27FC236}">
                <a16:creationId xmlns:a16="http://schemas.microsoft.com/office/drawing/2014/main" id="{AF1886D2-74B2-4DD7-8D46-E3396CC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按规格完成</a:t>
            </a:r>
          </a:p>
          <a:p xmlns:a="http://schemas.openxmlformats.org/drawingml/2006/main">
            <a:pPr>
              <a:defRPr sz="465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EEF2F8"/>
                </a:solidFill>
                <a:latin typeface="Arial Unicode MS"/>
                <a:ea typeface="Arial Unicode MS"/>
                <a:cs typeface="Arial Unicode MS"/>
              </a:rPr>
              <a:t>一个全栈应用</a:t>
            </a:r>
          </a:p>
        </p:txBody>
      </p:sp>
      <p:sp>
        <p:nvSpPr>
          <p:cNvPr id="3" name="用户流程能跑通，数据与权限有验证，版本可交接">
            <a:extLst xmlns:a="http://schemas.openxmlformats.org/drawingml/2006/main">
              <a:ext uri="{FF2B5EF4-FFF2-40B4-BE49-F238E27FC236}">
                <a16:creationId xmlns:a16="http://schemas.microsoft.com/office/drawing/2014/main" id="{C21C1BF3-BF67-4947-B6A7-3ABBE3F7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用户流程能跑通，数据与权限有验证，版本可交接</a:t>
            </a:r>
          </a:p>
        </p:txBody>
      </p:sp>
      <p:sp>
        <p:nvSpPr>
          <p:cNvPr id="4" name="Harness 贯穿开发过程，SSD 把需求变成可实施规格">
            <a:extLst xmlns:a="http://schemas.openxmlformats.org/drawingml/2006/main">
              <a:ext uri="{FF2B5EF4-FFF2-40B4-BE49-F238E27FC236}">
                <a16:creationId xmlns:a16="http://schemas.microsoft.com/office/drawing/2014/main" id="{D60522B2-A7D6-4FBB-953C-DBBC996B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D6FF35"/>
                </a:solidFill>
                <a:latin typeface="Arial Unicode MS"/>
                <a:ea typeface="Arial Unicode MS"/>
                <a:cs typeface="Arial Unicode MS"/>
              </a:rPr>
              <a:t>Harness 贯穿开发过程，SSD 把需求变成可实施规格</a:t>
            </a:r>
          </a:p>
        </p:txBody>
      </p:sp>
      <p:sp>
        <p:nvSpPr>
          <p:cNvPr id="5" name="人工智能兴趣小组  第七期">
            <a:extLst xmlns:a="http://schemas.openxmlformats.org/drawingml/2006/main">
              <a:ext uri="{FF2B5EF4-FFF2-40B4-BE49-F238E27FC236}">
                <a16:creationId xmlns:a16="http://schemas.microsoft.com/office/drawing/2014/main" id="{697155A2-F192-4319-9988-77F90638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4095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人工智能兴趣小组  第七期</a:t>
            </a:r>
          </a:p>
        </p:txBody>
      </p:sp>
      <p:sp>
        <p:nvSpPr>
          <p:cNvPr id="6" name="46 / 46">
            <a:extLst xmlns:a="http://schemas.openxmlformats.org/drawingml/2006/main">
              <a:ext uri="{FF2B5EF4-FFF2-40B4-BE49-F238E27FC236}">
                <a16:creationId xmlns:a16="http://schemas.microsoft.com/office/drawing/2014/main" id="{FB62F7A0-E66F-4318-A3AA-D3DA0034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93A1B8"/>
                </a:solidFill>
                <a:latin typeface="Arial Unicode MS"/>
                <a:ea typeface="Arial Unicode MS"/>
                <a:cs typeface="Arial Unicode MS"/>
              </a:rPr>
              <a:t>46 / 46</a:t>
            </a:r>
          </a:p>
        </p:txBody>
      </p:sp>
    </p:spTree>
    <p:extLst>
      <p:ext uri="{BB962C8B-B14F-4D97-AF65-F5344CB8AC3E}">
        <p14:creationId xmlns:p14="http://schemas.microsoft.com/office/powerpoint/2010/main" val="1258917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2026-10-01T06:11:54.2390000Z</dcterms:created>
  <dcterms:modified xsi:type="dcterms:W3CDTF">2026-10-01T06:11:54.2390000Z</dcterms:modified>
</coreProperties>
</file>